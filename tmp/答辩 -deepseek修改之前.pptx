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2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58" d="100"/>
          <a:sy n="58" d="100"/>
        </p:scale>
        <p:origin x="21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0"/>
  <c:style val="2"/>
  <c:chart>
    <c:title>
      <c:tx>
        <c:rich>
          <a:bodyPr/>
          <a:lstStyle/>
          <a:p>
            <a:r>
              <a:rPr lang="zh-CN" altLang="en-US"/>
              <a:t>理赔样本与非理赔样本分布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样本数</c:v>
          </c:tx>
          <c:invertIfNegative val="1"/>
          <c:cat>
            <c:strLit>
              <c:ptCount val="2"/>
              <c:pt idx="0">
                <c:v>非理赔样本</c:v>
              </c:pt>
              <c:pt idx="1">
                <c:v>理赔样本</c:v>
              </c:pt>
            </c:strLit>
          </c:cat>
          <c:val>
            <c:numLit>
              <c:formatCode>General</c:formatCode>
              <c:ptCount val="2"/>
              <c:pt idx="0">
                <c:v>85909</c:v>
              </c:pt>
              <c:pt idx="1">
                <c:v>19646</c:v>
              </c:pt>
            </c:numLit>
          </c:val>
          <c:extLst>
            <c:ext xmlns:c16="http://schemas.microsoft.com/office/drawing/2014/chart" uri="{C3380CC4-5D6E-409C-BE32-E72D297353CC}">
              <c16:uniqueId val="{00000000-7946-4AAD-A12E-874010595C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0"/>
  <c:style val="2"/>
  <c:chart>
    <c:title>
      <c:tx>
        <c:rich>
          <a:bodyPr/>
          <a:lstStyle/>
          <a:p>
            <a:r>
              <a:rPr lang="zh-CN" altLang="en-US"/>
              <a:t>损失权重与阈值策略对比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F1</c:v>
          </c:tx>
          <c:invertIfNegative val="1"/>
          <c:cat>
            <c:strLit>
              <c:ptCount val="4"/>
              <c:pt idx="0">
                <c:v>加权+自动</c:v>
              </c:pt>
              <c:pt idx="1">
                <c:v>加权+固定</c:v>
              </c:pt>
              <c:pt idx="2">
                <c:v>非加权+自动</c:v>
              </c:pt>
              <c:pt idx="3">
                <c:v>非加权+固定</c:v>
              </c:pt>
            </c:strLit>
          </c:cat>
          <c:val>
            <c:numLit>
              <c:formatCode>General</c:formatCode>
              <c:ptCount val="4"/>
              <c:pt idx="0">
                <c:v>0.755</c:v>
              </c:pt>
              <c:pt idx="1">
                <c:v>0.7046</c:v>
              </c:pt>
              <c:pt idx="2">
                <c:v>0.74770000000000003</c:v>
              </c:pt>
              <c:pt idx="3">
                <c:v>0.76280000000000003</c:v>
              </c:pt>
            </c:numLit>
          </c:val>
          <c:extLst>
            <c:ext xmlns:c16="http://schemas.microsoft.com/office/drawing/2014/chart" uri="{C3380CC4-5D6E-409C-BE32-E72D297353CC}">
              <c16:uniqueId val="{00000000-A6D9-4529-BFEA-5F67F6AFC08A}"/>
            </c:ext>
          </c:extLst>
        </c:ser>
        <c:ser>
          <c:idx val="1"/>
          <c:order val="1"/>
          <c:tx>
            <c:v>Recall</c:v>
          </c:tx>
          <c:invertIfNegative val="1"/>
          <c:cat>
            <c:strLit>
              <c:ptCount val="4"/>
              <c:pt idx="0">
                <c:v>加权+自动</c:v>
              </c:pt>
              <c:pt idx="1">
                <c:v>加权+固定</c:v>
              </c:pt>
              <c:pt idx="2">
                <c:v>非加权+自动</c:v>
              </c:pt>
              <c:pt idx="3">
                <c:v>非加权+固定</c:v>
              </c:pt>
            </c:strLit>
          </c:cat>
          <c:val>
            <c:numLit>
              <c:formatCode>General</c:formatCode>
              <c:ptCount val="4"/>
              <c:pt idx="0">
                <c:v>0.81979999999999997</c:v>
              </c:pt>
              <c:pt idx="1">
                <c:v>0.92159999999999997</c:v>
              </c:pt>
              <c:pt idx="2">
                <c:v>0.8518</c:v>
              </c:pt>
              <c:pt idx="3">
                <c:v>0.751</c:v>
              </c:pt>
            </c:numLit>
          </c:val>
          <c:extLst>
            <c:ext xmlns:c16="http://schemas.microsoft.com/office/drawing/2014/chart" uri="{C3380CC4-5D6E-409C-BE32-E72D297353CC}">
              <c16:uniqueId val="{00000001-A6D9-4529-BFEA-5F67F6AFC0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0:00-0:35 开场。只交代题目、身份和答辩主题，不提前讲实验指标。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0:35-1:10 介绍目录和时间分配。新版目录用六个部分展开，比上一版更像答辩路线。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1:10-2:20 讲研究背景：理赔连接成本、服务与风险控制；数据积累使预测建模成为可落地问题。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2:20-3:25 说明研究目标和主要工作。强调论文不是只比较模型，而是完成从数据到系统的闭环。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3:25-4:15 单独讲技术栈。说明每个技术服务于哪个层次，不再塞在封面里。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4:15-5:10 讲系统架构：表现层、接口层、业务层、智能预测层、数据持久层、基础框架层。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5:10-6:00 讲功能需求。突出十个模块归为业务管理、可视化分析、理赔预测三类。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6:00-7:05 讲数据集、样本不均衡和数据处理策略。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7:05-8:00 讲特征工程。重点是日期参考点、车辆属性、保单合同特征和类别编码。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8:00-9:05 讲模型结构。基础是 MLP，重点是残差块和分类头。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9:05-10:05 讲训练策略。强调阈值搜索服务于车险风控的召回目标。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10:05-11:10 展示核心指标。AUC 说明排序能力，Claim Recall 说明对理赔样本的识别。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11:10-12:15 讲消融实验。说明优化策略的取舍和最佳网络结构。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12:15-13:20 讲系统实现。用截图证明模型训练和预测展示已经落地。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13:20-14:50 总结测试、主要工作、不足和未来方向。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F3C0AC37-8517-4E6B-9A4C-101C3830C363}"/>
              </a:ext>
            </a:extLst>
          </p:cNvPr>
          <p:cNvSpPr>
            <a:spLocks noGrp="1"/>
          </p:cNvSpPr>
          <p:nvPr/>
        </p:nvSpPr>
        <p:spPr>
          <a:xfrm>
            <a:off x="914400" y="1788749"/>
            <a:ext cx="2190750" cy="76200"/>
          </a:xfrm>
          <a:prstGeom prst="rect">
            <a:avLst/>
          </a:prstGeom>
          <a:solidFill>
            <a:srgbClr val="20796E"/>
          </a:solidFill>
          <a:ln w="0">
            <a:solidFill>
              <a:srgbClr val="20796E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ECFC846-F652-452D-A224-C33BEA6BB369}"/>
              </a:ext>
            </a:extLst>
          </p:cNvPr>
          <p:cNvSpPr>
            <a:spLocks noGrp="1"/>
          </p:cNvSpPr>
          <p:nvPr/>
        </p:nvSpPr>
        <p:spPr>
          <a:xfrm>
            <a:off x="914400" y="2188799"/>
            <a:ext cx="15423614" cy="1409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550" b="1">
                <a:solidFill>
                  <a:srgbClr val="0D172A"/>
                </a:solidFill>
              </a:defRPr>
            </a:pPr>
            <a:r>
              <a:rPr sz="5550" b="1" dirty="0" err="1">
                <a:solidFill>
                  <a:srgbClr val="0D172A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基于深度学习的车险理赔预测系统设计与实现</a:t>
            </a:r>
            <a:endParaRPr sz="5550" b="1" dirty="0">
              <a:solidFill>
                <a:srgbClr val="0D172A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84D76C3-10AA-4086-9AF9-B021DAA01C07}"/>
              </a:ext>
            </a:extLst>
          </p:cNvPr>
          <p:cNvSpPr>
            <a:spLocks noGrp="1"/>
          </p:cNvSpPr>
          <p:nvPr/>
        </p:nvSpPr>
        <p:spPr>
          <a:xfrm>
            <a:off x="10963159" y="5882894"/>
            <a:ext cx="47434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D172A"/>
                </a:solidFill>
              </a:defRPr>
            </a:pPr>
            <a:r>
              <a:rPr sz="3200" b="1" dirty="0" err="1">
                <a:solidFill>
                  <a:srgbClr val="0D172A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重庆邮电大学</a:t>
            </a:r>
            <a:endParaRPr sz="3200" b="1" dirty="0">
              <a:solidFill>
                <a:srgbClr val="0D172A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C68CACA-EA6D-45A0-A256-87130C77747B}"/>
              </a:ext>
            </a:extLst>
          </p:cNvPr>
          <p:cNvSpPr>
            <a:spLocks noGrp="1"/>
          </p:cNvSpPr>
          <p:nvPr/>
        </p:nvSpPr>
        <p:spPr>
          <a:xfrm>
            <a:off x="10963159" y="6454394"/>
            <a:ext cx="3429000" cy="9525"/>
          </a:xfrm>
          <a:prstGeom prst="rect">
            <a:avLst/>
          </a:prstGeom>
          <a:solidFill>
            <a:srgbClr val="D8E1EA"/>
          </a:solidFill>
          <a:ln w="0">
            <a:solidFill>
              <a:srgbClr val="D8E1EA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8A28F16-275F-465F-9ACC-9B72E28B039B}"/>
              </a:ext>
            </a:extLst>
          </p:cNvPr>
          <p:cNvSpPr>
            <a:spLocks noGrp="1"/>
          </p:cNvSpPr>
          <p:nvPr/>
        </p:nvSpPr>
        <p:spPr>
          <a:xfrm>
            <a:off x="10963159" y="6682994"/>
            <a:ext cx="47434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>
                <a:solidFill>
                  <a:srgbClr val="263246"/>
                </a:solidFill>
              </a:defRPr>
            </a:pPr>
            <a:r>
              <a:rPr sz="3200" dirty="0" err="1">
                <a:solidFill>
                  <a:srgbClr val="2632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人工智能学院</a:t>
            </a:r>
            <a:endParaRPr sz="3200" dirty="0">
              <a:solidFill>
                <a:srgbClr val="263246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E243AF7-8A23-4986-A3DF-653724BC0016}"/>
              </a:ext>
            </a:extLst>
          </p:cNvPr>
          <p:cNvSpPr>
            <a:spLocks noGrp="1"/>
          </p:cNvSpPr>
          <p:nvPr/>
        </p:nvSpPr>
        <p:spPr>
          <a:xfrm>
            <a:off x="10963159" y="7178294"/>
            <a:ext cx="47434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>
                <a:solidFill>
                  <a:srgbClr val="263246"/>
                </a:solidFill>
              </a:defRPr>
            </a:pPr>
            <a:r>
              <a:rPr sz="3200" dirty="0" err="1">
                <a:solidFill>
                  <a:srgbClr val="2632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学生：钱信宇</a:t>
            </a:r>
            <a:endParaRPr sz="3200" dirty="0">
              <a:solidFill>
                <a:srgbClr val="263246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3A9151D-7EEA-466C-A6B3-3FA302D6B96A}"/>
              </a:ext>
            </a:extLst>
          </p:cNvPr>
          <p:cNvSpPr>
            <a:spLocks noGrp="1"/>
          </p:cNvSpPr>
          <p:nvPr/>
        </p:nvSpPr>
        <p:spPr>
          <a:xfrm>
            <a:off x="10963158" y="7673594"/>
            <a:ext cx="6080241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>
                <a:solidFill>
                  <a:srgbClr val="263246"/>
                </a:solidFill>
              </a:defRPr>
            </a:pPr>
            <a:r>
              <a:rPr sz="3200" dirty="0" err="1">
                <a:solidFill>
                  <a:srgbClr val="2632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专业：数据科学与大数据技术</a:t>
            </a:r>
            <a:endParaRPr sz="3200" dirty="0">
              <a:solidFill>
                <a:srgbClr val="263246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982F7AE-6565-445B-A8E6-2EBB4E885990}"/>
              </a:ext>
            </a:extLst>
          </p:cNvPr>
          <p:cNvSpPr>
            <a:spLocks noGrp="1"/>
          </p:cNvSpPr>
          <p:nvPr/>
        </p:nvSpPr>
        <p:spPr>
          <a:xfrm>
            <a:off x="10963158" y="8264144"/>
            <a:ext cx="47434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>
                <a:solidFill>
                  <a:srgbClr val="263246"/>
                </a:solidFill>
              </a:defRPr>
            </a:pPr>
            <a:r>
              <a:rPr sz="3200" dirty="0" err="1">
                <a:solidFill>
                  <a:srgbClr val="2632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指导教师：丁晓宇</a:t>
            </a:r>
            <a:endParaRPr sz="3200" dirty="0">
              <a:solidFill>
                <a:srgbClr val="263246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3" name="图形 12" descr="undraw_inspiration_re_ivlv">
            <a:extLst>
              <a:ext uri="{FF2B5EF4-FFF2-40B4-BE49-F238E27FC236}">
                <a16:creationId xmlns:a16="http://schemas.microsoft.com/office/drawing/2014/main" id="{DEA6202C-5A49-C617-1046-EE3C18DC45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28976" y="4918757"/>
            <a:ext cx="5254870" cy="4447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29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矩形 61">
            <a:extLst>
              <a:ext uri="{FF2B5EF4-FFF2-40B4-BE49-F238E27FC236}">
                <a16:creationId xmlns:a16="http://schemas.microsoft.com/office/drawing/2014/main" id="{FF066EAF-820C-4B39-BE21-A27A615EAD03}"/>
              </a:ext>
            </a:extLst>
          </p:cNvPr>
          <p:cNvSpPr>
            <a:spLocks noGrp="1"/>
          </p:cNvSpPr>
          <p:nvPr/>
        </p:nvSpPr>
        <p:spPr>
          <a:xfrm>
            <a:off x="819150" y="609600"/>
            <a:ext cx="15868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20796E"/>
                </a:solidFill>
              </a:defRPr>
            </a:pPr>
            <a:r>
              <a:rPr sz="1650" b="1">
                <a:solidFill>
                  <a:srgbClr val="20796E"/>
                </a:solidFill>
              </a:rPr>
              <a:t>围绕“模型研究 + 系统落地”展开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706F5BD-F893-421D-80CD-1494075D0FD2}"/>
              </a:ext>
            </a:extLst>
          </p:cNvPr>
          <p:cNvSpPr>
            <a:spLocks noGrp="1"/>
          </p:cNvSpPr>
          <p:nvPr/>
        </p:nvSpPr>
        <p:spPr>
          <a:xfrm>
            <a:off x="819150" y="895350"/>
            <a:ext cx="22098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0D172A"/>
                </a:solidFill>
              </a:defRPr>
            </a:pPr>
            <a:r>
              <a:rPr sz="4350" b="1">
                <a:solidFill>
                  <a:srgbClr val="0D172A"/>
                </a:solidFill>
              </a:rPr>
              <a:t>答辩目录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0236C37-3E73-434F-9026-B832F9095254}"/>
              </a:ext>
            </a:extLst>
          </p:cNvPr>
          <p:cNvSpPr>
            <a:spLocks noGrp="1"/>
          </p:cNvSpPr>
          <p:nvPr/>
        </p:nvSpPr>
        <p:spPr>
          <a:xfrm>
            <a:off x="16916400" y="914400"/>
            <a:ext cx="552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20796E"/>
                </a:solidFill>
              </a:defRPr>
            </a:pPr>
            <a:r>
              <a:rPr sz="1800" b="1">
                <a:solidFill>
                  <a:srgbClr val="20796E"/>
                </a:solidFill>
              </a:rPr>
              <a:t>02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623B04B-F8F8-4076-AA92-8EC5DA3EB96B}"/>
              </a:ext>
            </a:extLst>
          </p:cNvPr>
          <p:cNvSpPr>
            <a:spLocks noGrp="1"/>
          </p:cNvSpPr>
          <p:nvPr/>
        </p:nvSpPr>
        <p:spPr>
          <a:xfrm>
            <a:off x="819150" y="3867150"/>
            <a:ext cx="4686300" cy="838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6600" b="1">
                <a:solidFill>
                  <a:srgbClr val="20796E"/>
                </a:solidFill>
              </a:defRPr>
            </a:pPr>
            <a:r>
              <a:rPr sz="6600" b="1">
                <a:solidFill>
                  <a:srgbClr val="20796E"/>
                </a:solidFill>
              </a:rPr>
              <a:t>15分钟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4D73059-C1CD-4B88-8826-0F69CBD73E7C}"/>
              </a:ext>
            </a:extLst>
          </p:cNvPr>
          <p:cNvSpPr>
            <a:spLocks noGrp="1"/>
          </p:cNvSpPr>
          <p:nvPr/>
        </p:nvSpPr>
        <p:spPr>
          <a:xfrm>
            <a:off x="819150" y="4933950"/>
            <a:ext cx="46863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225" b="1">
                <a:solidFill>
                  <a:srgbClr val="0D172A"/>
                </a:solidFill>
              </a:defRPr>
            </a:pPr>
            <a:r>
              <a:rPr sz="3225" b="1">
                <a:solidFill>
                  <a:srgbClr val="0D172A"/>
                </a:solidFill>
              </a:rPr>
              <a:t>答辩节奏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18A9AEC-B324-4A52-A650-1E36EB8CDE01}"/>
              </a:ext>
            </a:extLst>
          </p:cNvPr>
          <p:cNvSpPr>
            <a:spLocks noGrp="1"/>
          </p:cNvSpPr>
          <p:nvPr/>
        </p:nvSpPr>
        <p:spPr>
          <a:xfrm>
            <a:off x="838200" y="5562600"/>
            <a:ext cx="1428750" cy="76200"/>
          </a:xfrm>
          <a:prstGeom prst="rect">
            <a:avLst/>
          </a:prstGeom>
          <a:solidFill>
            <a:srgbClr val="20796E"/>
          </a:solidFill>
          <a:ln w="0">
            <a:solidFill>
              <a:srgbClr val="20796E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0E56E45-5B18-4298-AA67-E08C8B753FFD}"/>
              </a:ext>
            </a:extLst>
          </p:cNvPr>
          <p:cNvSpPr>
            <a:spLocks noGrp="1"/>
          </p:cNvSpPr>
          <p:nvPr/>
        </p:nvSpPr>
        <p:spPr>
          <a:xfrm>
            <a:off x="819150" y="5867400"/>
            <a:ext cx="4686300" cy="533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>
                <a:solidFill>
                  <a:srgbClr val="263246"/>
                </a:solidFill>
              </a:defRPr>
            </a:pPr>
            <a:r>
              <a:rPr sz="2100">
                <a:solidFill>
                  <a:srgbClr val="263246"/>
                </a:solidFill>
              </a:rPr>
              <a:t>主线：背景与目标、关键设计、实验结果和系统展示。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40300405-5CA6-414E-9A8C-AF43FE2E4F81}"/>
              </a:ext>
            </a:extLst>
          </p:cNvPr>
          <p:cNvSpPr>
            <a:spLocks noGrp="1"/>
          </p:cNvSpPr>
          <p:nvPr/>
        </p:nvSpPr>
        <p:spPr>
          <a:xfrm>
            <a:off x="819150" y="6629400"/>
            <a:ext cx="114300" cy="114300"/>
          </a:xfrm>
          <a:prstGeom prst="ellipse">
            <a:avLst/>
          </a:prstGeom>
          <a:solidFill>
            <a:srgbClr val="20796E"/>
          </a:solidFill>
          <a:ln w="0">
            <a:solidFill>
              <a:srgbClr val="20796E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C1674E4-52A6-461A-854A-324AEE1565A7}"/>
              </a:ext>
            </a:extLst>
          </p:cNvPr>
          <p:cNvSpPr>
            <a:spLocks noGrp="1"/>
          </p:cNvSpPr>
          <p:nvPr/>
        </p:nvSpPr>
        <p:spPr>
          <a:xfrm>
            <a:off x="1066800" y="6629400"/>
            <a:ext cx="44386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263246"/>
                </a:solidFill>
              </a:defRPr>
            </a:pPr>
            <a:r>
              <a:rPr sz="1875">
                <a:solidFill>
                  <a:srgbClr val="263246"/>
                </a:solidFill>
              </a:rPr>
              <a:t>背景和目标不铺开过多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05E79EA9-0D7C-4DB8-8045-04D7E135C901}"/>
              </a:ext>
            </a:extLst>
          </p:cNvPr>
          <p:cNvSpPr>
            <a:spLocks noGrp="1"/>
          </p:cNvSpPr>
          <p:nvPr/>
        </p:nvSpPr>
        <p:spPr>
          <a:xfrm>
            <a:off x="819150" y="6991350"/>
            <a:ext cx="114300" cy="114300"/>
          </a:xfrm>
          <a:prstGeom prst="ellipse">
            <a:avLst/>
          </a:prstGeom>
          <a:solidFill>
            <a:srgbClr val="C8D3DE"/>
          </a:solidFill>
          <a:ln w="0">
            <a:solidFill>
              <a:srgbClr val="C8D3DE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D454678-D52D-4029-9E72-2EA9B85E2353}"/>
              </a:ext>
            </a:extLst>
          </p:cNvPr>
          <p:cNvSpPr>
            <a:spLocks noGrp="1"/>
          </p:cNvSpPr>
          <p:nvPr/>
        </p:nvSpPr>
        <p:spPr>
          <a:xfrm>
            <a:off x="1066800" y="6991350"/>
            <a:ext cx="44386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263246"/>
                </a:solidFill>
              </a:defRPr>
            </a:pPr>
            <a:r>
              <a:rPr sz="1875">
                <a:solidFill>
                  <a:srgbClr val="263246"/>
                </a:solidFill>
              </a:rPr>
              <a:t>方法页聚焦关键设计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C23AACBD-609C-4108-B518-FCFE8A2402B8}"/>
              </a:ext>
            </a:extLst>
          </p:cNvPr>
          <p:cNvSpPr>
            <a:spLocks noGrp="1"/>
          </p:cNvSpPr>
          <p:nvPr/>
        </p:nvSpPr>
        <p:spPr>
          <a:xfrm>
            <a:off x="819150" y="7353300"/>
            <a:ext cx="114300" cy="114300"/>
          </a:xfrm>
          <a:prstGeom prst="ellipse">
            <a:avLst/>
          </a:prstGeom>
          <a:solidFill>
            <a:srgbClr val="C8D3DE"/>
          </a:solidFill>
          <a:ln w="0">
            <a:solidFill>
              <a:srgbClr val="C8D3DE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BEC1531-7F46-42D9-BA18-17A0A9652FD9}"/>
              </a:ext>
            </a:extLst>
          </p:cNvPr>
          <p:cNvSpPr>
            <a:spLocks noGrp="1"/>
          </p:cNvSpPr>
          <p:nvPr/>
        </p:nvSpPr>
        <p:spPr>
          <a:xfrm>
            <a:off x="1066800" y="7353300"/>
            <a:ext cx="44386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263246"/>
                </a:solidFill>
              </a:defRPr>
            </a:pPr>
            <a:r>
              <a:rPr sz="1875">
                <a:solidFill>
                  <a:srgbClr val="263246"/>
                </a:solidFill>
              </a:rPr>
              <a:t>结果页服务结论表达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A7F2CCF0-2FBE-44E9-AA98-ED3E8E645A44}"/>
              </a:ext>
            </a:extLst>
          </p:cNvPr>
          <p:cNvSpPr>
            <a:spLocks noGrp="1"/>
          </p:cNvSpPr>
          <p:nvPr/>
        </p:nvSpPr>
        <p:spPr>
          <a:xfrm>
            <a:off x="6012752" y="2728913"/>
            <a:ext cx="11456099" cy="89535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F86BF2B-519E-414F-9863-21E139F58CA1}"/>
              </a:ext>
            </a:extLst>
          </p:cNvPr>
          <p:cNvSpPr>
            <a:spLocks noGrp="1"/>
          </p:cNvSpPr>
          <p:nvPr/>
        </p:nvSpPr>
        <p:spPr>
          <a:xfrm>
            <a:off x="6229350" y="2990850"/>
            <a:ext cx="66675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925" b="1">
                <a:solidFill>
                  <a:srgbClr val="20796E"/>
                </a:solidFill>
              </a:defRPr>
            </a:pPr>
            <a:r>
              <a:rPr sz="2925" b="1">
                <a:solidFill>
                  <a:srgbClr val="20796E"/>
                </a:solidFill>
              </a:rPr>
              <a:t>01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516DDF9-E369-47E7-8A39-2D08B745A447}"/>
              </a:ext>
            </a:extLst>
          </p:cNvPr>
          <p:cNvSpPr>
            <a:spLocks noGrp="1"/>
          </p:cNvSpPr>
          <p:nvPr/>
        </p:nvSpPr>
        <p:spPr>
          <a:xfrm>
            <a:off x="7048500" y="2895600"/>
            <a:ext cx="66675" cy="552450"/>
          </a:xfrm>
          <a:prstGeom prst="rect">
            <a:avLst/>
          </a:prstGeom>
          <a:solidFill>
            <a:srgbClr val="20796E"/>
          </a:solidFill>
          <a:ln w="0">
            <a:solidFill>
              <a:srgbClr val="20796E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D2A3F8E-EDD9-46CB-A2D5-8C193231FADA}"/>
              </a:ext>
            </a:extLst>
          </p:cNvPr>
          <p:cNvSpPr>
            <a:spLocks noGrp="1"/>
          </p:cNvSpPr>
          <p:nvPr/>
        </p:nvSpPr>
        <p:spPr>
          <a:xfrm>
            <a:off x="7296150" y="2914650"/>
            <a:ext cx="77533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 b="1">
                <a:solidFill>
                  <a:srgbClr val="0D172A"/>
                </a:solidFill>
              </a:defRPr>
            </a:pPr>
            <a:r>
              <a:rPr sz="2175" b="1">
                <a:solidFill>
                  <a:srgbClr val="0D172A"/>
                </a:solidFill>
              </a:rPr>
              <a:t>研究背景与目标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B6D9975-8DE4-4D5B-96C2-F214A40915E6}"/>
              </a:ext>
            </a:extLst>
          </p:cNvPr>
          <p:cNvSpPr>
            <a:spLocks noGrp="1"/>
          </p:cNvSpPr>
          <p:nvPr/>
        </p:nvSpPr>
        <p:spPr>
          <a:xfrm>
            <a:off x="15182850" y="2781300"/>
            <a:ext cx="1066800" cy="514350"/>
          </a:xfrm>
          <a:prstGeom prst="roundRect">
            <a:avLst>
              <a:gd name="adj" fmla="val 50000"/>
            </a:avLst>
          </a:prstGeom>
          <a:solidFill>
            <a:srgbClr val="E7F4F1"/>
          </a:solidFill>
          <a:ln w="9525">
            <a:solidFill>
              <a:srgbClr val="20796E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6FC530F-3746-48A3-9B46-6F4204BC91B1}"/>
              </a:ext>
            </a:extLst>
          </p:cNvPr>
          <p:cNvSpPr>
            <a:spLocks noGrp="1"/>
          </p:cNvSpPr>
          <p:nvPr/>
        </p:nvSpPr>
        <p:spPr>
          <a:xfrm>
            <a:off x="15278100" y="2876550"/>
            <a:ext cx="8763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20796E"/>
                </a:solidFill>
              </a:defRPr>
            </a:pPr>
            <a:r>
              <a:rPr sz="1500" b="1">
                <a:solidFill>
                  <a:srgbClr val="20796E"/>
                </a:solidFill>
              </a:rPr>
              <a:t>约2min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F13F6BD-BA98-487E-BB8C-FB93FABBC8C0}"/>
              </a:ext>
            </a:extLst>
          </p:cNvPr>
          <p:cNvSpPr>
            <a:spLocks noGrp="1"/>
          </p:cNvSpPr>
          <p:nvPr/>
        </p:nvSpPr>
        <p:spPr>
          <a:xfrm>
            <a:off x="7296150" y="3371850"/>
            <a:ext cx="89535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596A80"/>
                </a:solidFill>
              </a:defRPr>
            </a:pPr>
            <a:r>
              <a:rPr sz="1650">
                <a:solidFill>
                  <a:srgbClr val="596A80"/>
                </a:solidFill>
              </a:rPr>
              <a:t>业务痛点、研究意义、论文主要工作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EA2AF8E-94B2-4D24-956F-C5A724C5134A}"/>
              </a:ext>
            </a:extLst>
          </p:cNvPr>
          <p:cNvSpPr>
            <a:spLocks noGrp="1"/>
          </p:cNvSpPr>
          <p:nvPr/>
        </p:nvSpPr>
        <p:spPr>
          <a:xfrm>
            <a:off x="16421100" y="3086100"/>
            <a:ext cx="8382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596A80"/>
                </a:solidFill>
              </a:defRPr>
            </a:pPr>
            <a:r>
              <a:rPr sz="1575" b="1">
                <a:solidFill>
                  <a:srgbClr val="596A80"/>
                </a:solidFill>
              </a:rPr>
              <a:t>03-04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9492CAA1-A70C-4AB1-B35B-28C6C09507E7}"/>
              </a:ext>
            </a:extLst>
          </p:cNvPr>
          <p:cNvSpPr>
            <a:spLocks noGrp="1"/>
          </p:cNvSpPr>
          <p:nvPr/>
        </p:nvSpPr>
        <p:spPr>
          <a:xfrm>
            <a:off x="6012752" y="3748088"/>
            <a:ext cx="11456099" cy="89535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5DC9BBA-2A98-4150-855A-6690BD2DF6C8}"/>
              </a:ext>
            </a:extLst>
          </p:cNvPr>
          <p:cNvSpPr>
            <a:spLocks noGrp="1"/>
          </p:cNvSpPr>
          <p:nvPr/>
        </p:nvSpPr>
        <p:spPr>
          <a:xfrm>
            <a:off x="6229350" y="4000500"/>
            <a:ext cx="66675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925" b="1">
                <a:solidFill>
                  <a:srgbClr val="2765E8"/>
                </a:solidFill>
              </a:defRPr>
            </a:pPr>
            <a:r>
              <a:rPr sz="2925" b="1">
                <a:solidFill>
                  <a:srgbClr val="2765E8"/>
                </a:solidFill>
              </a:rPr>
              <a:t>02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C4F3824-728A-4818-9ABF-46EF0D00BC19}"/>
              </a:ext>
            </a:extLst>
          </p:cNvPr>
          <p:cNvSpPr>
            <a:spLocks noGrp="1"/>
          </p:cNvSpPr>
          <p:nvPr/>
        </p:nvSpPr>
        <p:spPr>
          <a:xfrm>
            <a:off x="7048500" y="3924300"/>
            <a:ext cx="66675" cy="552450"/>
          </a:xfrm>
          <a:prstGeom prst="rect">
            <a:avLst/>
          </a:prstGeom>
          <a:solidFill>
            <a:srgbClr val="2765E8"/>
          </a:solidFill>
          <a:ln w="0">
            <a:solidFill>
              <a:srgbClr val="2765E8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616856F-3F7A-4010-B9AD-C832832EF61A}"/>
              </a:ext>
            </a:extLst>
          </p:cNvPr>
          <p:cNvSpPr>
            <a:spLocks noGrp="1"/>
          </p:cNvSpPr>
          <p:nvPr/>
        </p:nvSpPr>
        <p:spPr>
          <a:xfrm>
            <a:off x="7296150" y="3924300"/>
            <a:ext cx="77533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 b="1">
                <a:solidFill>
                  <a:srgbClr val="0D172A"/>
                </a:solidFill>
              </a:defRPr>
            </a:pPr>
            <a:r>
              <a:rPr sz="2175" b="1">
                <a:solidFill>
                  <a:srgbClr val="0D172A"/>
                </a:solidFill>
              </a:rPr>
              <a:t>技术栈与系统设计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10C8244A-7EF2-4B23-958F-EB3B5B57D77A}"/>
              </a:ext>
            </a:extLst>
          </p:cNvPr>
          <p:cNvSpPr>
            <a:spLocks noGrp="1"/>
          </p:cNvSpPr>
          <p:nvPr/>
        </p:nvSpPr>
        <p:spPr>
          <a:xfrm>
            <a:off x="15182850" y="3790950"/>
            <a:ext cx="1066800" cy="51435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9525">
            <a:solidFill>
              <a:srgbClr val="2765E8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C75C37A-52AC-40CF-936F-00B99F971DB2}"/>
              </a:ext>
            </a:extLst>
          </p:cNvPr>
          <p:cNvSpPr>
            <a:spLocks noGrp="1"/>
          </p:cNvSpPr>
          <p:nvPr/>
        </p:nvSpPr>
        <p:spPr>
          <a:xfrm>
            <a:off x="15278100" y="3886200"/>
            <a:ext cx="8763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2765E8"/>
                </a:solidFill>
              </a:defRPr>
            </a:pPr>
            <a:r>
              <a:rPr sz="1500" b="1">
                <a:solidFill>
                  <a:srgbClr val="2765E8"/>
                </a:solidFill>
              </a:rPr>
              <a:t>约3min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5404005-E7B9-4EDB-AC65-B9D54C667B33}"/>
              </a:ext>
            </a:extLst>
          </p:cNvPr>
          <p:cNvSpPr>
            <a:spLocks noGrp="1"/>
          </p:cNvSpPr>
          <p:nvPr/>
        </p:nvSpPr>
        <p:spPr>
          <a:xfrm>
            <a:off x="7296150" y="4381500"/>
            <a:ext cx="89535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596A80"/>
                </a:solidFill>
              </a:defRPr>
            </a:pPr>
            <a:r>
              <a:rPr sz="1650" dirty="0" err="1">
                <a:solidFill>
                  <a:srgbClr val="596A80"/>
                </a:solidFill>
              </a:rPr>
              <a:t>前后端分离、模型服务解耦、功能模块划分</a:t>
            </a:r>
            <a:endParaRPr sz="1650" dirty="0">
              <a:solidFill>
                <a:srgbClr val="596A80"/>
              </a:solidFill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FD2A722-740D-434F-9ACE-591F251F34C4}"/>
              </a:ext>
            </a:extLst>
          </p:cNvPr>
          <p:cNvSpPr>
            <a:spLocks noGrp="1"/>
          </p:cNvSpPr>
          <p:nvPr/>
        </p:nvSpPr>
        <p:spPr>
          <a:xfrm>
            <a:off x="16421100" y="4095750"/>
            <a:ext cx="8382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596A80"/>
                </a:solidFill>
              </a:defRPr>
            </a:pPr>
            <a:r>
              <a:rPr sz="1575" b="1">
                <a:solidFill>
                  <a:srgbClr val="596A80"/>
                </a:solidFill>
              </a:rPr>
              <a:t>05-07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7B0C0A0C-EC7F-4447-9A74-61964A968846}"/>
              </a:ext>
            </a:extLst>
          </p:cNvPr>
          <p:cNvSpPr>
            <a:spLocks noGrp="1"/>
          </p:cNvSpPr>
          <p:nvPr/>
        </p:nvSpPr>
        <p:spPr>
          <a:xfrm>
            <a:off x="6012752" y="4767263"/>
            <a:ext cx="11456099" cy="89535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D6C294C-CA5B-415D-BA6C-F0D432B36402}"/>
              </a:ext>
            </a:extLst>
          </p:cNvPr>
          <p:cNvSpPr>
            <a:spLocks noGrp="1"/>
          </p:cNvSpPr>
          <p:nvPr/>
        </p:nvSpPr>
        <p:spPr>
          <a:xfrm>
            <a:off x="6229350" y="5029200"/>
            <a:ext cx="66675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925" b="1">
                <a:solidFill>
                  <a:srgbClr val="E15A4F"/>
                </a:solidFill>
              </a:defRPr>
            </a:pPr>
            <a:r>
              <a:rPr sz="2925" b="1">
                <a:solidFill>
                  <a:srgbClr val="E15A4F"/>
                </a:solidFill>
              </a:rPr>
              <a:t>03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6343204-388B-497A-B43B-FF853A2EEC28}"/>
              </a:ext>
            </a:extLst>
          </p:cNvPr>
          <p:cNvSpPr>
            <a:spLocks noGrp="1"/>
          </p:cNvSpPr>
          <p:nvPr/>
        </p:nvSpPr>
        <p:spPr>
          <a:xfrm>
            <a:off x="7048500" y="4953000"/>
            <a:ext cx="66675" cy="552450"/>
          </a:xfrm>
          <a:prstGeom prst="rect">
            <a:avLst/>
          </a:prstGeom>
          <a:solidFill>
            <a:srgbClr val="E15A4F"/>
          </a:solidFill>
          <a:ln w="0">
            <a:solidFill>
              <a:srgbClr val="E15A4F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9C06D48-D342-4B4B-92A5-B0CD673A9D03}"/>
              </a:ext>
            </a:extLst>
          </p:cNvPr>
          <p:cNvSpPr>
            <a:spLocks noGrp="1"/>
          </p:cNvSpPr>
          <p:nvPr/>
        </p:nvSpPr>
        <p:spPr>
          <a:xfrm>
            <a:off x="7296150" y="4953000"/>
            <a:ext cx="77533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 b="1">
                <a:solidFill>
                  <a:srgbClr val="0D172A"/>
                </a:solidFill>
              </a:defRPr>
            </a:pPr>
            <a:r>
              <a:rPr sz="2175" b="1">
                <a:solidFill>
                  <a:srgbClr val="0D172A"/>
                </a:solidFill>
              </a:rPr>
              <a:t>数据处理与特征工程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32F70E44-4F2F-4B4A-B486-A8A8A67F1FB4}"/>
              </a:ext>
            </a:extLst>
          </p:cNvPr>
          <p:cNvSpPr>
            <a:spLocks noGrp="1"/>
          </p:cNvSpPr>
          <p:nvPr/>
        </p:nvSpPr>
        <p:spPr>
          <a:xfrm>
            <a:off x="15182850" y="4819650"/>
            <a:ext cx="1066800" cy="514350"/>
          </a:xfrm>
          <a:prstGeom prst="roundRect">
            <a:avLst>
              <a:gd name="adj" fmla="val 50000"/>
            </a:avLst>
          </a:prstGeom>
          <a:solidFill>
            <a:srgbClr val="FDEDEA"/>
          </a:solidFill>
          <a:ln w="9525">
            <a:solidFill>
              <a:srgbClr val="E15A4F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990357E-8BDB-4CF9-A5D1-E6597883A568}"/>
              </a:ext>
            </a:extLst>
          </p:cNvPr>
          <p:cNvSpPr>
            <a:spLocks noGrp="1"/>
          </p:cNvSpPr>
          <p:nvPr/>
        </p:nvSpPr>
        <p:spPr>
          <a:xfrm>
            <a:off x="15278100" y="4914900"/>
            <a:ext cx="8763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E15A4F"/>
                </a:solidFill>
              </a:defRPr>
            </a:pPr>
            <a:r>
              <a:rPr sz="1500" b="1">
                <a:solidFill>
                  <a:srgbClr val="E15A4F"/>
                </a:solidFill>
              </a:rPr>
              <a:t>约2min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F6E43A0-7DDF-45F5-9123-1B77B001C3B3}"/>
              </a:ext>
            </a:extLst>
          </p:cNvPr>
          <p:cNvSpPr>
            <a:spLocks noGrp="1"/>
          </p:cNvSpPr>
          <p:nvPr/>
        </p:nvSpPr>
        <p:spPr>
          <a:xfrm>
            <a:off x="7296150" y="5410200"/>
            <a:ext cx="89535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596A80"/>
                </a:solidFill>
              </a:defRPr>
            </a:pPr>
            <a:r>
              <a:rPr sz="1650">
                <a:solidFill>
                  <a:srgbClr val="596A80"/>
                </a:solidFill>
              </a:rPr>
              <a:t>数据集、缺失值、类别不均衡、日期语义特征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E99A49D-C221-4530-8CD4-4D0678733B7A}"/>
              </a:ext>
            </a:extLst>
          </p:cNvPr>
          <p:cNvSpPr>
            <a:spLocks noGrp="1"/>
          </p:cNvSpPr>
          <p:nvPr/>
        </p:nvSpPr>
        <p:spPr>
          <a:xfrm>
            <a:off x="16421100" y="5124450"/>
            <a:ext cx="8382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596A80"/>
                </a:solidFill>
              </a:defRPr>
            </a:pPr>
            <a:r>
              <a:rPr sz="1575" b="1">
                <a:solidFill>
                  <a:srgbClr val="596A80"/>
                </a:solidFill>
              </a:rPr>
              <a:t>08-09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D948DE81-B32D-4A77-B25D-ABE4F2948E6C}"/>
              </a:ext>
            </a:extLst>
          </p:cNvPr>
          <p:cNvSpPr>
            <a:spLocks noGrp="1"/>
          </p:cNvSpPr>
          <p:nvPr/>
        </p:nvSpPr>
        <p:spPr>
          <a:xfrm>
            <a:off x="6012752" y="5786438"/>
            <a:ext cx="11456099" cy="89535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E281A03-6527-4FBD-8F22-F3B733621C54}"/>
              </a:ext>
            </a:extLst>
          </p:cNvPr>
          <p:cNvSpPr>
            <a:spLocks noGrp="1"/>
          </p:cNvSpPr>
          <p:nvPr/>
        </p:nvSpPr>
        <p:spPr>
          <a:xfrm>
            <a:off x="6229350" y="6038850"/>
            <a:ext cx="66675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925" b="1">
                <a:solidFill>
                  <a:srgbClr val="D88312"/>
                </a:solidFill>
              </a:defRPr>
            </a:pPr>
            <a:r>
              <a:rPr sz="2925" b="1">
                <a:solidFill>
                  <a:srgbClr val="D88312"/>
                </a:solidFill>
              </a:rPr>
              <a:t>04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66A4F60-BF5D-4184-B633-F63B81B0C847}"/>
              </a:ext>
            </a:extLst>
          </p:cNvPr>
          <p:cNvSpPr>
            <a:spLocks noGrp="1"/>
          </p:cNvSpPr>
          <p:nvPr/>
        </p:nvSpPr>
        <p:spPr>
          <a:xfrm>
            <a:off x="7048500" y="5981700"/>
            <a:ext cx="66675" cy="552450"/>
          </a:xfrm>
          <a:prstGeom prst="rect">
            <a:avLst/>
          </a:prstGeom>
          <a:solidFill>
            <a:srgbClr val="D88312"/>
          </a:solidFill>
          <a:ln w="0">
            <a:solidFill>
              <a:srgbClr val="D88312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1A1C606A-6E83-4CC3-84DF-DFE3AE2E3320}"/>
              </a:ext>
            </a:extLst>
          </p:cNvPr>
          <p:cNvSpPr>
            <a:spLocks noGrp="1"/>
          </p:cNvSpPr>
          <p:nvPr/>
        </p:nvSpPr>
        <p:spPr>
          <a:xfrm>
            <a:off x="7296150" y="5962650"/>
            <a:ext cx="77533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 b="1">
                <a:solidFill>
                  <a:srgbClr val="0D172A"/>
                </a:solidFill>
              </a:defRPr>
            </a:pPr>
            <a:r>
              <a:rPr sz="2175" b="1" dirty="0" err="1">
                <a:solidFill>
                  <a:srgbClr val="0D172A"/>
                </a:solidFill>
              </a:rPr>
              <a:t>模型构建与训练策略</a:t>
            </a:r>
            <a:endParaRPr sz="2175" b="1" dirty="0">
              <a:solidFill>
                <a:srgbClr val="0D172A"/>
              </a:solidFill>
            </a:endParaRP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19231846-B818-4D24-A41F-99DF942CA460}"/>
              </a:ext>
            </a:extLst>
          </p:cNvPr>
          <p:cNvSpPr>
            <a:spLocks noGrp="1"/>
          </p:cNvSpPr>
          <p:nvPr/>
        </p:nvSpPr>
        <p:spPr>
          <a:xfrm>
            <a:off x="15182850" y="5829300"/>
            <a:ext cx="1066800" cy="514350"/>
          </a:xfrm>
          <a:prstGeom prst="roundRect">
            <a:avLst>
              <a:gd name="adj" fmla="val 50000"/>
            </a:avLst>
          </a:prstGeom>
          <a:solidFill>
            <a:srgbClr val="FFF3DD"/>
          </a:solidFill>
          <a:ln w="9525">
            <a:solidFill>
              <a:srgbClr val="D88312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B9CC116-5E11-4531-AE4C-8E65E782878A}"/>
              </a:ext>
            </a:extLst>
          </p:cNvPr>
          <p:cNvSpPr>
            <a:spLocks noGrp="1"/>
          </p:cNvSpPr>
          <p:nvPr/>
        </p:nvSpPr>
        <p:spPr>
          <a:xfrm>
            <a:off x="15278100" y="5924550"/>
            <a:ext cx="8763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D88312"/>
                </a:solidFill>
              </a:defRPr>
            </a:pPr>
            <a:r>
              <a:rPr sz="1500" b="1">
                <a:solidFill>
                  <a:srgbClr val="D88312"/>
                </a:solidFill>
              </a:rPr>
              <a:t>约3min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B1951FD6-E67D-4CC7-B0A8-F818F112C0B4}"/>
              </a:ext>
            </a:extLst>
          </p:cNvPr>
          <p:cNvSpPr>
            <a:spLocks noGrp="1"/>
          </p:cNvSpPr>
          <p:nvPr/>
        </p:nvSpPr>
        <p:spPr>
          <a:xfrm>
            <a:off x="7296150" y="6419850"/>
            <a:ext cx="89535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596A80"/>
                </a:solidFill>
              </a:defRPr>
            </a:pPr>
            <a:r>
              <a:rPr sz="1650">
                <a:solidFill>
                  <a:srgbClr val="596A80"/>
                </a:solidFill>
              </a:rPr>
              <a:t>残差式 MLP、损失重加权、自动阈值搜索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5C8A17CF-0F39-4D6B-96F9-96AA0CBA40EF}"/>
              </a:ext>
            </a:extLst>
          </p:cNvPr>
          <p:cNvSpPr>
            <a:spLocks noGrp="1"/>
          </p:cNvSpPr>
          <p:nvPr/>
        </p:nvSpPr>
        <p:spPr>
          <a:xfrm>
            <a:off x="16421100" y="6134100"/>
            <a:ext cx="8382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596A80"/>
                </a:solidFill>
              </a:defRPr>
            </a:pPr>
            <a:r>
              <a:rPr sz="1575" b="1">
                <a:solidFill>
                  <a:srgbClr val="596A80"/>
                </a:solidFill>
              </a:rPr>
              <a:t>10-11</a:t>
            </a: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824D144A-6B99-4F0E-8590-6252A1FC2631}"/>
              </a:ext>
            </a:extLst>
          </p:cNvPr>
          <p:cNvSpPr>
            <a:spLocks noGrp="1"/>
          </p:cNvSpPr>
          <p:nvPr/>
        </p:nvSpPr>
        <p:spPr>
          <a:xfrm>
            <a:off x="6012752" y="6805613"/>
            <a:ext cx="11456099" cy="89535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EC9FB318-47EB-4B77-BA84-93820BB531F0}"/>
              </a:ext>
            </a:extLst>
          </p:cNvPr>
          <p:cNvSpPr>
            <a:spLocks noGrp="1"/>
          </p:cNvSpPr>
          <p:nvPr/>
        </p:nvSpPr>
        <p:spPr>
          <a:xfrm>
            <a:off x="6229350" y="7067550"/>
            <a:ext cx="66675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925" b="1">
                <a:solidFill>
                  <a:srgbClr val="24A064"/>
                </a:solidFill>
              </a:defRPr>
            </a:pPr>
            <a:r>
              <a:rPr sz="2925" b="1">
                <a:solidFill>
                  <a:srgbClr val="24A064"/>
                </a:solidFill>
              </a:rPr>
              <a:t>05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AB5F57A-438E-4912-9EF9-86E6A697E5A1}"/>
              </a:ext>
            </a:extLst>
          </p:cNvPr>
          <p:cNvSpPr>
            <a:spLocks noGrp="1"/>
          </p:cNvSpPr>
          <p:nvPr/>
        </p:nvSpPr>
        <p:spPr>
          <a:xfrm>
            <a:off x="7048500" y="6972300"/>
            <a:ext cx="66675" cy="552450"/>
          </a:xfrm>
          <a:prstGeom prst="rect">
            <a:avLst/>
          </a:prstGeom>
          <a:solidFill>
            <a:srgbClr val="24A064"/>
          </a:solidFill>
          <a:ln w="0">
            <a:solidFill>
              <a:srgbClr val="24A064"/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127A7C51-6E0E-4AA3-A0F7-F2E3607501AA}"/>
              </a:ext>
            </a:extLst>
          </p:cNvPr>
          <p:cNvSpPr>
            <a:spLocks noGrp="1"/>
          </p:cNvSpPr>
          <p:nvPr/>
        </p:nvSpPr>
        <p:spPr>
          <a:xfrm>
            <a:off x="7296150" y="6991350"/>
            <a:ext cx="77533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 b="1">
                <a:solidFill>
                  <a:srgbClr val="0D172A"/>
                </a:solidFill>
              </a:defRPr>
            </a:pPr>
            <a:r>
              <a:rPr sz="2175" b="1" dirty="0" err="1">
                <a:solidFill>
                  <a:srgbClr val="0D172A"/>
                </a:solidFill>
              </a:rPr>
              <a:t>实验结果与系统实现</a:t>
            </a:r>
            <a:endParaRPr sz="2175" b="1" dirty="0">
              <a:solidFill>
                <a:srgbClr val="0D172A"/>
              </a:solidFill>
            </a:endParaRP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A1C57EE5-8260-4A77-A5A2-EF259C972ECF}"/>
              </a:ext>
            </a:extLst>
          </p:cNvPr>
          <p:cNvSpPr>
            <a:spLocks noGrp="1"/>
          </p:cNvSpPr>
          <p:nvPr/>
        </p:nvSpPr>
        <p:spPr>
          <a:xfrm>
            <a:off x="15182850" y="6858000"/>
            <a:ext cx="1066800" cy="514350"/>
          </a:xfrm>
          <a:prstGeom prst="roundRect">
            <a:avLst>
              <a:gd name="adj" fmla="val 50000"/>
            </a:avLst>
          </a:prstGeom>
          <a:solidFill>
            <a:srgbClr val="E9F7EF"/>
          </a:solidFill>
          <a:ln w="9525">
            <a:solidFill>
              <a:srgbClr val="24A064"/>
            </a:solidFill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BD768330-722F-4FDC-BC3E-E9B6E172A1E9}"/>
              </a:ext>
            </a:extLst>
          </p:cNvPr>
          <p:cNvSpPr>
            <a:spLocks noGrp="1"/>
          </p:cNvSpPr>
          <p:nvPr/>
        </p:nvSpPr>
        <p:spPr>
          <a:xfrm>
            <a:off x="15278100" y="6953250"/>
            <a:ext cx="8763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24A064"/>
                </a:solidFill>
              </a:defRPr>
            </a:pPr>
            <a:r>
              <a:rPr sz="1500" b="1">
                <a:solidFill>
                  <a:srgbClr val="24A064"/>
                </a:solidFill>
              </a:rPr>
              <a:t>约3min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573E5C4D-B5AF-4C6A-99A0-4C14DA5B8135}"/>
              </a:ext>
            </a:extLst>
          </p:cNvPr>
          <p:cNvSpPr>
            <a:spLocks noGrp="1"/>
          </p:cNvSpPr>
          <p:nvPr/>
        </p:nvSpPr>
        <p:spPr>
          <a:xfrm>
            <a:off x="7296150" y="7448550"/>
            <a:ext cx="89535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596A80"/>
                </a:solidFill>
              </a:defRPr>
            </a:pPr>
            <a:r>
              <a:rPr sz="1650">
                <a:solidFill>
                  <a:srgbClr val="596A80"/>
                </a:solidFill>
              </a:rPr>
              <a:t>分类报告、消融实验、训练与预测页面展示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5460FF5-F178-48CF-9106-E368B7C1D5A6}"/>
              </a:ext>
            </a:extLst>
          </p:cNvPr>
          <p:cNvSpPr>
            <a:spLocks noGrp="1"/>
          </p:cNvSpPr>
          <p:nvPr/>
        </p:nvSpPr>
        <p:spPr>
          <a:xfrm>
            <a:off x="16421100" y="7162800"/>
            <a:ext cx="8382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596A80"/>
                </a:solidFill>
              </a:defRPr>
            </a:pPr>
            <a:r>
              <a:rPr sz="1575" b="1">
                <a:solidFill>
                  <a:srgbClr val="596A80"/>
                </a:solidFill>
              </a:rPr>
              <a:t>12-14</a:t>
            </a: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05012FD6-5B16-4139-BD38-901357A063DE}"/>
              </a:ext>
            </a:extLst>
          </p:cNvPr>
          <p:cNvSpPr>
            <a:spLocks noGrp="1"/>
          </p:cNvSpPr>
          <p:nvPr/>
        </p:nvSpPr>
        <p:spPr>
          <a:xfrm>
            <a:off x="6012752" y="7824788"/>
            <a:ext cx="11456099" cy="89535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4E91348C-5533-47F0-A96A-7433AA7CCD2D}"/>
              </a:ext>
            </a:extLst>
          </p:cNvPr>
          <p:cNvSpPr>
            <a:spLocks noGrp="1"/>
          </p:cNvSpPr>
          <p:nvPr/>
        </p:nvSpPr>
        <p:spPr>
          <a:xfrm>
            <a:off x="6229350" y="8077200"/>
            <a:ext cx="66675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925" b="1">
                <a:solidFill>
                  <a:srgbClr val="2F9486"/>
                </a:solidFill>
              </a:defRPr>
            </a:pPr>
            <a:r>
              <a:rPr sz="2925" b="1">
                <a:solidFill>
                  <a:srgbClr val="2F9486"/>
                </a:solidFill>
              </a:rPr>
              <a:t>06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343EC864-999D-4114-9125-6910B2BCCABA}"/>
              </a:ext>
            </a:extLst>
          </p:cNvPr>
          <p:cNvSpPr>
            <a:spLocks noGrp="1"/>
          </p:cNvSpPr>
          <p:nvPr/>
        </p:nvSpPr>
        <p:spPr>
          <a:xfrm>
            <a:off x="7048500" y="8001000"/>
            <a:ext cx="66675" cy="552450"/>
          </a:xfrm>
          <a:prstGeom prst="rect">
            <a:avLst/>
          </a:prstGeom>
          <a:solidFill>
            <a:srgbClr val="2F9486"/>
          </a:solidFill>
          <a:ln w="0">
            <a:solidFill>
              <a:srgbClr val="2F9486"/>
            </a:solidFill>
            <a:prstDash val="solid"/>
          </a:ln>
        </p:spPr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02F55A73-188F-4F2C-BFDE-D10F14A90537}"/>
              </a:ext>
            </a:extLst>
          </p:cNvPr>
          <p:cNvSpPr>
            <a:spLocks noGrp="1"/>
          </p:cNvSpPr>
          <p:nvPr/>
        </p:nvSpPr>
        <p:spPr>
          <a:xfrm>
            <a:off x="7296150" y="8001000"/>
            <a:ext cx="77533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 b="1">
                <a:solidFill>
                  <a:srgbClr val="0D172A"/>
                </a:solidFill>
              </a:defRPr>
            </a:pPr>
            <a:r>
              <a:rPr sz="2175" b="1" dirty="0" err="1">
                <a:solidFill>
                  <a:srgbClr val="0D172A"/>
                </a:solidFill>
              </a:rPr>
              <a:t>总结与展望</a:t>
            </a:r>
            <a:endParaRPr sz="2175" b="1" dirty="0">
              <a:solidFill>
                <a:srgbClr val="0D172A"/>
              </a:solidFill>
            </a:endParaRPr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FB0F59B2-519B-4361-9929-A17486AB5CC5}"/>
              </a:ext>
            </a:extLst>
          </p:cNvPr>
          <p:cNvSpPr>
            <a:spLocks noGrp="1"/>
          </p:cNvSpPr>
          <p:nvPr/>
        </p:nvSpPr>
        <p:spPr>
          <a:xfrm>
            <a:off x="15182850" y="7867650"/>
            <a:ext cx="1066800" cy="514350"/>
          </a:xfrm>
          <a:prstGeom prst="roundRect">
            <a:avLst>
              <a:gd name="adj" fmla="val 50000"/>
            </a:avLst>
          </a:prstGeom>
          <a:solidFill>
            <a:srgbClr val="E7F4F1"/>
          </a:solidFill>
          <a:ln w="9525">
            <a:solidFill>
              <a:srgbClr val="2F9486"/>
            </a:solidFill>
            <a:prstDash val="solid"/>
          </a:ln>
        </p:spPr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08537C50-4EC5-4152-9B6E-1FCFC13F3F21}"/>
              </a:ext>
            </a:extLst>
          </p:cNvPr>
          <p:cNvSpPr>
            <a:spLocks noGrp="1"/>
          </p:cNvSpPr>
          <p:nvPr/>
        </p:nvSpPr>
        <p:spPr>
          <a:xfrm>
            <a:off x="15278100" y="7962900"/>
            <a:ext cx="8763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2F9486"/>
                </a:solidFill>
              </a:defRPr>
            </a:pPr>
            <a:r>
              <a:rPr sz="1500" b="1">
                <a:solidFill>
                  <a:srgbClr val="2F9486"/>
                </a:solidFill>
              </a:rPr>
              <a:t>约2min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3C168B36-8FFF-409A-AD1A-8563A96BD6C0}"/>
              </a:ext>
            </a:extLst>
          </p:cNvPr>
          <p:cNvSpPr>
            <a:spLocks noGrp="1"/>
          </p:cNvSpPr>
          <p:nvPr/>
        </p:nvSpPr>
        <p:spPr>
          <a:xfrm>
            <a:off x="7296150" y="8458200"/>
            <a:ext cx="89535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596A80"/>
                </a:solidFill>
              </a:defRPr>
            </a:pPr>
            <a:r>
              <a:rPr sz="1650">
                <a:solidFill>
                  <a:srgbClr val="596A80"/>
                </a:solidFill>
              </a:rPr>
              <a:t>主要成果、现有不足、后续优化方向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22165708-EC11-44C5-9B42-31F6047E87C5}"/>
              </a:ext>
            </a:extLst>
          </p:cNvPr>
          <p:cNvSpPr>
            <a:spLocks noGrp="1"/>
          </p:cNvSpPr>
          <p:nvPr/>
        </p:nvSpPr>
        <p:spPr>
          <a:xfrm>
            <a:off x="16421100" y="8172450"/>
            <a:ext cx="8382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596A80"/>
                </a:solidFill>
              </a:defRPr>
            </a:pPr>
            <a:r>
              <a:rPr sz="1575" b="1">
                <a:solidFill>
                  <a:srgbClr val="596A80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581888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64951ED3-2BE6-4E24-8C61-3D8E8D551017}"/>
              </a:ext>
            </a:extLst>
          </p:cNvPr>
          <p:cNvSpPr>
            <a:spLocks noGrp="1"/>
          </p:cNvSpPr>
          <p:nvPr/>
        </p:nvSpPr>
        <p:spPr>
          <a:xfrm>
            <a:off x="819150" y="609600"/>
            <a:ext cx="15868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20796E"/>
                </a:solidFill>
              </a:defRPr>
            </a:pPr>
            <a:r>
              <a:rPr sz="1650" b="1">
                <a:solidFill>
                  <a:srgbClr val="20796E"/>
                </a:solidFill>
              </a:rPr>
              <a:t>研究背景与意义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9CEB6C5-1850-49D5-B1C4-4CED751AECB4}"/>
              </a:ext>
            </a:extLst>
          </p:cNvPr>
          <p:cNvSpPr>
            <a:spLocks noGrp="1"/>
          </p:cNvSpPr>
          <p:nvPr/>
        </p:nvSpPr>
        <p:spPr>
          <a:xfrm>
            <a:off x="819150" y="895350"/>
            <a:ext cx="132588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0D172A"/>
                </a:solidFill>
              </a:defRPr>
            </a:pPr>
            <a:r>
              <a:rPr sz="4350" b="1" dirty="0" err="1">
                <a:solidFill>
                  <a:srgbClr val="0D172A"/>
                </a:solidFill>
              </a:rPr>
              <a:t>研究背景：车险理赔正在从经验处理转向数据驱动风控</a:t>
            </a:r>
            <a:endParaRPr sz="4350" b="1" dirty="0">
              <a:solidFill>
                <a:srgbClr val="0D172A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F1F3FF2-131E-409C-B439-EF131B219E45}"/>
              </a:ext>
            </a:extLst>
          </p:cNvPr>
          <p:cNvSpPr>
            <a:spLocks noGrp="1"/>
          </p:cNvSpPr>
          <p:nvPr/>
        </p:nvSpPr>
        <p:spPr>
          <a:xfrm>
            <a:off x="16916400" y="914400"/>
            <a:ext cx="552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20796E"/>
                </a:solidFill>
              </a:defRPr>
            </a:pPr>
            <a:r>
              <a:rPr sz="1800" b="1">
                <a:solidFill>
                  <a:srgbClr val="20796E"/>
                </a:solidFill>
              </a:rPr>
              <a:t>03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7F4997A-FFD6-45FF-9607-ADD21F080D9E}"/>
              </a:ext>
            </a:extLst>
          </p:cNvPr>
          <p:cNvSpPr>
            <a:spLocks noGrp="1"/>
          </p:cNvSpPr>
          <p:nvPr/>
        </p:nvSpPr>
        <p:spPr>
          <a:xfrm>
            <a:off x="819150" y="4876800"/>
            <a:ext cx="7010400" cy="876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450" b="1">
                <a:solidFill>
                  <a:srgbClr val="0D172A"/>
                </a:solidFill>
              </a:defRPr>
            </a:pPr>
            <a:r>
              <a:rPr sz="3450" b="1" dirty="0" err="1">
                <a:solidFill>
                  <a:srgbClr val="0D172A"/>
                </a:solidFill>
              </a:rPr>
              <a:t>理赔环节同时影响赔付支出控制、客户满意度和保险企业运营效率</a:t>
            </a:r>
            <a:r>
              <a:rPr sz="3450" b="1" dirty="0">
                <a:solidFill>
                  <a:srgbClr val="0D172A"/>
                </a:solidFill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BA67866-146D-440B-B2BF-D09FFB5AB751}"/>
              </a:ext>
            </a:extLst>
          </p:cNvPr>
          <p:cNvSpPr>
            <a:spLocks noGrp="1"/>
          </p:cNvSpPr>
          <p:nvPr/>
        </p:nvSpPr>
        <p:spPr>
          <a:xfrm>
            <a:off x="819150" y="6019800"/>
            <a:ext cx="714375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>
                <a:solidFill>
                  <a:srgbClr val="596A80"/>
                </a:solidFill>
              </a:defRPr>
            </a:pPr>
            <a:r>
              <a:rPr sz="2250" dirty="0" err="1">
                <a:solidFill>
                  <a:srgbClr val="596A80"/>
                </a:solidFill>
              </a:rPr>
              <a:t>线上报案、历史保单、车辆属性和理赔记录持续积累，使系统从业务数据中抽取风险信号成为可能</a:t>
            </a:r>
            <a:r>
              <a:rPr sz="2250" dirty="0">
                <a:solidFill>
                  <a:srgbClr val="596A80"/>
                </a:solidFill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D375A8A-222B-4714-934A-F1F2A058DDA4}"/>
              </a:ext>
            </a:extLst>
          </p:cNvPr>
          <p:cNvSpPr>
            <a:spLocks noGrp="1"/>
          </p:cNvSpPr>
          <p:nvPr/>
        </p:nvSpPr>
        <p:spPr>
          <a:xfrm>
            <a:off x="8763000" y="3848100"/>
            <a:ext cx="609600" cy="76200"/>
          </a:xfrm>
          <a:prstGeom prst="rect">
            <a:avLst/>
          </a:prstGeom>
          <a:solidFill>
            <a:srgbClr val="E15A4F"/>
          </a:solidFill>
          <a:ln w="0">
            <a:solidFill>
              <a:srgbClr val="E15A4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420375F-3A58-4F8F-B583-2601D84F7577}"/>
              </a:ext>
            </a:extLst>
          </p:cNvPr>
          <p:cNvSpPr>
            <a:spLocks noGrp="1"/>
          </p:cNvSpPr>
          <p:nvPr/>
        </p:nvSpPr>
        <p:spPr>
          <a:xfrm>
            <a:off x="8763000" y="4019550"/>
            <a:ext cx="87058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传统方式的不足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63C8ACC-A3A7-4B9A-BEB8-E63AF569E5E0}"/>
              </a:ext>
            </a:extLst>
          </p:cNvPr>
          <p:cNvSpPr>
            <a:spLocks noGrp="1"/>
          </p:cNvSpPr>
          <p:nvPr/>
        </p:nvSpPr>
        <p:spPr>
          <a:xfrm>
            <a:off x="8763000" y="4457700"/>
            <a:ext cx="8705850" cy="476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596A80"/>
                </a:solidFill>
              </a:defRPr>
            </a:pPr>
            <a:r>
              <a:rPr sz="1875" dirty="0" err="1">
                <a:solidFill>
                  <a:srgbClr val="596A80"/>
                </a:solidFill>
              </a:rPr>
              <a:t>人工经验与规则匹配在大规模、高维度、复杂关联数据下效率不足，规则维护成本较高</a:t>
            </a:r>
            <a:r>
              <a:rPr sz="1875" dirty="0">
                <a:solidFill>
                  <a:srgbClr val="596A80"/>
                </a:solidFill>
              </a:rPr>
              <a:t>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59D811F-736B-48C3-9266-60AE9305A1F5}"/>
              </a:ext>
            </a:extLst>
          </p:cNvPr>
          <p:cNvSpPr>
            <a:spLocks noGrp="1"/>
          </p:cNvSpPr>
          <p:nvPr/>
        </p:nvSpPr>
        <p:spPr>
          <a:xfrm>
            <a:off x="8763000" y="5181600"/>
            <a:ext cx="609600" cy="76200"/>
          </a:xfrm>
          <a:prstGeom prst="rect">
            <a:avLst/>
          </a:prstGeom>
          <a:solidFill>
            <a:srgbClr val="2765E8"/>
          </a:solidFill>
          <a:ln w="0">
            <a:solidFill>
              <a:srgbClr val="2765E8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2978292-5D5D-405A-B482-ACE8E57C912B}"/>
              </a:ext>
            </a:extLst>
          </p:cNvPr>
          <p:cNvSpPr>
            <a:spLocks noGrp="1"/>
          </p:cNvSpPr>
          <p:nvPr/>
        </p:nvSpPr>
        <p:spPr>
          <a:xfrm>
            <a:off x="8763000" y="5372100"/>
            <a:ext cx="87058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75" b="1">
                <a:solidFill>
                  <a:srgbClr val="111827"/>
                </a:solidFill>
              </a:defRPr>
            </a:pPr>
            <a:r>
              <a:rPr sz="2475" b="1" dirty="0" err="1">
                <a:solidFill>
                  <a:srgbClr val="111827"/>
                </a:solidFill>
              </a:rPr>
              <a:t>机器学习的机会</a:t>
            </a:r>
            <a:endParaRPr sz="2475" b="1" dirty="0">
              <a:solidFill>
                <a:srgbClr val="111827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F70A91B-E4A4-4DB9-B1E3-F756867BF448}"/>
              </a:ext>
            </a:extLst>
          </p:cNvPr>
          <p:cNvSpPr>
            <a:spLocks noGrp="1"/>
          </p:cNvSpPr>
          <p:nvPr/>
        </p:nvSpPr>
        <p:spPr>
          <a:xfrm>
            <a:off x="8763000" y="5791200"/>
            <a:ext cx="8705850" cy="476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596A80"/>
                </a:solidFill>
              </a:defRPr>
            </a:pPr>
            <a:r>
              <a:rPr sz="1875" dirty="0" err="1">
                <a:solidFill>
                  <a:srgbClr val="596A80"/>
                </a:solidFill>
              </a:rPr>
              <a:t>神经网络能够从多维结构化字段中学习非线性风险表征，用于辅助识别潜在理赔风险</a:t>
            </a:r>
            <a:r>
              <a:rPr sz="1875" dirty="0">
                <a:solidFill>
                  <a:srgbClr val="596A80"/>
                </a:solidFill>
              </a:rPr>
              <a:t>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DF5FB03-B9D0-4FDF-A71E-FA01F4092A03}"/>
              </a:ext>
            </a:extLst>
          </p:cNvPr>
          <p:cNvSpPr>
            <a:spLocks noGrp="1"/>
          </p:cNvSpPr>
          <p:nvPr/>
        </p:nvSpPr>
        <p:spPr>
          <a:xfrm>
            <a:off x="8763000" y="6515100"/>
            <a:ext cx="609600" cy="76200"/>
          </a:xfrm>
          <a:prstGeom prst="rect">
            <a:avLst/>
          </a:prstGeom>
          <a:solidFill>
            <a:srgbClr val="20796E"/>
          </a:solidFill>
          <a:ln w="0">
            <a:solidFill>
              <a:srgbClr val="20796E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9B93ABC-857A-4615-8732-2BC63323C31D}"/>
              </a:ext>
            </a:extLst>
          </p:cNvPr>
          <p:cNvSpPr>
            <a:spLocks noGrp="1"/>
          </p:cNvSpPr>
          <p:nvPr/>
        </p:nvSpPr>
        <p:spPr>
          <a:xfrm>
            <a:off x="8763000" y="6705600"/>
            <a:ext cx="87058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系统化落地价值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871FF02-57F8-48F9-B70A-BC4097160438}"/>
              </a:ext>
            </a:extLst>
          </p:cNvPr>
          <p:cNvSpPr>
            <a:spLocks noGrp="1"/>
          </p:cNvSpPr>
          <p:nvPr/>
        </p:nvSpPr>
        <p:spPr>
          <a:xfrm>
            <a:off x="8763000" y="7143750"/>
            <a:ext cx="8705850" cy="476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596A80"/>
                </a:solidFill>
              </a:defRPr>
            </a:pPr>
            <a:r>
              <a:rPr sz="1875">
                <a:solidFill>
                  <a:srgbClr val="596A80"/>
                </a:solidFill>
              </a:rPr>
              <a:t>将样本管理、模型训练、在线预测、结果查询与统计分析纳入统一平台，降低算法应用门槛。</a:t>
            </a:r>
          </a:p>
        </p:txBody>
      </p:sp>
    </p:spTree>
    <p:extLst>
      <p:ext uri="{BB962C8B-B14F-4D97-AF65-F5344CB8AC3E}">
        <p14:creationId xmlns:p14="http://schemas.microsoft.com/office/powerpoint/2010/main" val="559560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BBD9A5AA-A257-42B5-B43A-1FE8FBDCB111}"/>
              </a:ext>
            </a:extLst>
          </p:cNvPr>
          <p:cNvSpPr>
            <a:spLocks noGrp="1"/>
          </p:cNvSpPr>
          <p:nvPr/>
        </p:nvSpPr>
        <p:spPr>
          <a:xfrm>
            <a:off x="819150" y="609600"/>
            <a:ext cx="15868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20796E"/>
                </a:solidFill>
              </a:defRPr>
            </a:pPr>
            <a:r>
              <a:rPr sz="1650" b="1">
                <a:solidFill>
                  <a:srgbClr val="20796E"/>
                </a:solidFill>
              </a:rPr>
              <a:t>研究目标与主要工作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2351DE4-B942-4798-AA00-8DD17C6BD5B5}"/>
              </a:ext>
            </a:extLst>
          </p:cNvPr>
          <p:cNvSpPr>
            <a:spLocks noGrp="1"/>
          </p:cNvSpPr>
          <p:nvPr/>
        </p:nvSpPr>
        <p:spPr>
          <a:xfrm>
            <a:off x="819150" y="895350"/>
            <a:ext cx="1270635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0D172A"/>
                </a:solidFill>
              </a:defRPr>
            </a:pPr>
            <a:r>
              <a:rPr sz="4350" b="1">
                <a:solidFill>
                  <a:srgbClr val="0D172A"/>
                </a:solidFill>
              </a:rPr>
              <a:t>研究目标：完成车险理赔预测模型与业务系统的结合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1F1EF2B-382C-4291-938D-1F683F549E01}"/>
              </a:ext>
            </a:extLst>
          </p:cNvPr>
          <p:cNvSpPr>
            <a:spLocks noGrp="1"/>
          </p:cNvSpPr>
          <p:nvPr/>
        </p:nvSpPr>
        <p:spPr>
          <a:xfrm>
            <a:off x="16916400" y="914400"/>
            <a:ext cx="552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20796E"/>
                </a:solidFill>
              </a:defRPr>
            </a:pPr>
            <a:r>
              <a:rPr sz="1800" b="1">
                <a:solidFill>
                  <a:srgbClr val="20796E"/>
                </a:solidFill>
              </a:rPr>
              <a:t>04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BB48536-55B8-44D8-97CB-6FC4D72D1A73}"/>
              </a:ext>
            </a:extLst>
          </p:cNvPr>
          <p:cNvSpPr>
            <a:spLocks noGrp="1"/>
          </p:cNvSpPr>
          <p:nvPr/>
        </p:nvSpPr>
        <p:spPr>
          <a:xfrm>
            <a:off x="819150" y="4457700"/>
            <a:ext cx="809625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20796E"/>
                </a:solidFill>
              </a:defRPr>
            </a:pPr>
            <a:r>
              <a:rPr sz="3150" b="1">
                <a:solidFill>
                  <a:srgbClr val="20796E"/>
                </a:solidFill>
              </a:rPr>
              <a:t>模型部分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A772668E-E33F-4E50-A57C-E4581F06F853}"/>
              </a:ext>
            </a:extLst>
          </p:cNvPr>
          <p:cNvSpPr>
            <a:spLocks noGrp="1"/>
          </p:cNvSpPr>
          <p:nvPr/>
        </p:nvSpPr>
        <p:spPr>
          <a:xfrm>
            <a:off x="819150" y="5105400"/>
            <a:ext cx="114300" cy="114300"/>
          </a:xfrm>
          <a:prstGeom prst="ellipse">
            <a:avLst/>
          </a:prstGeom>
          <a:solidFill>
            <a:srgbClr val="20796E"/>
          </a:solidFill>
          <a:ln w="0">
            <a:solidFill>
              <a:srgbClr val="20796E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4DCBB00-1D9D-4CDF-B41C-4242F8BDF1DB}"/>
              </a:ext>
            </a:extLst>
          </p:cNvPr>
          <p:cNvSpPr>
            <a:spLocks noGrp="1"/>
          </p:cNvSpPr>
          <p:nvPr/>
        </p:nvSpPr>
        <p:spPr>
          <a:xfrm>
            <a:off x="1066800" y="5105400"/>
            <a:ext cx="78486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>
                <a:solidFill>
                  <a:srgbClr val="263246"/>
                </a:solidFill>
              </a:defRPr>
            </a:pPr>
            <a:r>
              <a:rPr sz="2175">
                <a:solidFill>
                  <a:srgbClr val="263246"/>
                </a:solidFill>
              </a:rPr>
              <a:t>围绕“保单在当前年度是否发生理赔”构建二分类预测任务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106B7FFE-22E6-4910-8B6E-F30130F5D412}"/>
              </a:ext>
            </a:extLst>
          </p:cNvPr>
          <p:cNvSpPr>
            <a:spLocks noGrp="1"/>
          </p:cNvSpPr>
          <p:nvPr/>
        </p:nvSpPr>
        <p:spPr>
          <a:xfrm>
            <a:off x="819150" y="5543550"/>
            <a:ext cx="114300" cy="114300"/>
          </a:xfrm>
          <a:prstGeom prst="ellipse">
            <a:avLst/>
          </a:prstGeom>
          <a:solidFill>
            <a:srgbClr val="C8D3DE"/>
          </a:solidFill>
          <a:ln w="0">
            <a:solidFill>
              <a:srgbClr val="C8D3DE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EEA9DA9-AC6F-44C7-9A27-9666672520C3}"/>
              </a:ext>
            </a:extLst>
          </p:cNvPr>
          <p:cNvSpPr>
            <a:spLocks noGrp="1"/>
          </p:cNvSpPr>
          <p:nvPr/>
        </p:nvSpPr>
        <p:spPr>
          <a:xfrm>
            <a:off x="1066800" y="5543550"/>
            <a:ext cx="78486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>
                <a:solidFill>
                  <a:srgbClr val="263246"/>
                </a:solidFill>
              </a:defRPr>
            </a:pPr>
            <a:r>
              <a:rPr sz="2175">
                <a:solidFill>
                  <a:srgbClr val="263246"/>
                </a:solidFill>
              </a:rPr>
              <a:t>完成数据清洗、特征工程、标准化预处理和类别不均衡处理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D982E2C6-5207-4D7F-82CB-A60B66A083D6}"/>
              </a:ext>
            </a:extLst>
          </p:cNvPr>
          <p:cNvSpPr>
            <a:spLocks noGrp="1"/>
          </p:cNvSpPr>
          <p:nvPr/>
        </p:nvSpPr>
        <p:spPr>
          <a:xfrm>
            <a:off x="819150" y="6000750"/>
            <a:ext cx="114300" cy="114300"/>
          </a:xfrm>
          <a:prstGeom prst="ellipse">
            <a:avLst/>
          </a:prstGeom>
          <a:solidFill>
            <a:srgbClr val="C8D3DE"/>
          </a:solidFill>
          <a:ln w="0">
            <a:solidFill>
              <a:srgbClr val="C8D3DE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CEEF0F9-2964-4A1E-B3B4-5A94D6DE3A35}"/>
              </a:ext>
            </a:extLst>
          </p:cNvPr>
          <p:cNvSpPr>
            <a:spLocks noGrp="1"/>
          </p:cNvSpPr>
          <p:nvPr/>
        </p:nvSpPr>
        <p:spPr>
          <a:xfrm>
            <a:off x="1066800" y="6000750"/>
            <a:ext cx="78486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>
                <a:solidFill>
                  <a:srgbClr val="263246"/>
                </a:solidFill>
              </a:defRPr>
            </a:pPr>
            <a:r>
              <a:rPr sz="2175">
                <a:solidFill>
                  <a:srgbClr val="263246"/>
                </a:solidFill>
              </a:rPr>
              <a:t>设计残差式 MLP 主干网络，并引入 LayerNorm、GELU、Dropout 等优化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667074E-2845-42D2-9484-16C8AA27E269}"/>
              </a:ext>
            </a:extLst>
          </p:cNvPr>
          <p:cNvSpPr>
            <a:spLocks noGrp="1"/>
          </p:cNvSpPr>
          <p:nvPr/>
        </p:nvSpPr>
        <p:spPr>
          <a:xfrm>
            <a:off x="819150" y="6724650"/>
            <a:ext cx="114300" cy="114300"/>
          </a:xfrm>
          <a:prstGeom prst="ellipse">
            <a:avLst/>
          </a:prstGeom>
          <a:solidFill>
            <a:srgbClr val="C8D3DE"/>
          </a:solidFill>
          <a:ln w="0">
            <a:solidFill>
              <a:srgbClr val="C8D3DE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D018A5D-CE74-4A2F-AE51-B6C1B2CE896F}"/>
              </a:ext>
            </a:extLst>
          </p:cNvPr>
          <p:cNvSpPr>
            <a:spLocks noGrp="1"/>
          </p:cNvSpPr>
          <p:nvPr/>
        </p:nvSpPr>
        <p:spPr>
          <a:xfrm>
            <a:off x="1066800" y="6724650"/>
            <a:ext cx="78486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>
                <a:solidFill>
                  <a:srgbClr val="263246"/>
                </a:solidFill>
              </a:defRPr>
            </a:pPr>
            <a:r>
              <a:rPr sz="2175">
                <a:solidFill>
                  <a:srgbClr val="263246"/>
                </a:solidFill>
              </a:rPr>
              <a:t>使用 AUC、Precision、Recall、F1 和消融实验验证模型效果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2F9910C-D0AE-45C8-B6DF-8EA958EC029D}"/>
              </a:ext>
            </a:extLst>
          </p:cNvPr>
          <p:cNvSpPr>
            <a:spLocks noGrp="1"/>
          </p:cNvSpPr>
          <p:nvPr/>
        </p:nvSpPr>
        <p:spPr>
          <a:xfrm>
            <a:off x="9372600" y="4591050"/>
            <a:ext cx="809625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2765E8"/>
                </a:solidFill>
              </a:defRPr>
            </a:pPr>
            <a:r>
              <a:rPr sz="3150" b="1">
                <a:solidFill>
                  <a:srgbClr val="2765E8"/>
                </a:solidFill>
              </a:rPr>
              <a:t>系统部分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FA72793C-D57F-4FB9-9F59-57D58841BB08}"/>
              </a:ext>
            </a:extLst>
          </p:cNvPr>
          <p:cNvSpPr>
            <a:spLocks noGrp="1"/>
          </p:cNvSpPr>
          <p:nvPr/>
        </p:nvSpPr>
        <p:spPr>
          <a:xfrm>
            <a:off x="9372600" y="5238750"/>
            <a:ext cx="114300" cy="114300"/>
          </a:xfrm>
          <a:prstGeom prst="ellipse">
            <a:avLst/>
          </a:prstGeom>
          <a:solidFill>
            <a:srgbClr val="2765E8"/>
          </a:solidFill>
          <a:ln w="0">
            <a:solidFill>
              <a:srgbClr val="2765E8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9234518-ED06-4B19-84FA-05595AA1105B}"/>
              </a:ext>
            </a:extLst>
          </p:cNvPr>
          <p:cNvSpPr>
            <a:spLocks noGrp="1"/>
          </p:cNvSpPr>
          <p:nvPr/>
        </p:nvSpPr>
        <p:spPr>
          <a:xfrm>
            <a:off x="9620250" y="5238750"/>
            <a:ext cx="78486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>
                <a:solidFill>
                  <a:srgbClr val="263246"/>
                </a:solidFill>
              </a:defRPr>
            </a:pPr>
            <a:r>
              <a:rPr sz="2175">
                <a:solidFill>
                  <a:srgbClr val="263246"/>
                </a:solidFill>
              </a:rPr>
              <a:t>构建基于 Spring Boot、Vue3、MySQL、FastAPI 的前后端分离平台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B0F3B901-822D-43F2-8C1E-F9A578CF9740}"/>
              </a:ext>
            </a:extLst>
          </p:cNvPr>
          <p:cNvSpPr>
            <a:spLocks noGrp="1"/>
          </p:cNvSpPr>
          <p:nvPr/>
        </p:nvSpPr>
        <p:spPr>
          <a:xfrm>
            <a:off x="9372600" y="5695950"/>
            <a:ext cx="114300" cy="114300"/>
          </a:xfrm>
          <a:prstGeom prst="ellipse">
            <a:avLst/>
          </a:prstGeom>
          <a:solidFill>
            <a:srgbClr val="C8D3DE"/>
          </a:solidFill>
          <a:ln w="0">
            <a:solidFill>
              <a:srgbClr val="C8D3DE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77127BA-2BF5-433F-99FC-F89A15A7B41E}"/>
              </a:ext>
            </a:extLst>
          </p:cNvPr>
          <p:cNvSpPr>
            <a:spLocks noGrp="1"/>
          </p:cNvSpPr>
          <p:nvPr/>
        </p:nvSpPr>
        <p:spPr>
          <a:xfrm>
            <a:off x="9620250" y="5695950"/>
            <a:ext cx="78486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>
                <a:solidFill>
                  <a:srgbClr val="263246"/>
                </a:solidFill>
              </a:defRPr>
            </a:pPr>
            <a:r>
              <a:rPr sz="2175">
                <a:solidFill>
                  <a:srgbClr val="263246"/>
                </a:solidFill>
              </a:rPr>
              <a:t>实现用户、保单、理赔记录、车辆信息等业务数据管理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8387F34-D830-4BE0-9009-185E7F50F714}"/>
              </a:ext>
            </a:extLst>
          </p:cNvPr>
          <p:cNvSpPr>
            <a:spLocks noGrp="1"/>
          </p:cNvSpPr>
          <p:nvPr/>
        </p:nvSpPr>
        <p:spPr>
          <a:xfrm>
            <a:off x="9372600" y="6134100"/>
            <a:ext cx="114300" cy="114300"/>
          </a:xfrm>
          <a:prstGeom prst="ellipse">
            <a:avLst/>
          </a:prstGeom>
          <a:solidFill>
            <a:srgbClr val="C8D3DE"/>
          </a:solidFill>
          <a:ln w="0">
            <a:solidFill>
              <a:srgbClr val="C8D3DE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BFBF8E2-611D-4A30-B044-7E5C534824CD}"/>
              </a:ext>
            </a:extLst>
          </p:cNvPr>
          <p:cNvSpPr>
            <a:spLocks noGrp="1"/>
          </p:cNvSpPr>
          <p:nvPr/>
        </p:nvSpPr>
        <p:spPr>
          <a:xfrm>
            <a:off x="9620250" y="6134100"/>
            <a:ext cx="78486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>
                <a:solidFill>
                  <a:srgbClr val="263246"/>
                </a:solidFill>
              </a:defRPr>
            </a:pPr>
            <a:r>
              <a:rPr sz="2175">
                <a:solidFill>
                  <a:srgbClr val="263246"/>
                </a:solidFill>
              </a:rPr>
              <a:t>支持管理员进行模型训练、用户发起理赔概率预测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73E1A37E-B243-4E4E-BC0D-DA2932E257C1}"/>
              </a:ext>
            </a:extLst>
          </p:cNvPr>
          <p:cNvSpPr>
            <a:spLocks noGrp="1"/>
          </p:cNvSpPr>
          <p:nvPr/>
        </p:nvSpPr>
        <p:spPr>
          <a:xfrm>
            <a:off x="9372600" y="6591300"/>
            <a:ext cx="114300" cy="114300"/>
          </a:xfrm>
          <a:prstGeom prst="ellipse">
            <a:avLst/>
          </a:prstGeom>
          <a:solidFill>
            <a:srgbClr val="C8D3DE"/>
          </a:solidFill>
          <a:ln w="0">
            <a:solidFill>
              <a:srgbClr val="C8D3DE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B329B07-F120-4642-BF3E-A0064E974201}"/>
              </a:ext>
            </a:extLst>
          </p:cNvPr>
          <p:cNvSpPr>
            <a:spLocks noGrp="1"/>
          </p:cNvSpPr>
          <p:nvPr/>
        </p:nvSpPr>
        <p:spPr>
          <a:xfrm>
            <a:off x="9620250" y="6591300"/>
            <a:ext cx="78486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>
                <a:solidFill>
                  <a:srgbClr val="263246"/>
                </a:solidFill>
              </a:defRPr>
            </a:pPr>
            <a:r>
              <a:rPr sz="2175">
                <a:solidFill>
                  <a:srgbClr val="263246"/>
                </a:solidFill>
              </a:rPr>
              <a:t>将预测结果、风险等级、记录统计和局部解释展示给业务用户</a:t>
            </a:r>
          </a:p>
        </p:txBody>
      </p:sp>
    </p:spTree>
    <p:extLst>
      <p:ext uri="{BB962C8B-B14F-4D97-AF65-F5344CB8AC3E}">
        <p14:creationId xmlns:p14="http://schemas.microsoft.com/office/powerpoint/2010/main" val="833640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EC71318B-5F8C-403B-A736-DFC6C3C43162}"/>
              </a:ext>
            </a:extLst>
          </p:cNvPr>
          <p:cNvSpPr>
            <a:spLocks noGrp="1"/>
          </p:cNvSpPr>
          <p:nvPr/>
        </p:nvSpPr>
        <p:spPr>
          <a:xfrm>
            <a:off x="819150" y="609600"/>
            <a:ext cx="15868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20796E"/>
                </a:solidFill>
              </a:defRPr>
            </a:pPr>
            <a:r>
              <a:rPr sz="1650" b="1">
                <a:solidFill>
                  <a:srgbClr val="20796E"/>
                </a:solidFill>
              </a:rPr>
              <a:t>主要开发技术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251216D-5D30-4A5B-B6F0-8A78E88FCB5A}"/>
              </a:ext>
            </a:extLst>
          </p:cNvPr>
          <p:cNvSpPr>
            <a:spLocks noGrp="1"/>
          </p:cNvSpPr>
          <p:nvPr/>
        </p:nvSpPr>
        <p:spPr>
          <a:xfrm>
            <a:off x="819150" y="895350"/>
            <a:ext cx="992505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0D172A"/>
                </a:solidFill>
              </a:defRPr>
            </a:pPr>
            <a:r>
              <a:rPr sz="4350" b="1">
                <a:solidFill>
                  <a:srgbClr val="0D172A"/>
                </a:solidFill>
              </a:rPr>
              <a:t>系统技术栈：前后端分离 + 独立模型服务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31CC4E0-85E6-463D-B342-16279211FA3A}"/>
              </a:ext>
            </a:extLst>
          </p:cNvPr>
          <p:cNvSpPr>
            <a:spLocks noGrp="1"/>
          </p:cNvSpPr>
          <p:nvPr/>
        </p:nvSpPr>
        <p:spPr>
          <a:xfrm>
            <a:off x="16916400" y="914400"/>
            <a:ext cx="552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20796E"/>
                </a:solidFill>
              </a:defRPr>
            </a:pPr>
            <a:r>
              <a:rPr sz="1800" b="1">
                <a:solidFill>
                  <a:srgbClr val="20796E"/>
                </a:solidFill>
              </a:rPr>
              <a:t>05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324316E6-7152-4F24-BC31-CC4434479AD5}"/>
              </a:ext>
            </a:extLst>
          </p:cNvPr>
          <p:cNvSpPr>
            <a:spLocks noGrp="1"/>
          </p:cNvSpPr>
          <p:nvPr/>
        </p:nvSpPr>
        <p:spPr>
          <a:xfrm>
            <a:off x="819150" y="1771650"/>
            <a:ext cx="8324850" cy="3648075"/>
          </a:xfrm>
          <a:prstGeom prst="roundRect">
            <a:avLst>
              <a:gd name="adj" fmla="val 1567"/>
            </a:avLst>
          </a:prstGeom>
          <a:solidFill>
            <a:srgbClr val="E7F4F1"/>
          </a:solidFill>
          <a:ln w="9525">
            <a:solidFill>
              <a:srgbClr val="C8E3DC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C76F8DC-7961-4845-94E2-2A5C84D6E669}"/>
              </a:ext>
            </a:extLst>
          </p:cNvPr>
          <p:cNvSpPr>
            <a:spLocks noGrp="1"/>
          </p:cNvSpPr>
          <p:nvPr/>
        </p:nvSpPr>
        <p:spPr>
          <a:xfrm>
            <a:off x="1104900" y="2590800"/>
            <a:ext cx="666750" cy="76200"/>
          </a:xfrm>
          <a:prstGeom prst="rect">
            <a:avLst/>
          </a:prstGeom>
          <a:solidFill>
            <a:srgbClr val="20796E"/>
          </a:solidFill>
          <a:ln w="0">
            <a:solidFill>
              <a:srgbClr val="20796E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E309D41-4F62-4AC1-8FE4-7889645AA66B}"/>
              </a:ext>
            </a:extLst>
          </p:cNvPr>
          <p:cNvSpPr>
            <a:spLocks noGrp="1"/>
          </p:cNvSpPr>
          <p:nvPr/>
        </p:nvSpPr>
        <p:spPr>
          <a:xfrm>
            <a:off x="1085850" y="2838450"/>
            <a:ext cx="77914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前端表现层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83600718-1E21-40BD-8500-9F7BEC1A8A1B}"/>
              </a:ext>
            </a:extLst>
          </p:cNvPr>
          <p:cNvSpPr>
            <a:spLocks noGrp="1"/>
          </p:cNvSpPr>
          <p:nvPr/>
        </p:nvSpPr>
        <p:spPr>
          <a:xfrm>
            <a:off x="1085850" y="3333750"/>
            <a:ext cx="114300" cy="114300"/>
          </a:xfrm>
          <a:prstGeom prst="ellipse">
            <a:avLst/>
          </a:prstGeom>
          <a:solidFill>
            <a:srgbClr val="20796E"/>
          </a:solidFill>
          <a:ln w="0">
            <a:solidFill>
              <a:srgbClr val="20796E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1336016-C20B-44DF-9B09-033EEACD6F08}"/>
              </a:ext>
            </a:extLst>
          </p:cNvPr>
          <p:cNvSpPr>
            <a:spLocks noGrp="1"/>
          </p:cNvSpPr>
          <p:nvPr/>
        </p:nvSpPr>
        <p:spPr>
          <a:xfrm>
            <a:off x="1333500" y="3333750"/>
            <a:ext cx="7543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263246"/>
                </a:solidFill>
              </a:defRPr>
            </a:pPr>
            <a:r>
              <a:rPr sz="1800">
                <a:solidFill>
                  <a:srgbClr val="263246"/>
                </a:solidFill>
              </a:rPr>
              <a:t>Vue3 构建单页应用与路由视图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CB8237B0-0F2D-499B-B35A-09380B79FE87}"/>
              </a:ext>
            </a:extLst>
          </p:cNvPr>
          <p:cNvSpPr>
            <a:spLocks noGrp="1"/>
          </p:cNvSpPr>
          <p:nvPr/>
        </p:nvSpPr>
        <p:spPr>
          <a:xfrm>
            <a:off x="1085850" y="3676650"/>
            <a:ext cx="114300" cy="114300"/>
          </a:xfrm>
          <a:prstGeom prst="ellipse">
            <a:avLst/>
          </a:prstGeom>
          <a:solidFill>
            <a:srgbClr val="C8D3DE"/>
          </a:solidFill>
          <a:ln w="0">
            <a:solidFill>
              <a:srgbClr val="C8D3DE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A7A08D8-7B58-4AB9-B4C4-7566B5CB46DA}"/>
              </a:ext>
            </a:extLst>
          </p:cNvPr>
          <p:cNvSpPr>
            <a:spLocks noGrp="1"/>
          </p:cNvSpPr>
          <p:nvPr/>
        </p:nvSpPr>
        <p:spPr>
          <a:xfrm>
            <a:off x="1333500" y="3676650"/>
            <a:ext cx="7543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263246"/>
                </a:solidFill>
              </a:defRPr>
            </a:pPr>
            <a:r>
              <a:rPr sz="1800">
                <a:solidFill>
                  <a:srgbClr val="263246"/>
                </a:solidFill>
              </a:rPr>
              <a:t>Element Plus 支撑表格、表单和弹窗交互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DC40091-0AB3-4E58-80C7-A6FE32B3AEB0}"/>
              </a:ext>
            </a:extLst>
          </p:cNvPr>
          <p:cNvSpPr>
            <a:spLocks noGrp="1"/>
          </p:cNvSpPr>
          <p:nvPr/>
        </p:nvSpPr>
        <p:spPr>
          <a:xfrm>
            <a:off x="1085850" y="4019550"/>
            <a:ext cx="114300" cy="114300"/>
          </a:xfrm>
          <a:prstGeom prst="ellipse">
            <a:avLst/>
          </a:prstGeom>
          <a:solidFill>
            <a:srgbClr val="C8D3DE"/>
          </a:solidFill>
          <a:ln w="0">
            <a:solidFill>
              <a:srgbClr val="C8D3DE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DC94D91-DABD-44E5-8C22-1B1AD4C4F5F6}"/>
              </a:ext>
            </a:extLst>
          </p:cNvPr>
          <p:cNvSpPr>
            <a:spLocks noGrp="1"/>
          </p:cNvSpPr>
          <p:nvPr/>
        </p:nvSpPr>
        <p:spPr>
          <a:xfrm>
            <a:off x="1333500" y="4019550"/>
            <a:ext cx="7543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263246"/>
                </a:solidFill>
              </a:defRPr>
            </a:pPr>
            <a:r>
              <a:rPr sz="1800">
                <a:solidFill>
                  <a:srgbClr val="263246"/>
                </a:solidFill>
              </a:rPr>
              <a:t>ECharts 展示保单、理赔和预测统计图表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500447AE-C667-4B77-90F8-1054BAC76C0D}"/>
              </a:ext>
            </a:extLst>
          </p:cNvPr>
          <p:cNvSpPr>
            <a:spLocks noGrp="1"/>
          </p:cNvSpPr>
          <p:nvPr/>
        </p:nvSpPr>
        <p:spPr>
          <a:xfrm>
            <a:off x="1085850" y="4362450"/>
            <a:ext cx="114300" cy="114300"/>
          </a:xfrm>
          <a:prstGeom prst="ellipse">
            <a:avLst/>
          </a:prstGeom>
          <a:solidFill>
            <a:srgbClr val="C8D3DE"/>
          </a:solidFill>
          <a:ln w="0">
            <a:solidFill>
              <a:srgbClr val="C8D3DE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FC1DA20-CB6D-4DF2-9F9E-1CC0574565F7}"/>
              </a:ext>
            </a:extLst>
          </p:cNvPr>
          <p:cNvSpPr>
            <a:spLocks noGrp="1"/>
          </p:cNvSpPr>
          <p:nvPr/>
        </p:nvSpPr>
        <p:spPr>
          <a:xfrm>
            <a:off x="1333500" y="4362450"/>
            <a:ext cx="7543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263246"/>
                </a:solidFill>
              </a:defRPr>
            </a:pPr>
            <a:r>
              <a:rPr sz="1800">
                <a:solidFill>
                  <a:srgbClr val="263246"/>
                </a:solidFill>
              </a:rPr>
              <a:t>Axios 统一封装 HTTP 请求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309405E1-ABEA-4D40-A2BA-5BB1635AD751}"/>
              </a:ext>
            </a:extLst>
          </p:cNvPr>
          <p:cNvSpPr>
            <a:spLocks noGrp="1"/>
          </p:cNvSpPr>
          <p:nvPr/>
        </p:nvSpPr>
        <p:spPr>
          <a:xfrm>
            <a:off x="9144000" y="1771650"/>
            <a:ext cx="8324850" cy="3648075"/>
          </a:xfrm>
          <a:prstGeom prst="roundRect">
            <a:avLst>
              <a:gd name="adj" fmla="val 1567"/>
            </a:avLst>
          </a:prstGeom>
          <a:solidFill>
            <a:srgbClr val="EAF1FF"/>
          </a:solidFill>
          <a:ln w="9525">
            <a:solidFill>
              <a:srgbClr val="C9D8FF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074A89B-8DCE-46DC-82EB-D85F60D2C55F}"/>
              </a:ext>
            </a:extLst>
          </p:cNvPr>
          <p:cNvSpPr>
            <a:spLocks noGrp="1"/>
          </p:cNvSpPr>
          <p:nvPr/>
        </p:nvSpPr>
        <p:spPr>
          <a:xfrm>
            <a:off x="9410700" y="2590800"/>
            <a:ext cx="666750" cy="76200"/>
          </a:xfrm>
          <a:prstGeom prst="rect">
            <a:avLst/>
          </a:prstGeom>
          <a:solidFill>
            <a:srgbClr val="2765E8"/>
          </a:solidFill>
          <a:ln w="0">
            <a:solidFill>
              <a:srgbClr val="2765E8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4B4764D-1EFD-487E-9F94-12546E081A47}"/>
              </a:ext>
            </a:extLst>
          </p:cNvPr>
          <p:cNvSpPr>
            <a:spLocks noGrp="1"/>
          </p:cNvSpPr>
          <p:nvPr/>
        </p:nvSpPr>
        <p:spPr>
          <a:xfrm>
            <a:off x="9410700" y="2838450"/>
            <a:ext cx="77914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后端业务层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2225CD66-B2B2-42E7-A5BF-75C18FBD3DD2}"/>
              </a:ext>
            </a:extLst>
          </p:cNvPr>
          <p:cNvSpPr>
            <a:spLocks noGrp="1"/>
          </p:cNvSpPr>
          <p:nvPr/>
        </p:nvSpPr>
        <p:spPr>
          <a:xfrm>
            <a:off x="9410700" y="3333750"/>
            <a:ext cx="114300" cy="114300"/>
          </a:xfrm>
          <a:prstGeom prst="ellipse">
            <a:avLst/>
          </a:prstGeom>
          <a:solidFill>
            <a:srgbClr val="2765E8"/>
          </a:solidFill>
          <a:ln w="0">
            <a:solidFill>
              <a:srgbClr val="2765E8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780544E-80BA-4F85-93D1-BE7A62348F76}"/>
              </a:ext>
            </a:extLst>
          </p:cNvPr>
          <p:cNvSpPr>
            <a:spLocks noGrp="1"/>
          </p:cNvSpPr>
          <p:nvPr/>
        </p:nvSpPr>
        <p:spPr>
          <a:xfrm>
            <a:off x="9658350" y="3333750"/>
            <a:ext cx="7543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263246"/>
                </a:solidFill>
              </a:defRPr>
            </a:pPr>
            <a:r>
              <a:rPr sz="1800">
                <a:solidFill>
                  <a:srgbClr val="263246"/>
                </a:solidFill>
              </a:rPr>
              <a:t>Spring Boot 实现认证、CRUD、分页和统计接口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A774BA39-EDC4-4706-AD3A-5F2583709AF8}"/>
              </a:ext>
            </a:extLst>
          </p:cNvPr>
          <p:cNvSpPr>
            <a:spLocks noGrp="1"/>
          </p:cNvSpPr>
          <p:nvPr/>
        </p:nvSpPr>
        <p:spPr>
          <a:xfrm>
            <a:off x="9410700" y="3676650"/>
            <a:ext cx="114300" cy="114300"/>
          </a:xfrm>
          <a:prstGeom prst="ellipse">
            <a:avLst/>
          </a:prstGeom>
          <a:solidFill>
            <a:srgbClr val="C8D3DE"/>
          </a:solidFill>
          <a:ln w="0">
            <a:solidFill>
              <a:srgbClr val="C8D3DE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EA9D293-A052-43BD-A00C-7DEA2B8C9D54}"/>
              </a:ext>
            </a:extLst>
          </p:cNvPr>
          <p:cNvSpPr>
            <a:spLocks noGrp="1"/>
          </p:cNvSpPr>
          <p:nvPr/>
        </p:nvSpPr>
        <p:spPr>
          <a:xfrm>
            <a:off x="9658350" y="3676650"/>
            <a:ext cx="7543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263246"/>
                </a:solidFill>
              </a:defRPr>
            </a:pPr>
            <a:r>
              <a:rPr sz="1800">
                <a:solidFill>
                  <a:srgbClr val="263246"/>
                </a:solidFill>
              </a:rPr>
              <a:t>MyBatis 完成数据库访问与对象映射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2A70FDB1-CDA5-4761-917D-C253F231BB44}"/>
              </a:ext>
            </a:extLst>
          </p:cNvPr>
          <p:cNvSpPr>
            <a:spLocks noGrp="1"/>
          </p:cNvSpPr>
          <p:nvPr/>
        </p:nvSpPr>
        <p:spPr>
          <a:xfrm>
            <a:off x="9410700" y="4019550"/>
            <a:ext cx="114300" cy="114300"/>
          </a:xfrm>
          <a:prstGeom prst="ellipse">
            <a:avLst/>
          </a:prstGeom>
          <a:solidFill>
            <a:srgbClr val="C8D3DE"/>
          </a:solidFill>
          <a:ln w="0">
            <a:solidFill>
              <a:srgbClr val="C8D3DE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14FBB4A-3562-46FC-8544-8DCC3264D9CE}"/>
              </a:ext>
            </a:extLst>
          </p:cNvPr>
          <p:cNvSpPr>
            <a:spLocks noGrp="1"/>
          </p:cNvSpPr>
          <p:nvPr/>
        </p:nvSpPr>
        <p:spPr>
          <a:xfrm>
            <a:off x="9658350" y="4019550"/>
            <a:ext cx="7543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263246"/>
                </a:solidFill>
              </a:defRPr>
            </a:pPr>
            <a:r>
              <a:rPr sz="1800">
                <a:solidFill>
                  <a:srgbClr val="263246"/>
                </a:solidFill>
              </a:rPr>
              <a:t>REST API 连接前端页面和模型服务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C9D05839-91AD-4923-8018-3483AC5A24E6}"/>
              </a:ext>
            </a:extLst>
          </p:cNvPr>
          <p:cNvSpPr>
            <a:spLocks noGrp="1"/>
          </p:cNvSpPr>
          <p:nvPr/>
        </p:nvSpPr>
        <p:spPr>
          <a:xfrm>
            <a:off x="9410700" y="4362450"/>
            <a:ext cx="114300" cy="114300"/>
          </a:xfrm>
          <a:prstGeom prst="ellipse">
            <a:avLst/>
          </a:prstGeom>
          <a:solidFill>
            <a:srgbClr val="C8D3DE"/>
          </a:solidFill>
          <a:ln w="0">
            <a:solidFill>
              <a:srgbClr val="C8D3DE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5C4539C-3AEE-44C7-ADB1-9BA1B4D64440}"/>
              </a:ext>
            </a:extLst>
          </p:cNvPr>
          <p:cNvSpPr>
            <a:spLocks noGrp="1"/>
          </p:cNvSpPr>
          <p:nvPr/>
        </p:nvSpPr>
        <p:spPr>
          <a:xfrm>
            <a:off x="9658350" y="4362450"/>
            <a:ext cx="7543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263246"/>
                </a:solidFill>
              </a:defRPr>
            </a:pPr>
            <a:r>
              <a:rPr sz="1800">
                <a:solidFill>
                  <a:srgbClr val="263246"/>
                </a:solidFill>
              </a:rPr>
              <a:t>统一响应结构与异常处理降低前端适配成本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56316A2C-1044-4038-8C4C-2B02E2C1DFA0}"/>
              </a:ext>
            </a:extLst>
          </p:cNvPr>
          <p:cNvSpPr>
            <a:spLocks noGrp="1"/>
          </p:cNvSpPr>
          <p:nvPr/>
        </p:nvSpPr>
        <p:spPr>
          <a:xfrm>
            <a:off x="819150" y="5419725"/>
            <a:ext cx="8324850" cy="3648075"/>
          </a:xfrm>
          <a:prstGeom prst="roundRect">
            <a:avLst>
              <a:gd name="adj" fmla="val 1567"/>
            </a:avLst>
          </a:prstGeom>
          <a:solidFill>
            <a:srgbClr val="E9F7EF"/>
          </a:solidFill>
          <a:ln w="9525">
            <a:solidFill>
              <a:srgbClr val="CDECD8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FB666EA-478E-4A6F-932D-1E33CD4BB03E}"/>
              </a:ext>
            </a:extLst>
          </p:cNvPr>
          <p:cNvSpPr>
            <a:spLocks noGrp="1"/>
          </p:cNvSpPr>
          <p:nvPr/>
        </p:nvSpPr>
        <p:spPr>
          <a:xfrm>
            <a:off x="1104900" y="6438900"/>
            <a:ext cx="666750" cy="76200"/>
          </a:xfrm>
          <a:prstGeom prst="rect">
            <a:avLst/>
          </a:prstGeom>
          <a:solidFill>
            <a:srgbClr val="24A064"/>
          </a:solidFill>
          <a:ln w="0">
            <a:solidFill>
              <a:srgbClr val="24A064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3818A17-586F-45A0-A426-B7C3776A30C8}"/>
              </a:ext>
            </a:extLst>
          </p:cNvPr>
          <p:cNvSpPr>
            <a:spLocks noGrp="1"/>
          </p:cNvSpPr>
          <p:nvPr/>
        </p:nvSpPr>
        <p:spPr>
          <a:xfrm>
            <a:off x="1085850" y="6648450"/>
            <a:ext cx="77914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数据持久层</a:t>
            </a: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1862077C-F5DA-4170-9274-82D6B9B20495}"/>
              </a:ext>
            </a:extLst>
          </p:cNvPr>
          <p:cNvSpPr>
            <a:spLocks noGrp="1"/>
          </p:cNvSpPr>
          <p:nvPr/>
        </p:nvSpPr>
        <p:spPr>
          <a:xfrm>
            <a:off x="1085850" y="7143750"/>
            <a:ext cx="114300" cy="114300"/>
          </a:xfrm>
          <a:prstGeom prst="ellipse">
            <a:avLst/>
          </a:prstGeom>
          <a:solidFill>
            <a:srgbClr val="24A064"/>
          </a:solidFill>
          <a:ln w="0">
            <a:solidFill>
              <a:srgbClr val="24A064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756D4E0-3EBB-4FA3-B6D1-9AA9346DA13A}"/>
              </a:ext>
            </a:extLst>
          </p:cNvPr>
          <p:cNvSpPr>
            <a:spLocks noGrp="1"/>
          </p:cNvSpPr>
          <p:nvPr/>
        </p:nvSpPr>
        <p:spPr>
          <a:xfrm>
            <a:off x="1333500" y="7143750"/>
            <a:ext cx="7543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263246"/>
                </a:solidFill>
              </a:defRPr>
            </a:pPr>
            <a:r>
              <a:rPr sz="1800">
                <a:solidFill>
                  <a:srgbClr val="263246"/>
                </a:solidFill>
              </a:rPr>
              <a:t>MySQL 保存用户、保单、理赔、车辆等业务表</a:t>
            </a: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545601B7-5D83-456B-BFBB-B8E292019816}"/>
              </a:ext>
            </a:extLst>
          </p:cNvPr>
          <p:cNvSpPr>
            <a:spLocks noGrp="1"/>
          </p:cNvSpPr>
          <p:nvPr/>
        </p:nvSpPr>
        <p:spPr>
          <a:xfrm>
            <a:off x="1085850" y="7486650"/>
            <a:ext cx="114300" cy="114300"/>
          </a:xfrm>
          <a:prstGeom prst="ellipse">
            <a:avLst/>
          </a:prstGeom>
          <a:solidFill>
            <a:srgbClr val="C8D3DE"/>
          </a:solidFill>
          <a:ln w="0">
            <a:solidFill>
              <a:srgbClr val="C8D3DE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E0EC003-717D-464D-91ED-99E51DEA4BB5}"/>
              </a:ext>
            </a:extLst>
          </p:cNvPr>
          <p:cNvSpPr>
            <a:spLocks noGrp="1"/>
          </p:cNvSpPr>
          <p:nvPr/>
        </p:nvSpPr>
        <p:spPr>
          <a:xfrm>
            <a:off x="1333500" y="7486650"/>
            <a:ext cx="7543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263246"/>
                </a:solidFill>
              </a:defRPr>
            </a:pPr>
            <a:r>
              <a:rPr sz="1800">
                <a:solidFill>
                  <a:srgbClr val="263246"/>
                </a:solidFill>
              </a:rPr>
              <a:t>预测记录表追踪概率、标签和风险等级</a:t>
            </a: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DC2A2459-1B52-4FFD-95F9-A23D9CD4D41E}"/>
              </a:ext>
            </a:extLst>
          </p:cNvPr>
          <p:cNvSpPr>
            <a:spLocks noGrp="1"/>
          </p:cNvSpPr>
          <p:nvPr/>
        </p:nvSpPr>
        <p:spPr>
          <a:xfrm>
            <a:off x="1085850" y="7829550"/>
            <a:ext cx="114300" cy="114300"/>
          </a:xfrm>
          <a:prstGeom prst="ellipse">
            <a:avLst/>
          </a:prstGeom>
          <a:solidFill>
            <a:srgbClr val="C8D3DE"/>
          </a:solidFill>
          <a:ln w="0">
            <a:solidFill>
              <a:srgbClr val="C8D3DE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1335466-AE28-4E9E-963F-364B4FBB0C9C}"/>
              </a:ext>
            </a:extLst>
          </p:cNvPr>
          <p:cNvSpPr>
            <a:spLocks noGrp="1"/>
          </p:cNvSpPr>
          <p:nvPr/>
        </p:nvSpPr>
        <p:spPr>
          <a:xfrm>
            <a:off x="1333500" y="7829550"/>
            <a:ext cx="7543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263246"/>
                </a:solidFill>
              </a:defRPr>
            </a:pPr>
            <a:r>
              <a:rPr sz="1800">
                <a:solidFill>
                  <a:srgbClr val="263246"/>
                </a:solidFill>
              </a:rPr>
              <a:t>业务查询、统计分析与历史结果复盘共享同一数据源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B5C445A0-ECEA-414B-AAEA-FD809510FB5C}"/>
              </a:ext>
            </a:extLst>
          </p:cNvPr>
          <p:cNvSpPr>
            <a:spLocks noGrp="1"/>
          </p:cNvSpPr>
          <p:nvPr/>
        </p:nvSpPr>
        <p:spPr>
          <a:xfrm>
            <a:off x="9144000" y="5419725"/>
            <a:ext cx="8324850" cy="3648075"/>
          </a:xfrm>
          <a:prstGeom prst="roundRect">
            <a:avLst>
              <a:gd name="adj" fmla="val 1567"/>
            </a:avLst>
          </a:prstGeom>
          <a:solidFill>
            <a:srgbClr val="FDEDEA"/>
          </a:solidFill>
          <a:ln w="9525">
            <a:solidFill>
              <a:srgbClr val="F5CBC5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577D2FA-5CED-41ED-882E-0ED3F454472B}"/>
              </a:ext>
            </a:extLst>
          </p:cNvPr>
          <p:cNvSpPr>
            <a:spLocks noGrp="1"/>
          </p:cNvSpPr>
          <p:nvPr/>
        </p:nvSpPr>
        <p:spPr>
          <a:xfrm>
            <a:off x="9410700" y="6248400"/>
            <a:ext cx="666750" cy="76200"/>
          </a:xfrm>
          <a:prstGeom prst="rect">
            <a:avLst/>
          </a:prstGeom>
          <a:solidFill>
            <a:srgbClr val="E15A4F"/>
          </a:solidFill>
          <a:ln w="0">
            <a:solidFill>
              <a:srgbClr val="E15A4F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9DA05C9-B6F9-470B-8673-63FF2205ADB0}"/>
              </a:ext>
            </a:extLst>
          </p:cNvPr>
          <p:cNvSpPr>
            <a:spLocks noGrp="1"/>
          </p:cNvSpPr>
          <p:nvPr/>
        </p:nvSpPr>
        <p:spPr>
          <a:xfrm>
            <a:off x="9410700" y="6477000"/>
            <a:ext cx="77914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智能预测层</a:t>
            </a:r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2A64E063-E171-4594-BE98-EF499A952966}"/>
              </a:ext>
            </a:extLst>
          </p:cNvPr>
          <p:cNvSpPr>
            <a:spLocks noGrp="1"/>
          </p:cNvSpPr>
          <p:nvPr/>
        </p:nvSpPr>
        <p:spPr>
          <a:xfrm>
            <a:off x="9410700" y="6972300"/>
            <a:ext cx="114300" cy="114300"/>
          </a:xfrm>
          <a:prstGeom prst="ellipse">
            <a:avLst/>
          </a:prstGeom>
          <a:solidFill>
            <a:srgbClr val="E15A4F"/>
          </a:solidFill>
          <a:ln w="0">
            <a:solidFill>
              <a:srgbClr val="E15A4F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BE7C4E9A-0465-4AC9-A487-45A8801AA6CA}"/>
              </a:ext>
            </a:extLst>
          </p:cNvPr>
          <p:cNvSpPr>
            <a:spLocks noGrp="1"/>
          </p:cNvSpPr>
          <p:nvPr/>
        </p:nvSpPr>
        <p:spPr>
          <a:xfrm>
            <a:off x="9658350" y="6972300"/>
            <a:ext cx="7543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263246"/>
                </a:solidFill>
              </a:defRPr>
            </a:pPr>
            <a:r>
              <a:rPr sz="1800">
                <a:solidFill>
                  <a:srgbClr val="263246"/>
                </a:solidFill>
              </a:rPr>
              <a:t>PyTorch 构建残差式 MLP 二分类模型</a:t>
            </a:r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8F786FCB-787B-41AE-A3C1-A0F70B6FECE7}"/>
              </a:ext>
            </a:extLst>
          </p:cNvPr>
          <p:cNvSpPr>
            <a:spLocks noGrp="1"/>
          </p:cNvSpPr>
          <p:nvPr/>
        </p:nvSpPr>
        <p:spPr>
          <a:xfrm>
            <a:off x="9410700" y="7315200"/>
            <a:ext cx="114300" cy="114300"/>
          </a:xfrm>
          <a:prstGeom prst="ellipse">
            <a:avLst/>
          </a:prstGeom>
          <a:solidFill>
            <a:srgbClr val="C8D3DE"/>
          </a:solidFill>
          <a:ln w="0">
            <a:solidFill>
              <a:srgbClr val="C8D3DE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2EE78DB-7682-435C-8278-35BF8E70B659}"/>
              </a:ext>
            </a:extLst>
          </p:cNvPr>
          <p:cNvSpPr>
            <a:spLocks noGrp="1"/>
          </p:cNvSpPr>
          <p:nvPr/>
        </p:nvSpPr>
        <p:spPr>
          <a:xfrm>
            <a:off x="9658350" y="7315200"/>
            <a:ext cx="7543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263246"/>
                </a:solidFill>
              </a:defRPr>
            </a:pPr>
            <a:r>
              <a:rPr sz="1800">
                <a:solidFill>
                  <a:srgbClr val="263246"/>
                </a:solidFill>
              </a:rPr>
              <a:t>scikit-learn 完成标准化、数据划分和指标评估</a:t>
            </a:r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347A4203-4F80-44B0-ABEF-D076EFBCE3D2}"/>
              </a:ext>
            </a:extLst>
          </p:cNvPr>
          <p:cNvSpPr>
            <a:spLocks noGrp="1"/>
          </p:cNvSpPr>
          <p:nvPr/>
        </p:nvSpPr>
        <p:spPr>
          <a:xfrm>
            <a:off x="9410700" y="7658100"/>
            <a:ext cx="114300" cy="114300"/>
          </a:xfrm>
          <a:prstGeom prst="ellipse">
            <a:avLst/>
          </a:prstGeom>
          <a:solidFill>
            <a:srgbClr val="C8D3DE"/>
          </a:solidFill>
          <a:ln w="0">
            <a:solidFill>
              <a:srgbClr val="C8D3DE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54FF57A5-2F2A-4BEC-BE78-D5E56317C80C}"/>
              </a:ext>
            </a:extLst>
          </p:cNvPr>
          <p:cNvSpPr>
            <a:spLocks noGrp="1"/>
          </p:cNvSpPr>
          <p:nvPr/>
        </p:nvSpPr>
        <p:spPr>
          <a:xfrm>
            <a:off x="9658350" y="7658100"/>
            <a:ext cx="7543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263246"/>
                </a:solidFill>
              </a:defRPr>
            </a:pPr>
            <a:r>
              <a:rPr sz="1800">
                <a:solidFill>
                  <a:srgbClr val="263246"/>
                </a:solidFill>
              </a:rPr>
              <a:t>FastAPI 对外提供模型加载和在线预测接口</a:t>
            </a:r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57FC485E-C03F-44C1-B246-793940778B3D}"/>
              </a:ext>
            </a:extLst>
          </p:cNvPr>
          <p:cNvSpPr>
            <a:spLocks noGrp="1"/>
          </p:cNvSpPr>
          <p:nvPr/>
        </p:nvSpPr>
        <p:spPr>
          <a:xfrm>
            <a:off x="9410700" y="8001000"/>
            <a:ext cx="114300" cy="114300"/>
          </a:xfrm>
          <a:prstGeom prst="ellipse">
            <a:avLst/>
          </a:prstGeom>
          <a:solidFill>
            <a:srgbClr val="C8D3DE"/>
          </a:solidFill>
          <a:ln w="0">
            <a:solidFill>
              <a:srgbClr val="C8D3DE"/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BF985AF5-4D85-456E-9DBC-5B705A04A6F4}"/>
              </a:ext>
            </a:extLst>
          </p:cNvPr>
          <p:cNvSpPr>
            <a:spLocks noGrp="1"/>
          </p:cNvSpPr>
          <p:nvPr/>
        </p:nvSpPr>
        <p:spPr>
          <a:xfrm>
            <a:off x="9658350" y="8001000"/>
            <a:ext cx="7543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263246"/>
                </a:solidFill>
              </a:defRPr>
            </a:pPr>
            <a:r>
              <a:rPr sz="1800">
                <a:solidFill>
                  <a:srgbClr val="263246"/>
                </a:solidFill>
              </a:rPr>
              <a:t>模型产物与业务系统通过 JSON 解耦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F62167E-2F4F-4104-8B92-54E7AA35D23E}"/>
              </a:ext>
            </a:extLst>
          </p:cNvPr>
          <p:cNvSpPr>
            <a:spLocks noGrp="1"/>
          </p:cNvSpPr>
          <p:nvPr/>
        </p:nvSpPr>
        <p:spPr>
          <a:xfrm>
            <a:off x="819150" y="9391650"/>
            <a:ext cx="166497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20796E"/>
                </a:solidFill>
              </a:defRPr>
            </a:pPr>
            <a:r>
              <a:rPr sz="2250" b="1">
                <a:solidFill>
                  <a:srgbClr val="20796E"/>
                </a:solidFill>
              </a:rPr>
              <a:t>设计思路：业务系统负责数据管理与流程控制，模型服务负责训练产物加载和在线推理，两者通过 JSON 接口解耦。</a:t>
            </a:r>
          </a:p>
        </p:txBody>
      </p:sp>
    </p:spTree>
    <p:extLst>
      <p:ext uri="{BB962C8B-B14F-4D97-AF65-F5344CB8AC3E}">
        <p14:creationId xmlns:p14="http://schemas.microsoft.com/office/powerpoint/2010/main" val="968948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20D5263C-95BE-4D95-AFC6-8A7E8209D87A}"/>
              </a:ext>
            </a:extLst>
          </p:cNvPr>
          <p:cNvSpPr>
            <a:spLocks noGrp="1"/>
          </p:cNvSpPr>
          <p:nvPr/>
        </p:nvSpPr>
        <p:spPr>
          <a:xfrm>
            <a:off x="819150" y="609600"/>
            <a:ext cx="15868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20796E"/>
                </a:solidFill>
              </a:defRPr>
            </a:pPr>
            <a:r>
              <a:rPr sz="1650" b="1">
                <a:solidFill>
                  <a:srgbClr val="20796E"/>
                </a:solidFill>
              </a:rPr>
              <a:t>系统分析与设计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3ADBAB4-02AE-40FA-84EA-E322089D6FF2}"/>
              </a:ext>
            </a:extLst>
          </p:cNvPr>
          <p:cNvSpPr>
            <a:spLocks noGrp="1"/>
          </p:cNvSpPr>
          <p:nvPr/>
        </p:nvSpPr>
        <p:spPr>
          <a:xfrm>
            <a:off x="819150" y="895350"/>
            <a:ext cx="99441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0D172A"/>
                </a:solidFill>
              </a:defRPr>
            </a:pPr>
            <a:r>
              <a:rPr sz="4350" b="1">
                <a:solidFill>
                  <a:srgbClr val="0D172A"/>
                </a:solidFill>
              </a:rPr>
              <a:t>系统架构：业务系统与智能预测服务解耦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F3B8E75-80A5-45C5-A4B2-70B12B25A2D1}"/>
              </a:ext>
            </a:extLst>
          </p:cNvPr>
          <p:cNvSpPr>
            <a:spLocks noGrp="1"/>
          </p:cNvSpPr>
          <p:nvPr/>
        </p:nvSpPr>
        <p:spPr>
          <a:xfrm>
            <a:off x="16916400" y="914400"/>
            <a:ext cx="552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20796E"/>
                </a:solidFill>
              </a:defRPr>
            </a:pPr>
            <a:r>
              <a:rPr sz="1800" b="1">
                <a:solidFill>
                  <a:srgbClr val="20796E"/>
                </a:solidFill>
              </a:rPr>
              <a:t>06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366216FC-78F1-42E1-A012-2DE407F62FA0}"/>
              </a:ext>
            </a:extLst>
          </p:cNvPr>
          <p:cNvSpPr>
            <a:spLocks noGrp="1"/>
          </p:cNvSpPr>
          <p:nvPr/>
        </p:nvSpPr>
        <p:spPr>
          <a:xfrm>
            <a:off x="819150" y="1771650"/>
            <a:ext cx="9343549" cy="7905750"/>
          </a:xfrm>
          <a:prstGeom prst="roundRect">
            <a:avLst>
              <a:gd name="adj" fmla="val 723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69707" y="1924050"/>
            <a:ext cx="6842435" cy="760095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5CE110A-BA02-4CC7-BA7E-3ADB6DB170EF}"/>
              </a:ext>
            </a:extLst>
          </p:cNvPr>
          <p:cNvSpPr>
            <a:spLocks noGrp="1"/>
          </p:cNvSpPr>
          <p:nvPr/>
        </p:nvSpPr>
        <p:spPr>
          <a:xfrm>
            <a:off x="10553700" y="3505200"/>
            <a:ext cx="609600" cy="76200"/>
          </a:xfrm>
          <a:prstGeom prst="rect">
            <a:avLst/>
          </a:prstGeom>
          <a:solidFill>
            <a:srgbClr val="20796E"/>
          </a:solidFill>
          <a:ln w="0">
            <a:solidFill>
              <a:srgbClr val="20796E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56F35B6-FF85-4F95-9F6D-8A949A5CB600}"/>
              </a:ext>
            </a:extLst>
          </p:cNvPr>
          <p:cNvSpPr>
            <a:spLocks noGrp="1"/>
          </p:cNvSpPr>
          <p:nvPr/>
        </p:nvSpPr>
        <p:spPr>
          <a:xfrm>
            <a:off x="10553700" y="3714750"/>
            <a:ext cx="69151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表现层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C00671D-B812-4D25-BD23-B1A8B7B553B9}"/>
              </a:ext>
            </a:extLst>
          </p:cNvPr>
          <p:cNvSpPr>
            <a:spLocks noGrp="1"/>
          </p:cNvSpPr>
          <p:nvPr/>
        </p:nvSpPr>
        <p:spPr>
          <a:xfrm>
            <a:off x="10553700" y="4133850"/>
            <a:ext cx="69151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596A80"/>
                </a:solidFill>
              </a:defRPr>
            </a:pPr>
            <a:r>
              <a:rPr sz="1875">
                <a:solidFill>
                  <a:srgbClr val="596A80"/>
                </a:solidFill>
              </a:rPr>
              <a:t>浏览器端完成业务操作、数据展示和统计图表交互。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23B29B6-5DFC-496A-B056-AC24D30432F6}"/>
              </a:ext>
            </a:extLst>
          </p:cNvPr>
          <p:cNvSpPr>
            <a:spLocks noGrp="1"/>
          </p:cNvSpPr>
          <p:nvPr/>
        </p:nvSpPr>
        <p:spPr>
          <a:xfrm>
            <a:off x="10553700" y="4610100"/>
            <a:ext cx="609600" cy="76200"/>
          </a:xfrm>
          <a:prstGeom prst="rect">
            <a:avLst/>
          </a:prstGeom>
          <a:solidFill>
            <a:srgbClr val="2765E8"/>
          </a:solidFill>
          <a:ln w="0">
            <a:solidFill>
              <a:srgbClr val="2765E8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79A1375-2A7D-4A89-8DA4-4B86397A7AB6}"/>
              </a:ext>
            </a:extLst>
          </p:cNvPr>
          <p:cNvSpPr>
            <a:spLocks noGrp="1"/>
          </p:cNvSpPr>
          <p:nvPr/>
        </p:nvSpPr>
        <p:spPr>
          <a:xfrm>
            <a:off x="10553700" y="4819650"/>
            <a:ext cx="69151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业务层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633F744-B00C-4973-8B5B-E7EFD6A4CBA7}"/>
              </a:ext>
            </a:extLst>
          </p:cNvPr>
          <p:cNvSpPr>
            <a:spLocks noGrp="1"/>
          </p:cNvSpPr>
          <p:nvPr/>
        </p:nvSpPr>
        <p:spPr>
          <a:xfrm>
            <a:off x="10553700" y="5238750"/>
            <a:ext cx="69151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596A80"/>
                </a:solidFill>
              </a:defRPr>
            </a:pPr>
            <a:r>
              <a:rPr sz="1875">
                <a:solidFill>
                  <a:srgbClr val="596A80"/>
                </a:solidFill>
              </a:rPr>
              <a:t>Spring Boot 处理认证、CRUD、分页查询、统计分析和文件管理。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A616BA7-0F01-4DD1-9AD3-62FE7A089E12}"/>
              </a:ext>
            </a:extLst>
          </p:cNvPr>
          <p:cNvSpPr>
            <a:spLocks noGrp="1"/>
          </p:cNvSpPr>
          <p:nvPr/>
        </p:nvSpPr>
        <p:spPr>
          <a:xfrm>
            <a:off x="10553700" y="5715000"/>
            <a:ext cx="609600" cy="76200"/>
          </a:xfrm>
          <a:prstGeom prst="rect">
            <a:avLst/>
          </a:prstGeom>
          <a:solidFill>
            <a:srgbClr val="E15A4F"/>
          </a:solidFill>
          <a:ln w="0">
            <a:solidFill>
              <a:srgbClr val="E15A4F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E615CE2-5D0D-4CC6-85AF-7E815200CB38}"/>
              </a:ext>
            </a:extLst>
          </p:cNvPr>
          <p:cNvSpPr>
            <a:spLocks noGrp="1"/>
          </p:cNvSpPr>
          <p:nvPr/>
        </p:nvSpPr>
        <p:spPr>
          <a:xfrm>
            <a:off x="10553700" y="5924550"/>
            <a:ext cx="69151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预测层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458B475-3264-483B-8DEC-44519846E0BD}"/>
              </a:ext>
            </a:extLst>
          </p:cNvPr>
          <p:cNvSpPr>
            <a:spLocks noGrp="1"/>
          </p:cNvSpPr>
          <p:nvPr/>
        </p:nvSpPr>
        <p:spPr>
          <a:xfrm>
            <a:off x="10553700" y="6343650"/>
            <a:ext cx="6915150" cy="476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596A80"/>
                </a:solidFill>
              </a:defRPr>
            </a:pPr>
            <a:r>
              <a:rPr sz="1875">
                <a:solidFill>
                  <a:srgbClr val="596A80"/>
                </a:solidFill>
              </a:rPr>
              <a:t>FastAPI 封装训练好的 PyTorch 模型，提供理赔概率、风险等级与解释结果。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49B20BD-DED7-4AC7-9197-A6A113F67F2F}"/>
              </a:ext>
            </a:extLst>
          </p:cNvPr>
          <p:cNvSpPr>
            <a:spLocks noGrp="1"/>
          </p:cNvSpPr>
          <p:nvPr/>
        </p:nvSpPr>
        <p:spPr>
          <a:xfrm>
            <a:off x="10553700" y="7086600"/>
            <a:ext cx="609600" cy="76200"/>
          </a:xfrm>
          <a:prstGeom prst="rect">
            <a:avLst/>
          </a:prstGeom>
          <a:solidFill>
            <a:srgbClr val="D88312"/>
          </a:solidFill>
          <a:ln w="0">
            <a:solidFill>
              <a:srgbClr val="D88312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2DEE325-71A2-4067-A5B5-D84F84F721BE}"/>
              </a:ext>
            </a:extLst>
          </p:cNvPr>
          <p:cNvSpPr>
            <a:spLocks noGrp="1"/>
          </p:cNvSpPr>
          <p:nvPr/>
        </p:nvSpPr>
        <p:spPr>
          <a:xfrm>
            <a:off x="10553700" y="7258050"/>
            <a:ext cx="69151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数据层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AC90C36-4C71-4CD4-AE62-79811CF80F39}"/>
              </a:ext>
            </a:extLst>
          </p:cNvPr>
          <p:cNvSpPr>
            <a:spLocks noGrp="1"/>
          </p:cNvSpPr>
          <p:nvPr/>
        </p:nvSpPr>
        <p:spPr>
          <a:xfrm>
            <a:off x="10553700" y="7696200"/>
            <a:ext cx="69151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596A80"/>
                </a:solidFill>
              </a:defRPr>
            </a:pPr>
            <a:r>
              <a:rPr sz="1875">
                <a:solidFill>
                  <a:srgbClr val="596A80"/>
                </a:solidFill>
              </a:rPr>
              <a:t>MySQL 统一保存用户、保单、理赔、车辆、预测记录等核心表。</a:t>
            </a:r>
          </a:p>
        </p:txBody>
      </p:sp>
    </p:spTree>
    <p:extLst>
      <p:ext uri="{BB962C8B-B14F-4D97-AF65-F5344CB8AC3E}">
        <p14:creationId xmlns:p14="http://schemas.microsoft.com/office/powerpoint/2010/main" val="910876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9E788B58-E5E8-48D5-A576-8E41A5E6BF81}"/>
              </a:ext>
            </a:extLst>
          </p:cNvPr>
          <p:cNvSpPr>
            <a:spLocks noGrp="1"/>
          </p:cNvSpPr>
          <p:nvPr/>
        </p:nvSpPr>
        <p:spPr>
          <a:xfrm>
            <a:off x="819150" y="609600"/>
            <a:ext cx="15868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20796E"/>
                </a:solidFill>
              </a:defRPr>
            </a:pPr>
            <a:r>
              <a:rPr sz="1650" b="1">
                <a:solidFill>
                  <a:srgbClr val="20796E"/>
                </a:solidFill>
              </a:rPr>
              <a:t>需求分析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CA5286-E01B-4CD1-B9C2-017552273A54}"/>
              </a:ext>
            </a:extLst>
          </p:cNvPr>
          <p:cNvSpPr>
            <a:spLocks noGrp="1"/>
          </p:cNvSpPr>
          <p:nvPr/>
        </p:nvSpPr>
        <p:spPr>
          <a:xfrm>
            <a:off x="819150" y="895350"/>
            <a:ext cx="132588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0D172A"/>
                </a:solidFill>
              </a:defRPr>
            </a:pPr>
            <a:r>
              <a:rPr sz="4350" b="1">
                <a:solidFill>
                  <a:srgbClr val="0D172A"/>
                </a:solidFill>
              </a:rPr>
              <a:t>功能设计：围绕业务管理、可视化分析与理赔预测展开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74ABC86-CCA7-422F-9FDB-9FCDEB7973C6}"/>
              </a:ext>
            </a:extLst>
          </p:cNvPr>
          <p:cNvSpPr>
            <a:spLocks noGrp="1"/>
          </p:cNvSpPr>
          <p:nvPr/>
        </p:nvSpPr>
        <p:spPr>
          <a:xfrm>
            <a:off x="16916400" y="914400"/>
            <a:ext cx="552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20796E"/>
                </a:solidFill>
              </a:defRPr>
            </a:pPr>
            <a:r>
              <a:rPr sz="1800" b="1">
                <a:solidFill>
                  <a:srgbClr val="20796E"/>
                </a:solidFill>
              </a:rPr>
              <a:t>07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416715F5-13FC-4A63-8909-330AE81D3AA0}"/>
              </a:ext>
            </a:extLst>
          </p:cNvPr>
          <p:cNvSpPr>
            <a:spLocks noGrp="1"/>
          </p:cNvSpPr>
          <p:nvPr/>
        </p:nvSpPr>
        <p:spPr>
          <a:xfrm>
            <a:off x="819150" y="1771650"/>
            <a:ext cx="7149846" cy="7905750"/>
          </a:xfrm>
          <a:prstGeom prst="roundRect">
            <a:avLst>
              <a:gd name="adj" fmla="val 799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0600" y="3589139"/>
            <a:ext cx="6806946" cy="4270772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5365DD2B-C1C8-47B8-8DF9-96B28BCE0068}"/>
              </a:ext>
            </a:extLst>
          </p:cNvPr>
          <p:cNvSpPr>
            <a:spLocks noGrp="1"/>
          </p:cNvSpPr>
          <p:nvPr/>
        </p:nvSpPr>
        <p:spPr>
          <a:xfrm>
            <a:off x="8369046" y="1771650"/>
            <a:ext cx="9099804" cy="2635250"/>
          </a:xfrm>
          <a:prstGeom prst="roundRect">
            <a:avLst>
              <a:gd name="adj" fmla="val 2169"/>
            </a:avLst>
          </a:prstGeom>
          <a:solidFill>
            <a:srgbClr val="E7F4F1"/>
          </a:solidFill>
          <a:ln w="9525">
            <a:solidFill>
              <a:srgbClr val="C8E3DC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FCF6BDF-FC88-4F2C-B95E-1ED80149B782}"/>
              </a:ext>
            </a:extLst>
          </p:cNvPr>
          <p:cNvSpPr>
            <a:spLocks noGrp="1"/>
          </p:cNvSpPr>
          <p:nvPr/>
        </p:nvSpPr>
        <p:spPr>
          <a:xfrm>
            <a:off x="8648700" y="2057400"/>
            <a:ext cx="609600" cy="76200"/>
          </a:xfrm>
          <a:prstGeom prst="rect">
            <a:avLst/>
          </a:prstGeom>
          <a:solidFill>
            <a:srgbClr val="20796E"/>
          </a:solidFill>
          <a:ln w="0">
            <a:solidFill>
              <a:srgbClr val="20796E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2F812B0-5042-47E3-A437-4DC28A0EE00F}"/>
              </a:ext>
            </a:extLst>
          </p:cNvPr>
          <p:cNvSpPr>
            <a:spLocks noGrp="1"/>
          </p:cNvSpPr>
          <p:nvPr/>
        </p:nvSpPr>
        <p:spPr>
          <a:xfrm>
            <a:off x="8629650" y="2228850"/>
            <a:ext cx="85725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业务管理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69380C2-7EF3-41E1-BC3C-5C0FCF82AAF4}"/>
              </a:ext>
            </a:extLst>
          </p:cNvPr>
          <p:cNvSpPr>
            <a:spLocks noGrp="1"/>
          </p:cNvSpPr>
          <p:nvPr/>
        </p:nvSpPr>
        <p:spPr>
          <a:xfrm>
            <a:off x="8629650" y="2667000"/>
            <a:ext cx="85725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596A80"/>
                </a:solidFill>
              </a:defRPr>
            </a:pPr>
            <a:r>
              <a:rPr sz="1875">
                <a:solidFill>
                  <a:srgbClr val="596A80"/>
                </a:solidFill>
              </a:rPr>
              <a:t>用户认证、用户管理、保单信息、理赔记录、车辆信息等基础数据维护。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E59A2AB-FA55-4EAD-BE7F-51629A2ECFC4}"/>
              </a:ext>
            </a:extLst>
          </p:cNvPr>
          <p:cNvSpPr>
            <a:spLocks noGrp="1"/>
          </p:cNvSpPr>
          <p:nvPr/>
        </p:nvSpPr>
        <p:spPr>
          <a:xfrm>
            <a:off x="8369046" y="4406900"/>
            <a:ext cx="9099804" cy="2635250"/>
          </a:xfrm>
          <a:prstGeom prst="roundRect">
            <a:avLst>
              <a:gd name="adj" fmla="val 2169"/>
            </a:avLst>
          </a:prstGeom>
          <a:solidFill>
            <a:srgbClr val="EAF1FF"/>
          </a:solidFill>
          <a:ln w="9525">
            <a:solidFill>
              <a:srgbClr val="C9D8FF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132653D-A94F-46DD-A98A-11D54C9B2A36}"/>
              </a:ext>
            </a:extLst>
          </p:cNvPr>
          <p:cNvSpPr>
            <a:spLocks noGrp="1"/>
          </p:cNvSpPr>
          <p:nvPr/>
        </p:nvSpPr>
        <p:spPr>
          <a:xfrm>
            <a:off x="8648700" y="4686300"/>
            <a:ext cx="609600" cy="76200"/>
          </a:xfrm>
          <a:prstGeom prst="rect">
            <a:avLst/>
          </a:prstGeom>
          <a:solidFill>
            <a:srgbClr val="2765E8"/>
          </a:solidFill>
          <a:ln w="0">
            <a:solidFill>
              <a:srgbClr val="2765E8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99E880F-C3F3-4F6D-87FC-230E2C0A53FC}"/>
              </a:ext>
            </a:extLst>
          </p:cNvPr>
          <p:cNvSpPr>
            <a:spLocks noGrp="1"/>
          </p:cNvSpPr>
          <p:nvPr/>
        </p:nvSpPr>
        <p:spPr>
          <a:xfrm>
            <a:off x="8629650" y="4857750"/>
            <a:ext cx="85725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可视化分析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85F2C55-68A7-486B-BCC2-ED851AE95CD2}"/>
              </a:ext>
            </a:extLst>
          </p:cNvPr>
          <p:cNvSpPr>
            <a:spLocks noGrp="1"/>
          </p:cNvSpPr>
          <p:nvPr/>
        </p:nvSpPr>
        <p:spPr>
          <a:xfrm>
            <a:off x="8629650" y="5295900"/>
            <a:ext cx="85725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596A80"/>
                </a:solidFill>
              </a:defRPr>
            </a:pPr>
            <a:r>
              <a:rPr sz="1875">
                <a:solidFill>
                  <a:srgbClr val="596A80"/>
                </a:solidFill>
              </a:rPr>
              <a:t>系统首页、保单统计、理赔统计、预测记录统计，帮助用户快速理解业务状态。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3C56CA8-0912-44F4-B617-692704C9408D}"/>
              </a:ext>
            </a:extLst>
          </p:cNvPr>
          <p:cNvSpPr>
            <a:spLocks noGrp="1"/>
          </p:cNvSpPr>
          <p:nvPr/>
        </p:nvSpPr>
        <p:spPr>
          <a:xfrm>
            <a:off x="8369046" y="7042150"/>
            <a:ext cx="9099804" cy="2635250"/>
          </a:xfrm>
          <a:prstGeom prst="roundRect">
            <a:avLst>
              <a:gd name="adj" fmla="val 2169"/>
            </a:avLst>
          </a:prstGeom>
          <a:solidFill>
            <a:srgbClr val="FDEDEA"/>
          </a:solidFill>
          <a:ln w="9525">
            <a:solidFill>
              <a:srgbClr val="F5CBC5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88C7970-A38B-44EA-BDFE-0B8700518CBE}"/>
              </a:ext>
            </a:extLst>
          </p:cNvPr>
          <p:cNvSpPr>
            <a:spLocks noGrp="1"/>
          </p:cNvSpPr>
          <p:nvPr/>
        </p:nvSpPr>
        <p:spPr>
          <a:xfrm>
            <a:off x="8648700" y="7315200"/>
            <a:ext cx="609600" cy="76200"/>
          </a:xfrm>
          <a:prstGeom prst="rect">
            <a:avLst/>
          </a:prstGeom>
          <a:solidFill>
            <a:srgbClr val="E15A4F"/>
          </a:solidFill>
          <a:ln w="0">
            <a:solidFill>
              <a:srgbClr val="E15A4F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9EE21BA-FED1-4CEC-8288-6FAB49C52967}"/>
              </a:ext>
            </a:extLst>
          </p:cNvPr>
          <p:cNvSpPr>
            <a:spLocks noGrp="1"/>
          </p:cNvSpPr>
          <p:nvPr/>
        </p:nvSpPr>
        <p:spPr>
          <a:xfrm>
            <a:off x="8629650" y="7505700"/>
            <a:ext cx="85725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理赔预测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D49ACBA-34A6-46EA-A999-547AD6E22081}"/>
              </a:ext>
            </a:extLst>
          </p:cNvPr>
          <p:cNvSpPr>
            <a:spLocks noGrp="1"/>
          </p:cNvSpPr>
          <p:nvPr/>
        </p:nvSpPr>
        <p:spPr>
          <a:xfrm>
            <a:off x="8629650" y="7924800"/>
            <a:ext cx="85725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596A80"/>
                </a:solidFill>
              </a:defRPr>
            </a:pPr>
            <a:r>
              <a:rPr sz="1875">
                <a:solidFill>
                  <a:srgbClr val="596A80"/>
                </a:solidFill>
              </a:rPr>
              <a:t>模型训练、批量/单条预测、预测记录管理、风险等级展示和局部消融解释。</a:t>
            </a:r>
          </a:p>
        </p:txBody>
      </p:sp>
    </p:spTree>
    <p:extLst>
      <p:ext uri="{BB962C8B-B14F-4D97-AF65-F5344CB8AC3E}">
        <p14:creationId xmlns:p14="http://schemas.microsoft.com/office/powerpoint/2010/main" val="892133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>
            <a:extLst>
              <a:ext uri="{FF2B5EF4-FFF2-40B4-BE49-F238E27FC236}">
                <a16:creationId xmlns:a16="http://schemas.microsoft.com/office/drawing/2014/main" id="{0ADE5D4F-2D81-4BC6-BAC9-6D1064B33794}"/>
              </a:ext>
            </a:extLst>
          </p:cNvPr>
          <p:cNvSpPr>
            <a:spLocks noGrp="1"/>
          </p:cNvSpPr>
          <p:nvPr/>
        </p:nvSpPr>
        <p:spPr>
          <a:xfrm>
            <a:off x="819150" y="609600"/>
            <a:ext cx="15868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20796E"/>
                </a:solidFill>
              </a:defRPr>
            </a:pPr>
            <a:r>
              <a:rPr sz="1650" b="1">
                <a:solidFill>
                  <a:srgbClr val="20796E"/>
                </a:solidFill>
              </a:rPr>
              <a:t>数据集与预处理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B784DB6-9ED6-4710-922B-94A4E5C3B19F}"/>
              </a:ext>
            </a:extLst>
          </p:cNvPr>
          <p:cNvSpPr>
            <a:spLocks noGrp="1"/>
          </p:cNvSpPr>
          <p:nvPr/>
        </p:nvSpPr>
        <p:spPr>
          <a:xfrm>
            <a:off x="819150" y="895350"/>
            <a:ext cx="110490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0D172A"/>
                </a:solidFill>
              </a:defRPr>
            </a:pPr>
            <a:r>
              <a:rPr sz="4350" b="1">
                <a:solidFill>
                  <a:srgbClr val="0D172A"/>
                </a:solidFill>
              </a:rPr>
              <a:t>数据处理：从公开车险数据集中构建训练样本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0678275-7803-479F-BF90-E5FB86FC6193}"/>
              </a:ext>
            </a:extLst>
          </p:cNvPr>
          <p:cNvSpPr>
            <a:spLocks noGrp="1"/>
          </p:cNvSpPr>
          <p:nvPr/>
        </p:nvSpPr>
        <p:spPr>
          <a:xfrm>
            <a:off x="16916400" y="914400"/>
            <a:ext cx="552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20796E"/>
                </a:solidFill>
              </a:defRPr>
            </a:pPr>
            <a:r>
              <a:rPr sz="1800" b="1">
                <a:solidFill>
                  <a:srgbClr val="20796E"/>
                </a:solidFill>
              </a:rPr>
              <a:t>08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654472F-A625-4E06-8135-E1E24A951653}"/>
              </a:ext>
            </a:extLst>
          </p:cNvPr>
          <p:cNvSpPr>
            <a:spLocks noGrp="1"/>
          </p:cNvSpPr>
          <p:nvPr/>
        </p:nvSpPr>
        <p:spPr>
          <a:xfrm>
            <a:off x="819150" y="3619500"/>
            <a:ext cx="582930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950" b="1">
                <a:solidFill>
                  <a:srgbClr val="20796E"/>
                </a:solidFill>
              </a:defRPr>
            </a:pPr>
            <a:r>
              <a:rPr sz="4950" b="1">
                <a:solidFill>
                  <a:srgbClr val="20796E"/>
                </a:solidFill>
              </a:rPr>
              <a:t>105,555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6E86E43-612C-4C72-956A-C98EF40F0AE3}"/>
              </a:ext>
            </a:extLst>
          </p:cNvPr>
          <p:cNvSpPr>
            <a:spLocks noGrp="1"/>
          </p:cNvSpPr>
          <p:nvPr/>
        </p:nvSpPr>
        <p:spPr>
          <a:xfrm>
            <a:off x="819150" y="4324350"/>
            <a:ext cx="58293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保单记录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1328CE1-4D36-4FE2-AFC6-817291366CE1}"/>
              </a:ext>
            </a:extLst>
          </p:cNvPr>
          <p:cNvSpPr>
            <a:spLocks noGrp="1"/>
          </p:cNvSpPr>
          <p:nvPr/>
        </p:nvSpPr>
        <p:spPr>
          <a:xfrm>
            <a:off x="819150" y="4648200"/>
            <a:ext cx="58293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96A80"/>
                </a:solidFill>
              </a:defRPr>
            </a:pPr>
            <a:r>
              <a:rPr sz="1500">
                <a:solidFill>
                  <a:srgbClr val="596A80"/>
                </a:solidFill>
              </a:rPr>
              <a:t>每行代表一笔保单交易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84C3472-A536-413F-997B-602AA45C9C21}"/>
              </a:ext>
            </a:extLst>
          </p:cNvPr>
          <p:cNvSpPr>
            <a:spLocks noGrp="1"/>
          </p:cNvSpPr>
          <p:nvPr/>
        </p:nvSpPr>
        <p:spPr>
          <a:xfrm>
            <a:off x="819150" y="5124450"/>
            <a:ext cx="582930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950" b="1">
                <a:solidFill>
                  <a:srgbClr val="2765E8"/>
                </a:solidFill>
              </a:defRPr>
            </a:pPr>
            <a:r>
              <a:rPr sz="4950" b="1">
                <a:solidFill>
                  <a:srgbClr val="2765E8"/>
                </a:solidFill>
              </a:rPr>
              <a:t>30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7B28B4B-6F58-480D-824E-730E2536226A}"/>
              </a:ext>
            </a:extLst>
          </p:cNvPr>
          <p:cNvSpPr>
            <a:spLocks noGrp="1"/>
          </p:cNvSpPr>
          <p:nvPr/>
        </p:nvSpPr>
        <p:spPr>
          <a:xfrm>
            <a:off x="819150" y="5829300"/>
            <a:ext cx="58293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原始变量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950D330-E3A4-40D8-A28D-70BABA74A7F3}"/>
              </a:ext>
            </a:extLst>
          </p:cNvPr>
          <p:cNvSpPr>
            <a:spLocks noGrp="1"/>
          </p:cNvSpPr>
          <p:nvPr/>
        </p:nvSpPr>
        <p:spPr>
          <a:xfrm>
            <a:off x="819150" y="6134100"/>
            <a:ext cx="58293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96A80"/>
                </a:solidFill>
              </a:defRPr>
            </a:pPr>
            <a:r>
              <a:rPr sz="1500">
                <a:solidFill>
                  <a:srgbClr val="596A80"/>
                </a:solidFill>
              </a:rPr>
              <a:t>涵盖投保人、车辆、保单和理赔历史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FEB56C5-381C-4D93-B2A8-DCA2393B399E}"/>
              </a:ext>
            </a:extLst>
          </p:cNvPr>
          <p:cNvSpPr>
            <a:spLocks noGrp="1"/>
          </p:cNvSpPr>
          <p:nvPr/>
        </p:nvSpPr>
        <p:spPr>
          <a:xfrm>
            <a:off x="819150" y="6610350"/>
            <a:ext cx="582930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950" b="1">
                <a:solidFill>
                  <a:srgbClr val="E15A4F"/>
                </a:solidFill>
              </a:defRPr>
            </a:pPr>
            <a:r>
              <a:rPr sz="4950" b="1">
                <a:solidFill>
                  <a:srgbClr val="E15A4F"/>
                </a:solidFill>
              </a:rPr>
              <a:t>18.6%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5E6BFA6-3978-4723-9F4C-7467BD7553B1}"/>
              </a:ext>
            </a:extLst>
          </p:cNvPr>
          <p:cNvSpPr>
            <a:spLocks noGrp="1"/>
          </p:cNvSpPr>
          <p:nvPr/>
        </p:nvSpPr>
        <p:spPr>
          <a:xfrm>
            <a:off x="819150" y="7315200"/>
            <a:ext cx="58293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理赔样本占比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66EEFF8-5D1B-4314-B2EE-FFCCADCDB093}"/>
              </a:ext>
            </a:extLst>
          </p:cNvPr>
          <p:cNvSpPr>
            <a:spLocks noGrp="1"/>
          </p:cNvSpPr>
          <p:nvPr/>
        </p:nvSpPr>
        <p:spPr>
          <a:xfrm>
            <a:off x="819150" y="7639050"/>
            <a:ext cx="58293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96A80"/>
                </a:solidFill>
              </a:defRPr>
            </a:pPr>
            <a:r>
              <a:rPr sz="1500">
                <a:solidFill>
                  <a:srgbClr val="596A80"/>
                </a:solidFill>
              </a:rPr>
              <a:t>正负样本约 1 : 4.37</a:t>
            </a:r>
          </a:p>
        </p:txBody>
      </p:sp>
      <p:graphicFrame>
        <p:nvGraphicFramePr>
          <p:cNvPr id="13" name="class-imbalance-chart"/>
          <p:cNvGraphicFramePr/>
          <p:nvPr/>
        </p:nvGraphicFramePr>
        <p:xfrm>
          <a:off x="7093458" y="2686050"/>
          <a:ext cx="10375392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A7E2D78B-EFB3-43E0-BED0-CC0FDBE5E9F6}"/>
              </a:ext>
            </a:extLst>
          </p:cNvPr>
          <p:cNvSpPr>
            <a:spLocks noGrp="1"/>
          </p:cNvSpPr>
          <p:nvPr/>
        </p:nvSpPr>
        <p:spPr>
          <a:xfrm>
            <a:off x="7093458" y="6343650"/>
            <a:ext cx="1619250" cy="514350"/>
          </a:xfrm>
          <a:prstGeom prst="roundRect">
            <a:avLst>
              <a:gd name="adj" fmla="val 3704"/>
            </a:avLst>
          </a:prstGeom>
          <a:solidFill>
            <a:srgbClr val="0D172A"/>
          </a:solidFill>
          <a:ln w="9525">
            <a:solidFill>
              <a:srgbClr val="D8E1EA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51BAD16-07D0-496B-9D90-8A23EF03BB87}"/>
              </a:ext>
            </a:extLst>
          </p:cNvPr>
          <p:cNvSpPr>
            <a:spLocks noGrp="1"/>
          </p:cNvSpPr>
          <p:nvPr/>
        </p:nvSpPr>
        <p:spPr>
          <a:xfrm>
            <a:off x="7219950" y="6457950"/>
            <a:ext cx="13525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问题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91523474-64AC-4770-AAAE-F9B970622B5B}"/>
              </a:ext>
            </a:extLst>
          </p:cNvPr>
          <p:cNvSpPr>
            <a:spLocks noGrp="1"/>
          </p:cNvSpPr>
          <p:nvPr/>
        </p:nvSpPr>
        <p:spPr>
          <a:xfrm>
            <a:off x="8712708" y="6343650"/>
            <a:ext cx="4095750" cy="514350"/>
          </a:xfrm>
          <a:prstGeom prst="roundRect">
            <a:avLst>
              <a:gd name="adj" fmla="val 3704"/>
            </a:avLst>
          </a:prstGeom>
          <a:solidFill>
            <a:srgbClr val="0D172A"/>
          </a:solidFill>
          <a:ln w="9525">
            <a:solidFill>
              <a:srgbClr val="D8E1EA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A1DD207-BD02-4E14-93AF-B38AE862FF33}"/>
              </a:ext>
            </a:extLst>
          </p:cNvPr>
          <p:cNvSpPr>
            <a:spLocks noGrp="1"/>
          </p:cNvSpPr>
          <p:nvPr/>
        </p:nvSpPr>
        <p:spPr>
          <a:xfrm>
            <a:off x="8839200" y="6457950"/>
            <a:ext cx="38290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处理策略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D5EB7837-C733-4422-AA5C-B555C074BD0E}"/>
              </a:ext>
            </a:extLst>
          </p:cNvPr>
          <p:cNvSpPr>
            <a:spLocks noGrp="1"/>
          </p:cNvSpPr>
          <p:nvPr/>
        </p:nvSpPr>
        <p:spPr>
          <a:xfrm>
            <a:off x="12808458" y="6343650"/>
            <a:ext cx="4660392" cy="514350"/>
          </a:xfrm>
          <a:prstGeom prst="roundRect">
            <a:avLst>
              <a:gd name="adj" fmla="val 3704"/>
            </a:avLst>
          </a:prstGeom>
          <a:solidFill>
            <a:srgbClr val="0D172A"/>
          </a:solidFill>
          <a:ln w="9525">
            <a:solidFill>
              <a:srgbClr val="D8E1EA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65E8BB2-012F-430E-BE37-27D4DF671740}"/>
              </a:ext>
            </a:extLst>
          </p:cNvPr>
          <p:cNvSpPr>
            <a:spLocks noGrp="1"/>
          </p:cNvSpPr>
          <p:nvPr/>
        </p:nvSpPr>
        <p:spPr>
          <a:xfrm>
            <a:off x="12934950" y="6457950"/>
            <a:ext cx="44005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目的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19115A9D-B10F-480A-9B61-6AAD4A743697}"/>
              </a:ext>
            </a:extLst>
          </p:cNvPr>
          <p:cNvSpPr>
            <a:spLocks noGrp="1"/>
          </p:cNvSpPr>
          <p:nvPr/>
        </p:nvSpPr>
        <p:spPr>
          <a:xfrm>
            <a:off x="7093458" y="6858000"/>
            <a:ext cx="1619250" cy="476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F165E3B-96A0-4507-83C0-A763F9105B69}"/>
              </a:ext>
            </a:extLst>
          </p:cNvPr>
          <p:cNvSpPr>
            <a:spLocks noGrp="1"/>
          </p:cNvSpPr>
          <p:nvPr/>
        </p:nvSpPr>
        <p:spPr>
          <a:xfrm>
            <a:off x="7219950" y="6972300"/>
            <a:ext cx="13525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缺失值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9F40E3D4-47F2-434C-8F9E-3A0AF562918E}"/>
              </a:ext>
            </a:extLst>
          </p:cNvPr>
          <p:cNvSpPr>
            <a:spLocks noGrp="1"/>
          </p:cNvSpPr>
          <p:nvPr/>
        </p:nvSpPr>
        <p:spPr>
          <a:xfrm>
            <a:off x="8712708" y="6858000"/>
            <a:ext cx="4095750" cy="476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CD2291F-5AFD-40A3-ABFD-D282B51DD2FF}"/>
              </a:ext>
            </a:extLst>
          </p:cNvPr>
          <p:cNvSpPr>
            <a:spLocks noGrp="1"/>
          </p:cNvSpPr>
          <p:nvPr/>
        </p:nvSpPr>
        <p:spPr>
          <a:xfrm>
            <a:off x="8839200" y="6972300"/>
            <a:ext cx="38290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字段缺失检测、业务语义填充或剔除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D99EA7F7-D68C-47FD-AF02-E260EAF179C7}"/>
              </a:ext>
            </a:extLst>
          </p:cNvPr>
          <p:cNvSpPr>
            <a:spLocks noGrp="1"/>
          </p:cNvSpPr>
          <p:nvPr/>
        </p:nvSpPr>
        <p:spPr>
          <a:xfrm>
            <a:off x="12808458" y="6858000"/>
            <a:ext cx="4660392" cy="476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E4CE7C0-9A0E-4D6E-878E-1538FF0FFFA8}"/>
              </a:ext>
            </a:extLst>
          </p:cNvPr>
          <p:cNvSpPr>
            <a:spLocks noGrp="1"/>
          </p:cNvSpPr>
          <p:nvPr/>
        </p:nvSpPr>
        <p:spPr>
          <a:xfrm>
            <a:off x="12934950" y="6972300"/>
            <a:ext cx="44005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保证模型输入完整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F9993B3D-D196-44FD-86E1-88255C4CD18F}"/>
              </a:ext>
            </a:extLst>
          </p:cNvPr>
          <p:cNvSpPr>
            <a:spLocks noGrp="1"/>
          </p:cNvSpPr>
          <p:nvPr/>
        </p:nvSpPr>
        <p:spPr>
          <a:xfrm>
            <a:off x="7093458" y="7334250"/>
            <a:ext cx="1619250" cy="476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F52F38A-B5E3-4204-B471-4FDDDE1675C0}"/>
              </a:ext>
            </a:extLst>
          </p:cNvPr>
          <p:cNvSpPr>
            <a:spLocks noGrp="1"/>
          </p:cNvSpPr>
          <p:nvPr/>
        </p:nvSpPr>
        <p:spPr>
          <a:xfrm>
            <a:off x="7219950" y="7448550"/>
            <a:ext cx="13525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极端值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3B5EDE4F-2B45-4B4F-ABAB-CD2CE023A550}"/>
              </a:ext>
            </a:extLst>
          </p:cNvPr>
          <p:cNvSpPr>
            <a:spLocks noGrp="1"/>
          </p:cNvSpPr>
          <p:nvPr/>
        </p:nvSpPr>
        <p:spPr>
          <a:xfrm>
            <a:off x="8712708" y="7334250"/>
            <a:ext cx="4095750" cy="476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9EAA4A9-C47E-4412-A34F-1DA20ADE5263}"/>
              </a:ext>
            </a:extLst>
          </p:cNvPr>
          <p:cNvSpPr>
            <a:spLocks noGrp="1"/>
          </p:cNvSpPr>
          <p:nvPr/>
        </p:nvSpPr>
        <p:spPr>
          <a:xfrm>
            <a:off x="8839200" y="7448550"/>
            <a:ext cx="38290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对保费、车价、功率等字段截断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AB014485-A4E8-4468-A92B-C0EE6C2C7A0F}"/>
              </a:ext>
            </a:extLst>
          </p:cNvPr>
          <p:cNvSpPr>
            <a:spLocks noGrp="1"/>
          </p:cNvSpPr>
          <p:nvPr/>
        </p:nvSpPr>
        <p:spPr>
          <a:xfrm>
            <a:off x="12808458" y="7334250"/>
            <a:ext cx="4660392" cy="476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C9519D7-F98F-4D5F-9077-8137F5D09A24}"/>
              </a:ext>
            </a:extLst>
          </p:cNvPr>
          <p:cNvSpPr>
            <a:spLocks noGrp="1"/>
          </p:cNvSpPr>
          <p:nvPr/>
        </p:nvSpPr>
        <p:spPr>
          <a:xfrm>
            <a:off x="12934950" y="7448550"/>
            <a:ext cx="44005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降低长尾异常影响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8A39A8B9-23D0-4EE5-AE52-3D09CC408D5E}"/>
              </a:ext>
            </a:extLst>
          </p:cNvPr>
          <p:cNvSpPr>
            <a:spLocks noGrp="1"/>
          </p:cNvSpPr>
          <p:nvPr/>
        </p:nvSpPr>
        <p:spPr>
          <a:xfrm>
            <a:off x="7093458" y="7810500"/>
            <a:ext cx="1619250" cy="476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5884D80-EBB3-4667-BF38-91326C24EC25}"/>
              </a:ext>
            </a:extLst>
          </p:cNvPr>
          <p:cNvSpPr>
            <a:spLocks noGrp="1"/>
          </p:cNvSpPr>
          <p:nvPr/>
        </p:nvSpPr>
        <p:spPr>
          <a:xfrm>
            <a:off x="7219950" y="7924800"/>
            <a:ext cx="13525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样本不均衡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B718128A-D07D-4656-ABBF-040937A5267C}"/>
              </a:ext>
            </a:extLst>
          </p:cNvPr>
          <p:cNvSpPr>
            <a:spLocks noGrp="1"/>
          </p:cNvSpPr>
          <p:nvPr/>
        </p:nvSpPr>
        <p:spPr>
          <a:xfrm>
            <a:off x="8712708" y="7810500"/>
            <a:ext cx="4095750" cy="476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24B132A-68F8-490B-9776-7547956182A0}"/>
              </a:ext>
            </a:extLst>
          </p:cNvPr>
          <p:cNvSpPr>
            <a:spLocks noGrp="1"/>
          </p:cNvSpPr>
          <p:nvPr/>
        </p:nvSpPr>
        <p:spPr>
          <a:xfrm>
            <a:off x="8839200" y="7924800"/>
            <a:ext cx="38290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分层抽样 + 正类权重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7B6B67F3-9BCA-4B3E-B204-03FA244B41A2}"/>
              </a:ext>
            </a:extLst>
          </p:cNvPr>
          <p:cNvSpPr>
            <a:spLocks noGrp="1"/>
          </p:cNvSpPr>
          <p:nvPr/>
        </p:nvSpPr>
        <p:spPr>
          <a:xfrm>
            <a:off x="12808458" y="7810500"/>
            <a:ext cx="4660392" cy="476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4553B34-BC2B-482A-AC60-7BFED260AE7C}"/>
              </a:ext>
            </a:extLst>
          </p:cNvPr>
          <p:cNvSpPr>
            <a:spLocks noGrp="1"/>
          </p:cNvSpPr>
          <p:nvPr/>
        </p:nvSpPr>
        <p:spPr>
          <a:xfrm>
            <a:off x="12934950" y="7924800"/>
            <a:ext cx="44005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减少模型偏向非理赔类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8CB7A6B7-6232-4A35-AB96-8D5FBAA509FE}"/>
              </a:ext>
            </a:extLst>
          </p:cNvPr>
          <p:cNvSpPr>
            <a:spLocks noGrp="1"/>
          </p:cNvSpPr>
          <p:nvPr/>
        </p:nvSpPr>
        <p:spPr>
          <a:xfrm>
            <a:off x="7093458" y="8286750"/>
            <a:ext cx="1619250" cy="476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FB23377-F6DD-4800-85A2-C53E0B418842}"/>
              </a:ext>
            </a:extLst>
          </p:cNvPr>
          <p:cNvSpPr>
            <a:spLocks noGrp="1"/>
          </p:cNvSpPr>
          <p:nvPr/>
        </p:nvSpPr>
        <p:spPr>
          <a:xfrm>
            <a:off x="7219950" y="8401050"/>
            <a:ext cx="13525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字符串字段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EB23D7FC-97F5-40B3-9FA6-586941597BE8}"/>
              </a:ext>
            </a:extLst>
          </p:cNvPr>
          <p:cNvSpPr>
            <a:spLocks noGrp="1"/>
          </p:cNvSpPr>
          <p:nvPr/>
        </p:nvSpPr>
        <p:spPr>
          <a:xfrm>
            <a:off x="8712708" y="8286750"/>
            <a:ext cx="4095750" cy="476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F4B1786-F3EE-422A-A477-366EF18F6B82}"/>
              </a:ext>
            </a:extLst>
          </p:cNvPr>
          <p:cNvSpPr>
            <a:spLocks noGrp="1"/>
          </p:cNvSpPr>
          <p:nvPr/>
        </p:nvSpPr>
        <p:spPr>
          <a:xfrm>
            <a:off x="8839200" y="8401050"/>
            <a:ext cx="38290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日期解析与类别编码</a:t>
            </a: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1052E39B-5251-4BB1-BE88-05C69E017032}"/>
              </a:ext>
            </a:extLst>
          </p:cNvPr>
          <p:cNvSpPr>
            <a:spLocks noGrp="1"/>
          </p:cNvSpPr>
          <p:nvPr/>
        </p:nvSpPr>
        <p:spPr>
          <a:xfrm>
            <a:off x="12808458" y="8286750"/>
            <a:ext cx="4660392" cy="476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3CA62A1-236B-4E34-BEB3-79C9BE58AA84}"/>
              </a:ext>
            </a:extLst>
          </p:cNvPr>
          <p:cNvSpPr>
            <a:spLocks noGrp="1"/>
          </p:cNvSpPr>
          <p:nvPr/>
        </p:nvSpPr>
        <p:spPr>
          <a:xfrm>
            <a:off x="12934950" y="8401050"/>
            <a:ext cx="44005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转换为可训练数值特征</a:t>
            </a:r>
          </a:p>
        </p:txBody>
      </p:sp>
    </p:spTree>
    <p:extLst>
      <p:ext uri="{BB962C8B-B14F-4D97-AF65-F5344CB8AC3E}">
        <p14:creationId xmlns:p14="http://schemas.microsoft.com/office/powerpoint/2010/main" val="1450494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>
            <a:extLst>
              <a:ext uri="{FF2B5EF4-FFF2-40B4-BE49-F238E27FC236}">
                <a16:creationId xmlns:a16="http://schemas.microsoft.com/office/drawing/2014/main" id="{F2238DA9-B7D7-4915-94D8-DBD1763D4D91}"/>
              </a:ext>
            </a:extLst>
          </p:cNvPr>
          <p:cNvSpPr>
            <a:spLocks noGrp="1"/>
          </p:cNvSpPr>
          <p:nvPr/>
        </p:nvSpPr>
        <p:spPr>
          <a:xfrm>
            <a:off x="819150" y="609600"/>
            <a:ext cx="15868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20796E"/>
                </a:solidFill>
              </a:defRPr>
            </a:pPr>
            <a:r>
              <a:rPr sz="1650" b="1">
                <a:solidFill>
                  <a:srgbClr val="20796E"/>
                </a:solidFill>
              </a:rPr>
              <a:t>特征矩阵构建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49A7FB7-F1D8-445F-AD2A-6978A7A32940}"/>
              </a:ext>
            </a:extLst>
          </p:cNvPr>
          <p:cNvSpPr>
            <a:spLocks noGrp="1"/>
          </p:cNvSpPr>
          <p:nvPr/>
        </p:nvSpPr>
        <p:spPr>
          <a:xfrm>
            <a:off x="819150" y="895350"/>
            <a:ext cx="1160145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0D172A"/>
                </a:solidFill>
              </a:defRPr>
            </a:pPr>
            <a:r>
              <a:rPr sz="4350" b="1">
                <a:solidFill>
                  <a:srgbClr val="0D172A"/>
                </a:solidFill>
              </a:rPr>
              <a:t>特征工程：将业务字段转化为有语义的模型输入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219D3BB-3E62-4C95-8BFD-9291201DBB38}"/>
              </a:ext>
            </a:extLst>
          </p:cNvPr>
          <p:cNvSpPr>
            <a:spLocks noGrp="1"/>
          </p:cNvSpPr>
          <p:nvPr/>
        </p:nvSpPr>
        <p:spPr>
          <a:xfrm>
            <a:off x="16916400" y="914400"/>
            <a:ext cx="552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20796E"/>
                </a:solidFill>
              </a:defRPr>
            </a:pPr>
            <a:r>
              <a:rPr sz="1800" b="1">
                <a:solidFill>
                  <a:srgbClr val="20796E"/>
                </a:solidFill>
              </a:rPr>
              <a:t>09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247DB52-3FC7-4CE8-82C7-F5073BF0ECE1}"/>
              </a:ext>
            </a:extLst>
          </p:cNvPr>
          <p:cNvSpPr>
            <a:spLocks noGrp="1"/>
          </p:cNvSpPr>
          <p:nvPr/>
        </p:nvSpPr>
        <p:spPr>
          <a:xfrm>
            <a:off x="838200" y="3848100"/>
            <a:ext cx="609600" cy="76200"/>
          </a:xfrm>
          <a:prstGeom prst="rect">
            <a:avLst/>
          </a:prstGeom>
          <a:solidFill>
            <a:srgbClr val="20796E"/>
          </a:solidFill>
          <a:ln w="0">
            <a:solidFill>
              <a:srgbClr val="20796E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2F1E21-6C59-4698-B03A-977CC09712DA}"/>
              </a:ext>
            </a:extLst>
          </p:cNvPr>
          <p:cNvSpPr>
            <a:spLocks noGrp="1"/>
          </p:cNvSpPr>
          <p:nvPr/>
        </p:nvSpPr>
        <p:spPr>
          <a:xfrm>
            <a:off x="819150" y="4019550"/>
            <a:ext cx="81153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日期锚点特征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3CE3CC3-1EE7-4D37-BDCF-ECC143E3CB4D}"/>
              </a:ext>
            </a:extLst>
          </p:cNvPr>
          <p:cNvSpPr>
            <a:spLocks noGrp="1"/>
          </p:cNvSpPr>
          <p:nvPr/>
        </p:nvSpPr>
        <p:spPr>
          <a:xfrm>
            <a:off x="819150" y="4457700"/>
            <a:ext cx="8115300" cy="476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596A80"/>
                </a:solidFill>
              </a:defRPr>
            </a:pPr>
            <a:r>
              <a:rPr sz="1875">
                <a:solidFill>
                  <a:srgbClr val="596A80"/>
                </a:solidFill>
              </a:rPr>
              <a:t>以合同开始日期作为统一参考点，计算驾龄、被保人年龄、合同期限、车龄等语义特征。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25B6BD7-320F-4B7A-A287-463F6A13FDB4}"/>
              </a:ext>
            </a:extLst>
          </p:cNvPr>
          <p:cNvSpPr>
            <a:spLocks noGrp="1"/>
          </p:cNvSpPr>
          <p:nvPr/>
        </p:nvSpPr>
        <p:spPr>
          <a:xfrm>
            <a:off x="838200" y="5181600"/>
            <a:ext cx="609600" cy="76200"/>
          </a:xfrm>
          <a:prstGeom prst="rect">
            <a:avLst/>
          </a:prstGeom>
          <a:solidFill>
            <a:srgbClr val="2765E8"/>
          </a:solidFill>
          <a:ln w="0">
            <a:solidFill>
              <a:srgbClr val="2765E8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C313BC0-0872-4205-B04A-2CA78C00D787}"/>
              </a:ext>
            </a:extLst>
          </p:cNvPr>
          <p:cNvSpPr>
            <a:spLocks noGrp="1"/>
          </p:cNvSpPr>
          <p:nvPr/>
        </p:nvSpPr>
        <p:spPr>
          <a:xfrm>
            <a:off x="819150" y="5372100"/>
            <a:ext cx="81153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车辆属性特征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5BEE857-6FFA-4371-BD04-15CC4D5BD06B}"/>
              </a:ext>
            </a:extLst>
          </p:cNvPr>
          <p:cNvSpPr>
            <a:spLocks noGrp="1"/>
          </p:cNvSpPr>
          <p:nvPr/>
        </p:nvSpPr>
        <p:spPr>
          <a:xfrm>
            <a:off x="819150" y="5791200"/>
            <a:ext cx="8115300" cy="476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596A80"/>
                </a:solidFill>
              </a:defRPr>
            </a:pPr>
            <a:r>
              <a:rPr sz="1875">
                <a:solidFill>
                  <a:srgbClr val="596A80"/>
                </a:solidFill>
              </a:rPr>
              <a:t>保留发动机功率、排量、重量、车辆价值、注册年份等字段，并进行异常值截断。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1DE39D1-0BFE-4EFD-B89C-BCB80C9E88D3}"/>
              </a:ext>
            </a:extLst>
          </p:cNvPr>
          <p:cNvSpPr>
            <a:spLocks noGrp="1"/>
          </p:cNvSpPr>
          <p:nvPr/>
        </p:nvSpPr>
        <p:spPr>
          <a:xfrm>
            <a:off x="838200" y="6515100"/>
            <a:ext cx="609600" cy="76200"/>
          </a:xfrm>
          <a:prstGeom prst="rect">
            <a:avLst/>
          </a:prstGeom>
          <a:solidFill>
            <a:srgbClr val="E15A4F"/>
          </a:solidFill>
          <a:ln w="0">
            <a:solidFill>
              <a:srgbClr val="E15A4F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DB64666-8849-4A3E-B311-9B12F7EE4659}"/>
              </a:ext>
            </a:extLst>
          </p:cNvPr>
          <p:cNvSpPr>
            <a:spLocks noGrp="1"/>
          </p:cNvSpPr>
          <p:nvPr/>
        </p:nvSpPr>
        <p:spPr>
          <a:xfrm>
            <a:off x="819150" y="6705600"/>
            <a:ext cx="81153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保单与历史理赔特征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3A29F04-13A1-47C2-9E58-3F1352FB49C6}"/>
              </a:ext>
            </a:extLst>
          </p:cNvPr>
          <p:cNvSpPr>
            <a:spLocks noGrp="1"/>
          </p:cNvSpPr>
          <p:nvPr/>
        </p:nvSpPr>
        <p:spPr>
          <a:xfrm>
            <a:off x="819150" y="7143750"/>
            <a:ext cx="8115300" cy="476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596A80"/>
                </a:solidFill>
              </a:defRPr>
            </a:pPr>
            <a:r>
              <a:rPr sz="1875">
                <a:solidFill>
                  <a:srgbClr val="596A80"/>
                </a:solidFill>
              </a:rPr>
              <a:t>使用年度保费、历史理赔次数、风险类型、缴费方式等字段表达保单风险状态。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1B2DA0E3-3D30-4797-B364-2B70EE94AAF7}"/>
              </a:ext>
            </a:extLst>
          </p:cNvPr>
          <p:cNvSpPr>
            <a:spLocks noGrp="1"/>
          </p:cNvSpPr>
          <p:nvPr/>
        </p:nvSpPr>
        <p:spPr>
          <a:xfrm>
            <a:off x="9353550" y="3876675"/>
            <a:ext cx="1809750" cy="514350"/>
          </a:xfrm>
          <a:prstGeom prst="roundRect">
            <a:avLst>
              <a:gd name="adj" fmla="val 3704"/>
            </a:avLst>
          </a:prstGeom>
          <a:solidFill>
            <a:srgbClr val="0D172A"/>
          </a:solidFill>
          <a:ln w="9525">
            <a:solidFill>
              <a:srgbClr val="D8E1EA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493911C-FDE1-4E2D-9A73-F9D705E74903}"/>
              </a:ext>
            </a:extLst>
          </p:cNvPr>
          <p:cNvSpPr>
            <a:spLocks noGrp="1"/>
          </p:cNvSpPr>
          <p:nvPr/>
        </p:nvSpPr>
        <p:spPr>
          <a:xfrm>
            <a:off x="9486900" y="4000500"/>
            <a:ext cx="15430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特征类别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0F90B3C6-C3C6-40E7-A8EA-8B2BDFF0AC66}"/>
              </a:ext>
            </a:extLst>
          </p:cNvPr>
          <p:cNvSpPr>
            <a:spLocks noGrp="1"/>
          </p:cNvSpPr>
          <p:nvPr/>
        </p:nvSpPr>
        <p:spPr>
          <a:xfrm>
            <a:off x="11163300" y="3876675"/>
            <a:ext cx="3810000" cy="514350"/>
          </a:xfrm>
          <a:prstGeom prst="roundRect">
            <a:avLst>
              <a:gd name="adj" fmla="val 3704"/>
            </a:avLst>
          </a:prstGeom>
          <a:solidFill>
            <a:srgbClr val="0D172A"/>
          </a:solidFill>
          <a:ln w="9525">
            <a:solidFill>
              <a:srgbClr val="D8E1EA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7E1FCD0-31A8-49B3-9650-14711B9EBB1F}"/>
              </a:ext>
            </a:extLst>
          </p:cNvPr>
          <p:cNvSpPr>
            <a:spLocks noGrp="1"/>
          </p:cNvSpPr>
          <p:nvPr/>
        </p:nvSpPr>
        <p:spPr>
          <a:xfrm>
            <a:off x="11296650" y="4000500"/>
            <a:ext cx="35433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代表字段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0412ABE2-74D1-49FF-A38C-B178F89C2312}"/>
              </a:ext>
            </a:extLst>
          </p:cNvPr>
          <p:cNvSpPr>
            <a:spLocks noGrp="1"/>
          </p:cNvSpPr>
          <p:nvPr/>
        </p:nvSpPr>
        <p:spPr>
          <a:xfrm>
            <a:off x="14973300" y="3876675"/>
            <a:ext cx="2495550" cy="514350"/>
          </a:xfrm>
          <a:prstGeom prst="roundRect">
            <a:avLst>
              <a:gd name="adj" fmla="val 3704"/>
            </a:avLst>
          </a:prstGeom>
          <a:solidFill>
            <a:srgbClr val="0D172A"/>
          </a:solidFill>
          <a:ln w="9525">
            <a:solidFill>
              <a:srgbClr val="D8E1EA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F66132C-4267-468F-B0D7-D1BE8DF41711}"/>
              </a:ext>
            </a:extLst>
          </p:cNvPr>
          <p:cNvSpPr>
            <a:spLocks noGrp="1"/>
          </p:cNvSpPr>
          <p:nvPr/>
        </p:nvSpPr>
        <p:spPr>
          <a:xfrm>
            <a:off x="15106650" y="4000500"/>
            <a:ext cx="2228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来源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A1300F4C-CBED-4CE4-86AE-3591DA989EDF}"/>
              </a:ext>
            </a:extLst>
          </p:cNvPr>
          <p:cNvSpPr>
            <a:spLocks noGrp="1"/>
          </p:cNvSpPr>
          <p:nvPr/>
        </p:nvSpPr>
        <p:spPr>
          <a:xfrm>
            <a:off x="9353550" y="4391025"/>
            <a:ext cx="1809750" cy="476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9B1C423-A9D5-4FCE-BC09-DD3840FB49CC}"/>
              </a:ext>
            </a:extLst>
          </p:cNvPr>
          <p:cNvSpPr>
            <a:spLocks noGrp="1"/>
          </p:cNvSpPr>
          <p:nvPr/>
        </p:nvSpPr>
        <p:spPr>
          <a:xfrm>
            <a:off x="9486900" y="4514850"/>
            <a:ext cx="15430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日期原始天数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63536E29-A85C-4CCE-BF4B-7DF6CC744A05}"/>
              </a:ext>
            </a:extLst>
          </p:cNvPr>
          <p:cNvSpPr>
            <a:spLocks noGrp="1"/>
          </p:cNvSpPr>
          <p:nvPr/>
        </p:nvSpPr>
        <p:spPr>
          <a:xfrm>
            <a:off x="11163300" y="4391025"/>
            <a:ext cx="3810000" cy="476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F62ACB7-DCF9-4691-9963-47308D7A455C}"/>
              </a:ext>
            </a:extLst>
          </p:cNvPr>
          <p:cNvSpPr>
            <a:spLocks noGrp="1"/>
          </p:cNvSpPr>
          <p:nvPr/>
        </p:nvSpPr>
        <p:spPr>
          <a:xfrm>
            <a:off x="11296650" y="4514850"/>
            <a:ext cx="35433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Date_start_contract_days 等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32584276-2772-4148-AEA5-FF0038B668DC}"/>
              </a:ext>
            </a:extLst>
          </p:cNvPr>
          <p:cNvSpPr>
            <a:spLocks noGrp="1"/>
          </p:cNvSpPr>
          <p:nvPr/>
        </p:nvSpPr>
        <p:spPr>
          <a:xfrm>
            <a:off x="14973300" y="4391025"/>
            <a:ext cx="2495550" cy="476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9F5654A-CE98-4AB7-9F4B-2250319CBFB7}"/>
              </a:ext>
            </a:extLst>
          </p:cNvPr>
          <p:cNvSpPr>
            <a:spLocks noGrp="1"/>
          </p:cNvSpPr>
          <p:nvPr/>
        </p:nvSpPr>
        <p:spPr>
          <a:xfrm>
            <a:off x="15106650" y="4514850"/>
            <a:ext cx="2228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日期解析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235657FD-B919-4D06-9236-E419A47BAEEA}"/>
              </a:ext>
            </a:extLst>
          </p:cNvPr>
          <p:cNvSpPr>
            <a:spLocks noGrp="1"/>
          </p:cNvSpPr>
          <p:nvPr/>
        </p:nvSpPr>
        <p:spPr>
          <a:xfrm>
            <a:off x="9353550" y="4867275"/>
            <a:ext cx="1809750" cy="476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60201AC-2C38-4F7B-B587-FB96210D7DC7}"/>
              </a:ext>
            </a:extLst>
          </p:cNvPr>
          <p:cNvSpPr>
            <a:spLocks noGrp="1"/>
          </p:cNvSpPr>
          <p:nvPr/>
        </p:nvSpPr>
        <p:spPr>
          <a:xfrm>
            <a:off x="9486900" y="4991100"/>
            <a:ext cx="15430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日期语义衍生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7914B5EE-5574-47EF-A56F-F0499465DA96}"/>
              </a:ext>
            </a:extLst>
          </p:cNvPr>
          <p:cNvSpPr>
            <a:spLocks noGrp="1"/>
          </p:cNvSpPr>
          <p:nvPr/>
        </p:nvSpPr>
        <p:spPr>
          <a:xfrm>
            <a:off x="11163300" y="4867275"/>
            <a:ext cx="3810000" cy="476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F8778B7-FE3D-4397-84EB-DF70EBF923FB}"/>
              </a:ext>
            </a:extLst>
          </p:cNvPr>
          <p:cNvSpPr>
            <a:spLocks noGrp="1"/>
          </p:cNvSpPr>
          <p:nvPr/>
        </p:nvSpPr>
        <p:spPr>
          <a:xfrm>
            <a:off x="11296650" y="4991100"/>
            <a:ext cx="35433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insured_age_years、vehicle_age_years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47420A6D-148A-4252-A5C1-66FB72B80962}"/>
              </a:ext>
            </a:extLst>
          </p:cNvPr>
          <p:cNvSpPr>
            <a:spLocks noGrp="1"/>
          </p:cNvSpPr>
          <p:nvPr/>
        </p:nvSpPr>
        <p:spPr>
          <a:xfrm>
            <a:off x="14973300" y="4867275"/>
            <a:ext cx="2495550" cy="476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D505FF8-176B-4AC4-A706-9AFE613C29D8}"/>
              </a:ext>
            </a:extLst>
          </p:cNvPr>
          <p:cNvSpPr>
            <a:spLocks noGrp="1"/>
          </p:cNvSpPr>
          <p:nvPr/>
        </p:nvSpPr>
        <p:spPr>
          <a:xfrm>
            <a:off x="15106650" y="4991100"/>
            <a:ext cx="2228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业务计算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E5DD37FA-7CDE-444C-8CE5-F6A7851B56C6}"/>
              </a:ext>
            </a:extLst>
          </p:cNvPr>
          <p:cNvSpPr>
            <a:spLocks noGrp="1"/>
          </p:cNvSpPr>
          <p:nvPr/>
        </p:nvSpPr>
        <p:spPr>
          <a:xfrm>
            <a:off x="9353550" y="5343525"/>
            <a:ext cx="1809750" cy="476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E661247-1DFF-4249-B250-212E0C658B38}"/>
              </a:ext>
            </a:extLst>
          </p:cNvPr>
          <p:cNvSpPr>
            <a:spLocks noGrp="1"/>
          </p:cNvSpPr>
          <p:nvPr/>
        </p:nvSpPr>
        <p:spPr>
          <a:xfrm>
            <a:off x="9486900" y="5467350"/>
            <a:ext cx="15430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车辆属性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733C9BCF-A0B9-4C20-B663-F8DBA413A33F}"/>
              </a:ext>
            </a:extLst>
          </p:cNvPr>
          <p:cNvSpPr>
            <a:spLocks noGrp="1"/>
          </p:cNvSpPr>
          <p:nvPr/>
        </p:nvSpPr>
        <p:spPr>
          <a:xfrm>
            <a:off x="11163300" y="5343525"/>
            <a:ext cx="3810000" cy="476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E449F6C-D6D7-425E-8CC6-42BE14A49C98}"/>
              </a:ext>
            </a:extLst>
          </p:cNvPr>
          <p:cNvSpPr>
            <a:spLocks noGrp="1"/>
          </p:cNvSpPr>
          <p:nvPr/>
        </p:nvSpPr>
        <p:spPr>
          <a:xfrm>
            <a:off x="11296650" y="5467350"/>
            <a:ext cx="35433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Power、Weight、Value_vehicle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96A5B4AC-CEF5-4D3E-91E5-1605476DE4BA}"/>
              </a:ext>
            </a:extLst>
          </p:cNvPr>
          <p:cNvSpPr>
            <a:spLocks noGrp="1"/>
          </p:cNvSpPr>
          <p:nvPr/>
        </p:nvSpPr>
        <p:spPr>
          <a:xfrm>
            <a:off x="14973300" y="5343525"/>
            <a:ext cx="2495550" cy="476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35AFCD0-E6C3-4D27-9B89-3A8011047CD4}"/>
              </a:ext>
            </a:extLst>
          </p:cNvPr>
          <p:cNvSpPr>
            <a:spLocks noGrp="1"/>
          </p:cNvSpPr>
          <p:nvPr/>
        </p:nvSpPr>
        <p:spPr>
          <a:xfrm>
            <a:off x="15106650" y="5467350"/>
            <a:ext cx="2228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原始字段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740DB2D8-6DDE-48C0-B5DA-784962D33AD2}"/>
              </a:ext>
            </a:extLst>
          </p:cNvPr>
          <p:cNvSpPr>
            <a:spLocks noGrp="1"/>
          </p:cNvSpPr>
          <p:nvPr/>
        </p:nvSpPr>
        <p:spPr>
          <a:xfrm>
            <a:off x="9353550" y="5819775"/>
            <a:ext cx="1809750" cy="476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01C4A43-2842-4E6A-BCBD-DF9F9A2CE056}"/>
              </a:ext>
            </a:extLst>
          </p:cNvPr>
          <p:cNvSpPr>
            <a:spLocks noGrp="1"/>
          </p:cNvSpPr>
          <p:nvPr/>
        </p:nvSpPr>
        <p:spPr>
          <a:xfrm>
            <a:off x="9486900" y="5943600"/>
            <a:ext cx="15430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保单合同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956011C7-B1A7-425B-AED2-7CA982EE045C}"/>
              </a:ext>
            </a:extLst>
          </p:cNvPr>
          <p:cNvSpPr>
            <a:spLocks noGrp="1"/>
          </p:cNvSpPr>
          <p:nvPr/>
        </p:nvSpPr>
        <p:spPr>
          <a:xfrm>
            <a:off x="11163300" y="5819775"/>
            <a:ext cx="3810000" cy="476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4C4702EC-5FC4-457C-9848-048993144657}"/>
              </a:ext>
            </a:extLst>
          </p:cNvPr>
          <p:cNvSpPr>
            <a:spLocks noGrp="1"/>
          </p:cNvSpPr>
          <p:nvPr/>
        </p:nvSpPr>
        <p:spPr>
          <a:xfrm>
            <a:off x="11296650" y="5943600"/>
            <a:ext cx="35433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Premium、Type_risk、Payment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C77BD44D-9116-4085-8730-AC1723F1A8B6}"/>
              </a:ext>
            </a:extLst>
          </p:cNvPr>
          <p:cNvSpPr>
            <a:spLocks noGrp="1"/>
          </p:cNvSpPr>
          <p:nvPr/>
        </p:nvSpPr>
        <p:spPr>
          <a:xfrm>
            <a:off x="14973300" y="5819775"/>
            <a:ext cx="2495550" cy="476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35C09F2-6ABA-4CA2-9771-A793E77B29E2}"/>
              </a:ext>
            </a:extLst>
          </p:cNvPr>
          <p:cNvSpPr>
            <a:spLocks noGrp="1"/>
          </p:cNvSpPr>
          <p:nvPr/>
        </p:nvSpPr>
        <p:spPr>
          <a:xfrm>
            <a:off x="15106650" y="5943600"/>
            <a:ext cx="2228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原始字段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34031721-00B6-4B63-9CA8-9C8B2F40FBF7}"/>
              </a:ext>
            </a:extLst>
          </p:cNvPr>
          <p:cNvSpPr>
            <a:spLocks noGrp="1"/>
          </p:cNvSpPr>
          <p:nvPr/>
        </p:nvSpPr>
        <p:spPr>
          <a:xfrm>
            <a:off x="9353550" y="6296025"/>
            <a:ext cx="1809750" cy="476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A11AC3E-8527-4022-B3E1-FCCD9366AFD3}"/>
              </a:ext>
            </a:extLst>
          </p:cNvPr>
          <p:cNvSpPr>
            <a:spLocks noGrp="1"/>
          </p:cNvSpPr>
          <p:nvPr/>
        </p:nvSpPr>
        <p:spPr>
          <a:xfrm>
            <a:off x="9486900" y="6419850"/>
            <a:ext cx="15430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类别编码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9064494B-543F-4846-A639-A1E48CCCA58C}"/>
              </a:ext>
            </a:extLst>
          </p:cNvPr>
          <p:cNvSpPr>
            <a:spLocks noGrp="1"/>
          </p:cNvSpPr>
          <p:nvPr/>
        </p:nvSpPr>
        <p:spPr>
          <a:xfrm>
            <a:off x="11163300" y="6296025"/>
            <a:ext cx="3810000" cy="476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E16D0868-7F2F-4069-9609-A6DC1956B028}"/>
              </a:ext>
            </a:extLst>
          </p:cNvPr>
          <p:cNvSpPr>
            <a:spLocks noGrp="1"/>
          </p:cNvSpPr>
          <p:nvPr/>
        </p:nvSpPr>
        <p:spPr>
          <a:xfrm>
            <a:off x="11296650" y="6419850"/>
            <a:ext cx="35433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Type_fuel</a:t>
            </a: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D9953E14-E271-4A50-AE7A-C83466F1F522}"/>
              </a:ext>
            </a:extLst>
          </p:cNvPr>
          <p:cNvSpPr>
            <a:spLocks noGrp="1"/>
          </p:cNvSpPr>
          <p:nvPr/>
        </p:nvSpPr>
        <p:spPr>
          <a:xfrm>
            <a:off x="14973300" y="6296025"/>
            <a:ext cx="2495550" cy="476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025AF11C-8A9B-46E4-B78C-26291641B612}"/>
              </a:ext>
            </a:extLst>
          </p:cNvPr>
          <p:cNvSpPr>
            <a:spLocks noGrp="1"/>
          </p:cNvSpPr>
          <p:nvPr/>
        </p:nvSpPr>
        <p:spPr>
          <a:xfrm>
            <a:off x="15106650" y="6419850"/>
            <a:ext cx="2228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类别数值化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4FF968F-F9CA-42D9-AC24-E01A1D7AAE49}"/>
              </a:ext>
            </a:extLst>
          </p:cNvPr>
          <p:cNvSpPr>
            <a:spLocks noGrp="1"/>
          </p:cNvSpPr>
          <p:nvPr/>
        </p:nvSpPr>
        <p:spPr>
          <a:xfrm>
            <a:off x="9353550" y="7010400"/>
            <a:ext cx="81153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20796E"/>
                </a:solidFill>
              </a:defRPr>
            </a:pPr>
            <a:r>
              <a:rPr sz="2250" b="1">
                <a:solidFill>
                  <a:srgbClr val="20796E"/>
                </a:solidFill>
              </a:rPr>
              <a:t>最终输入不是简单堆字段，而是将业务时间、车辆属性和历史理赔信息统一为可复现的结构化特征矩阵。</a:t>
            </a:r>
          </a:p>
        </p:txBody>
      </p:sp>
    </p:spTree>
    <p:extLst>
      <p:ext uri="{BB962C8B-B14F-4D97-AF65-F5344CB8AC3E}">
        <p14:creationId xmlns:p14="http://schemas.microsoft.com/office/powerpoint/2010/main" val="1925721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3683A22B-45B6-4AF2-AF67-E66E87B2E6FB}"/>
              </a:ext>
            </a:extLst>
          </p:cNvPr>
          <p:cNvSpPr>
            <a:spLocks noGrp="1"/>
          </p:cNvSpPr>
          <p:nvPr/>
        </p:nvSpPr>
        <p:spPr>
          <a:xfrm>
            <a:off x="819150" y="609600"/>
            <a:ext cx="15868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20796E"/>
                </a:solidFill>
              </a:defRPr>
            </a:pPr>
            <a:r>
              <a:rPr sz="1650" b="1">
                <a:solidFill>
                  <a:srgbClr val="20796E"/>
                </a:solidFill>
              </a:rPr>
              <a:t>模型构建与优化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FEFFCBC-EF12-4357-88D8-D564409DB877}"/>
              </a:ext>
            </a:extLst>
          </p:cNvPr>
          <p:cNvSpPr>
            <a:spLocks noGrp="1"/>
          </p:cNvSpPr>
          <p:nvPr/>
        </p:nvSpPr>
        <p:spPr>
          <a:xfrm>
            <a:off x="819150" y="895350"/>
            <a:ext cx="1064895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0D172A"/>
                </a:solidFill>
              </a:defRPr>
            </a:pPr>
            <a:r>
              <a:rPr sz="4350" b="1">
                <a:solidFill>
                  <a:srgbClr val="0D172A"/>
                </a:solidFill>
              </a:rPr>
              <a:t>模型结构：残差式 MLP 面向表格数据二分类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819087F-5E75-4852-8B33-11E6DCBAC30E}"/>
              </a:ext>
            </a:extLst>
          </p:cNvPr>
          <p:cNvSpPr>
            <a:spLocks noGrp="1"/>
          </p:cNvSpPr>
          <p:nvPr/>
        </p:nvSpPr>
        <p:spPr>
          <a:xfrm>
            <a:off x="16916400" y="914400"/>
            <a:ext cx="552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20796E"/>
                </a:solidFill>
              </a:defRPr>
            </a:pPr>
            <a:r>
              <a:rPr sz="1800" b="1">
                <a:solidFill>
                  <a:srgbClr val="20796E"/>
                </a:solidFill>
              </a:rPr>
              <a:t>10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EF4D61E1-00C8-4A99-B2A1-5A3EE9BCA1A9}"/>
              </a:ext>
            </a:extLst>
          </p:cNvPr>
          <p:cNvSpPr>
            <a:spLocks noGrp="1"/>
          </p:cNvSpPr>
          <p:nvPr/>
        </p:nvSpPr>
        <p:spPr>
          <a:xfrm>
            <a:off x="819150" y="1771650"/>
            <a:ext cx="8774811" cy="7905750"/>
          </a:xfrm>
          <a:prstGeom prst="roundRect">
            <a:avLst>
              <a:gd name="adj" fmla="val 723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52500" y="4070260"/>
            <a:ext cx="8508111" cy="3308531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49B69E7-6F6E-4944-B440-8E2749F688DF}"/>
              </a:ext>
            </a:extLst>
          </p:cNvPr>
          <p:cNvSpPr>
            <a:spLocks noGrp="1"/>
          </p:cNvSpPr>
          <p:nvPr/>
        </p:nvSpPr>
        <p:spPr>
          <a:xfrm>
            <a:off x="10001250" y="4457700"/>
            <a:ext cx="74676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D172A"/>
                </a:solidFill>
              </a:defRPr>
            </a:pPr>
            <a:r>
              <a:rPr sz="2700" b="1">
                <a:solidFill>
                  <a:srgbClr val="0D172A"/>
                </a:solidFill>
              </a:rPr>
              <a:t>输入为标准化后的保单特征向量，输出为“是否发生理赔”的概率 logit。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931D8FD0-8194-4ADC-B2D0-CFB7A3A2AC9C}"/>
              </a:ext>
            </a:extLst>
          </p:cNvPr>
          <p:cNvSpPr>
            <a:spLocks noGrp="1"/>
          </p:cNvSpPr>
          <p:nvPr/>
        </p:nvSpPr>
        <p:spPr>
          <a:xfrm>
            <a:off x="10001250" y="5372100"/>
            <a:ext cx="114300" cy="114300"/>
          </a:xfrm>
          <a:prstGeom prst="ellipse">
            <a:avLst/>
          </a:prstGeom>
          <a:solidFill>
            <a:srgbClr val="2765E8"/>
          </a:solidFill>
          <a:ln w="0">
            <a:solidFill>
              <a:srgbClr val="2765E8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E35AFAD-AEA0-4A7A-AAFA-317E68572248}"/>
              </a:ext>
            </a:extLst>
          </p:cNvPr>
          <p:cNvSpPr>
            <a:spLocks noGrp="1"/>
          </p:cNvSpPr>
          <p:nvPr/>
        </p:nvSpPr>
        <p:spPr>
          <a:xfrm>
            <a:off x="10248900" y="5372100"/>
            <a:ext cx="72199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>
                <a:solidFill>
                  <a:srgbClr val="263246"/>
                </a:solidFill>
              </a:defRPr>
            </a:pPr>
            <a:r>
              <a:rPr sz="2175">
                <a:solidFill>
                  <a:srgbClr val="263246"/>
                </a:solidFill>
              </a:rPr>
              <a:t>残差块缓解网络加深后特征表达退化问题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BD71240E-1FCC-4FDF-B8C8-3092ED3CDE73}"/>
              </a:ext>
            </a:extLst>
          </p:cNvPr>
          <p:cNvSpPr>
            <a:spLocks noGrp="1"/>
          </p:cNvSpPr>
          <p:nvPr/>
        </p:nvSpPr>
        <p:spPr>
          <a:xfrm>
            <a:off x="10001250" y="5829300"/>
            <a:ext cx="114300" cy="114300"/>
          </a:xfrm>
          <a:prstGeom prst="ellipse">
            <a:avLst/>
          </a:prstGeom>
          <a:solidFill>
            <a:srgbClr val="C8D3DE"/>
          </a:solidFill>
          <a:ln w="0">
            <a:solidFill>
              <a:srgbClr val="C8D3DE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8CC9773-35C1-487F-8B6D-C6C2B3B77143}"/>
              </a:ext>
            </a:extLst>
          </p:cNvPr>
          <p:cNvSpPr>
            <a:spLocks noGrp="1"/>
          </p:cNvSpPr>
          <p:nvPr/>
        </p:nvSpPr>
        <p:spPr>
          <a:xfrm>
            <a:off x="10248900" y="5829300"/>
            <a:ext cx="72199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>
                <a:solidFill>
                  <a:srgbClr val="263246"/>
                </a:solidFill>
              </a:defRPr>
            </a:pPr>
            <a:r>
              <a:rPr sz="2175">
                <a:solidFill>
                  <a:srgbClr val="263246"/>
                </a:solidFill>
              </a:rPr>
              <a:t>LayerNorm 与 GELU 提升训练稳定性和非线性表达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D278C90F-17E3-4287-B669-443E4DC815AB}"/>
              </a:ext>
            </a:extLst>
          </p:cNvPr>
          <p:cNvSpPr>
            <a:spLocks noGrp="1"/>
          </p:cNvSpPr>
          <p:nvPr/>
        </p:nvSpPr>
        <p:spPr>
          <a:xfrm>
            <a:off x="10001250" y="6267450"/>
            <a:ext cx="114300" cy="114300"/>
          </a:xfrm>
          <a:prstGeom prst="ellipse">
            <a:avLst/>
          </a:prstGeom>
          <a:solidFill>
            <a:srgbClr val="C8D3DE"/>
          </a:solidFill>
          <a:ln w="0">
            <a:solidFill>
              <a:srgbClr val="C8D3DE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4DB2543-12B3-43E6-AD89-7EE4AE42A063}"/>
              </a:ext>
            </a:extLst>
          </p:cNvPr>
          <p:cNvSpPr>
            <a:spLocks noGrp="1"/>
          </p:cNvSpPr>
          <p:nvPr/>
        </p:nvSpPr>
        <p:spPr>
          <a:xfrm>
            <a:off x="10248900" y="6267450"/>
            <a:ext cx="72199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>
                <a:solidFill>
                  <a:srgbClr val="263246"/>
                </a:solidFill>
              </a:defRPr>
            </a:pPr>
            <a:r>
              <a:rPr sz="2175">
                <a:solidFill>
                  <a:srgbClr val="263246"/>
                </a:solidFill>
              </a:rPr>
              <a:t>Dropout 与 AdamW 配合控制过拟合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9690551D-EEB8-4817-AE0B-17C6D11EBBC0}"/>
              </a:ext>
            </a:extLst>
          </p:cNvPr>
          <p:cNvSpPr>
            <a:spLocks noGrp="1"/>
          </p:cNvSpPr>
          <p:nvPr/>
        </p:nvSpPr>
        <p:spPr>
          <a:xfrm>
            <a:off x="10001250" y="6724650"/>
            <a:ext cx="114300" cy="114300"/>
          </a:xfrm>
          <a:prstGeom prst="ellipse">
            <a:avLst/>
          </a:prstGeom>
          <a:solidFill>
            <a:srgbClr val="C8D3DE"/>
          </a:solidFill>
          <a:ln w="0">
            <a:solidFill>
              <a:srgbClr val="C8D3DE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451C708-837C-40DA-AB41-2698B3D6547A}"/>
              </a:ext>
            </a:extLst>
          </p:cNvPr>
          <p:cNvSpPr>
            <a:spLocks noGrp="1"/>
          </p:cNvSpPr>
          <p:nvPr/>
        </p:nvSpPr>
        <p:spPr>
          <a:xfrm>
            <a:off x="10248900" y="6724650"/>
            <a:ext cx="72199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>
                <a:solidFill>
                  <a:srgbClr val="263246"/>
                </a:solidFill>
              </a:defRPr>
            </a:pPr>
            <a:r>
              <a:rPr sz="2175">
                <a:solidFill>
                  <a:srgbClr val="263246"/>
                </a:solidFill>
              </a:rPr>
              <a:t>Sigmoid 概率结合最优阈值输出离散预测标签</a:t>
            </a:r>
          </a:p>
        </p:txBody>
      </p:sp>
    </p:spTree>
    <p:extLst>
      <p:ext uri="{BB962C8B-B14F-4D97-AF65-F5344CB8AC3E}">
        <p14:creationId xmlns:p14="http://schemas.microsoft.com/office/powerpoint/2010/main" val="1723678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A30F3DED-061D-484E-A26B-88E85AB9CE03}"/>
              </a:ext>
            </a:extLst>
          </p:cNvPr>
          <p:cNvSpPr>
            <a:spLocks noGrp="1"/>
          </p:cNvSpPr>
          <p:nvPr/>
        </p:nvSpPr>
        <p:spPr>
          <a:xfrm>
            <a:off x="819150" y="609600"/>
            <a:ext cx="15868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20796E"/>
                </a:solidFill>
              </a:defRPr>
            </a:pPr>
            <a:r>
              <a:rPr sz="1650" b="1">
                <a:solidFill>
                  <a:srgbClr val="20796E"/>
                </a:solidFill>
              </a:rPr>
              <a:t>训练流程设计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8F3A525-25B4-4AF2-8E23-FF76EA571DE7}"/>
              </a:ext>
            </a:extLst>
          </p:cNvPr>
          <p:cNvSpPr>
            <a:spLocks noGrp="1"/>
          </p:cNvSpPr>
          <p:nvPr/>
        </p:nvSpPr>
        <p:spPr>
          <a:xfrm>
            <a:off x="819150" y="895350"/>
            <a:ext cx="121539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0D172A"/>
                </a:solidFill>
              </a:defRPr>
            </a:pPr>
            <a:r>
              <a:rPr sz="4350" b="1">
                <a:solidFill>
                  <a:srgbClr val="0D172A"/>
                </a:solidFill>
              </a:rPr>
              <a:t>训练策略：在类别不均衡场景下兼顾召回与稳定性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4DA0234-1D06-4099-A8DF-154687136E9F}"/>
              </a:ext>
            </a:extLst>
          </p:cNvPr>
          <p:cNvSpPr>
            <a:spLocks noGrp="1"/>
          </p:cNvSpPr>
          <p:nvPr/>
        </p:nvSpPr>
        <p:spPr>
          <a:xfrm>
            <a:off x="16916400" y="914400"/>
            <a:ext cx="552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20796E"/>
                </a:solidFill>
              </a:defRPr>
            </a:pPr>
            <a:r>
              <a:rPr sz="1800" b="1">
                <a:solidFill>
                  <a:srgbClr val="20796E"/>
                </a:solidFill>
              </a:rPr>
              <a:t>11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B961B13C-2875-4DFF-9184-BEAA79D38F26}"/>
              </a:ext>
            </a:extLst>
          </p:cNvPr>
          <p:cNvSpPr>
            <a:spLocks noGrp="1"/>
          </p:cNvSpPr>
          <p:nvPr/>
        </p:nvSpPr>
        <p:spPr>
          <a:xfrm>
            <a:off x="819150" y="1771650"/>
            <a:ext cx="4162425" cy="6610350"/>
          </a:xfrm>
          <a:prstGeom prst="roundRect">
            <a:avLst>
              <a:gd name="adj" fmla="val 1373"/>
            </a:avLst>
          </a:prstGeom>
          <a:solidFill>
            <a:srgbClr val="FDEDEA"/>
          </a:solidFill>
          <a:ln w="9525">
            <a:solidFill>
              <a:srgbClr val="F5CBC5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346D74D-924A-4C77-B9E7-225AC8B42F03}"/>
              </a:ext>
            </a:extLst>
          </p:cNvPr>
          <p:cNvSpPr>
            <a:spLocks noGrp="1"/>
          </p:cNvSpPr>
          <p:nvPr/>
        </p:nvSpPr>
        <p:spPr>
          <a:xfrm>
            <a:off x="1104900" y="2057400"/>
            <a:ext cx="609600" cy="76200"/>
          </a:xfrm>
          <a:prstGeom prst="rect">
            <a:avLst/>
          </a:prstGeom>
          <a:solidFill>
            <a:srgbClr val="E15A4F"/>
          </a:solidFill>
          <a:ln w="0">
            <a:solidFill>
              <a:srgbClr val="E15A4F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28394DB-BAAE-4C28-A826-4B1CBD48C44C}"/>
              </a:ext>
            </a:extLst>
          </p:cNvPr>
          <p:cNvSpPr>
            <a:spLocks noGrp="1"/>
          </p:cNvSpPr>
          <p:nvPr/>
        </p:nvSpPr>
        <p:spPr>
          <a:xfrm>
            <a:off x="1085850" y="2228850"/>
            <a:ext cx="36385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正类权重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F6E6FE4-FA3A-48A7-A85A-6D61337F25F0}"/>
              </a:ext>
            </a:extLst>
          </p:cNvPr>
          <p:cNvSpPr>
            <a:spLocks noGrp="1"/>
          </p:cNvSpPr>
          <p:nvPr/>
        </p:nvSpPr>
        <p:spPr>
          <a:xfrm>
            <a:off x="1085850" y="2667000"/>
            <a:ext cx="363855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596A80"/>
                </a:solidFill>
              </a:defRPr>
            </a:pPr>
            <a:r>
              <a:rPr sz="1875">
                <a:solidFill>
                  <a:srgbClr val="596A80"/>
                </a:solidFill>
              </a:rPr>
              <a:t>使用带正类权重的 BCEWithLogitsLoss，提升模型对理赔样本的关注。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B2597A4-3068-469E-BEB4-E20E850C0894}"/>
              </a:ext>
            </a:extLst>
          </p:cNvPr>
          <p:cNvSpPr>
            <a:spLocks noGrp="1"/>
          </p:cNvSpPr>
          <p:nvPr/>
        </p:nvSpPr>
        <p:spPr>
          <a:xfrm>
            <a:off x="4981575" y="1771650"/>
            <a:ext cx="4162425" cy="6610350"/>
          </a:xfrm>
          <a:prstGeom prst="roundRect">
            <a:avLst>
              <a:gd name="adj" fmla="val 1373"/>
            </a:avLst>
          </a:prstGeom>
          <a:solidFill>
            <a:srgbClr val="EAF1FF"/>
          </a:solidFill>
          <a:ln w="9525">
            <a:solidFill>
              <a:srgbClr val="C9D8FF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A145EE9-71F3-4899-A530-4F11AD8742A8}"/>
              </a:ext>
            </a:extLst>
          </p:cNvPr>
          <p:cNvSpPr>
            <a:spLocks noGrp="1"/>
          </p:cNvSpPr>
          <p:nvPr/>
        </p:nvSpPr>
        <p:spPr>
          <a:xfrm>
            <a:off x="5257800" y="2057400"/>
            <a:ext cx="609600" cy="76200"/>
          </a:xfrm>
          <a:prstGeom prst="rect">
            <a:avLst/>
          </a:prstGeom>
          <a:solidFill>
            <a:srgbClr val="2765E8"/>
          </a:solidFill>
          <a:ln w="0">
            <a:solidFill>
              <a:srgbClr val="2765E8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45FAAF3-1C90-4C84-8F69-9742AFCB475D}"/>
              </a:ext>
            </a:extLst>
          </p:cNvPr>
          <p:cNvSpPr>
            <a:spLocks noGrp="1"/>
          </p:cNvSpPr>
          <p:nvPr/>
        </p:nvSpPr>
        <p:spPr>
          <a:xfrm>
            <a:off x="5257800" y="2228850"/>
            <a:ext cx="36385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自动阈值搜索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D947FA5-7A28-44D1-B50D-CCFD06C43E94}"/>
              </a:ext>
            </a:extLst>
          </p:cNvPr>
          <p:cNvSpPr>
            <a:spLocks noGrp="1"/>
          </p:cNvSpPr>
          <p:nvPr/>
        </p:nvSpPr>
        <p:spPr>
          <a:xfrm>
            <a:off x="5257800" y="2667000"/>
            <a:ext cx="363855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596A80"/>
                </a:solidFill>
              </a:defRPr>
            </a:pPr>
            <a:r>
              <a:rPr sz="1875">
                <a:solidFill>
                  <a:srgbClr val="596A80"/>
                </a:solidFill>
              </a:rPr>
              <a:t>在 0.05-0.95 区间搜索候选阈值，优先满足召回率约束。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095B2B28-ECD9-45A9-B543-0FFAC9AE7F02}"/>
              </a:ext>
            </a:extLst>
          </p:cNvPr>
          <p:cNvSpPr>
            <a:spLocks noGrp="1"/>
          </p:cNvSpPr>
          <p:nvPr/>
        </p:nvSpPr>
        <p:spPr>
          <a:xfrm>
            <a:off x="9144000" y="1771650"/>
            <a:ext cx="4162425" cy="6610350"/>
          </a:xfrm>
          <a:prstGeom prst="roundRect">
            <a:avLst>
              <a:gd name="adj" fmla="val 1373"/>
            </a:avLst>
          </a:prstGeom>
          <a:solidFill>
            <a:srgbClr val="E7F4F1"/>
          </a:solidFill>
          <a:ln w="9525">
            <a:solidFill>
              <a:srgbClr val="C8E3DC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8C18D68-0E6C-4517-8997-FAFD098894DA}"/>
              </a:ext>
            </a:extLst>
          </p:cNvPr>
          <p:cNvSpPr>
            <a:spLocks noGrp="1"/>
          </p:cNvSpPr>
          <p:nvPr/>
        </p:nvSpPr>
        <p:spPr>
          <a:xfrm>
            <a:off x="9410700" y="2057400"/>
            <a:ext cx="609600" cy="76200"/>
          </a:xfrm>
          <a:prstGeom prst="rect">
            <a:avLst/>
          </a:prstGeom>
          <a:solidFill>
            <a:srgbClr val="20796E"/>
          </a:solidFill>
          <a:ln w="0">
            <a:solidFill>
              <a:srgbClr val="20796E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04A343D-55ED-4ADE-8691-491E334F8017}"/>
              </a:ext>
            </a:extLst>
          </p:cNvPr>
          <p:cNvSpPr>
            <a:spLocks noGrp="1"/>
          </p:cNvSpPr>
          <p:nvPr/>
        </p:nvSpPr>
        <p:spPr>
          <a:xfrm>
            <a:off x="9410700" y="2228850"/>
            <a:ext cx="36385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优化与调度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4E3209F-8C95-4E5E-8D55-78886591622A}"/>
              </a:ext>
            </a:extLst>
          </p:cNvPr>
          <p:cNvSpPr>
            <a:spLocks noGrp="1"/>
          </p:cNvSpPr>
          <p:nvPr/>
        </p:nvSpPr>
        <p:spPr>
          <a:xfrm>
            <a:off x="9410700" y="2667000"/>
            <a:ext cx="3638550" cy="476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596A80"/>
                </a:solidFill>
              </a:defRPr>
            </a:pPr>
            <a:r>
              <a:rPr sz="1875">
                <a:solidFill>
                  <a:srgbClr val="596A80"/>
                </a:solidFill>
              </a:rPr>
              <a:t>AdamW 结合 Cosine Warmup 学习率调度，提高收敛稳定性。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7D02F79D-7A44-4F7B-B634-145126728E89}"/>
              </a:ext>
            </a:extLst>
          </p:cNvPr>
          <p:cNvSpPr>
            <a:spLocks noGrp="1"/>
          </p:cNvSpPr>
          <p:nvPr/>
        </p:nvSpPr>
        <p:spPr>
          <a:xfrm>
            <a:off x="13306425" y="1771650"/>
            <a:ext cx="4162425" cy="6610350"/>
          </a:xfrm>
          <a:prstGeom prst="roundRect">
            <a:avLst>
              <a:gd name="adj" fmla="val 1373"/>
            </a:avLst>
          </a:prstGeom>
          <a:solidFill>
            <a:srgbClr val="FFF3DD"/>
          </a:solidFill>
          <a:ln w="9525">
            <a:solidFill>
              <a:srgbClr val="F1D8A7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23FB3D1-8647-46AF-B9B0-FEC2DACDE157}"/>
              </a:ext>
            </a:extLst>
          </p:cNvPr>
          <p:cNvSpPr>
            <a:spLocks noGrp="1"/>
          </p:cNvSpPr>
          <p:nvPr/>
        </p:nvSpPr>
        <p:spPr>
          <a:xfrm>
            <a:off x="13563600" y="2057400"/>
            <a:ext cx="609600" cy="76200"/>
          </a:xfrm>
          <a:prstGeom prst="rect">
            <a:avLst/>
          </a:prstGeom>
          <a:solidFill>
            <a:srgbClr val="D88312"/>
          </a:solidFill>
          <a:ln w="0">
            <a:solidFill>
              <a:srgbClr val="D88312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0AF1348-616E-4794-B9F6-FB05AA1807B5}"/>
              </a:ext>
            </a:extLst>
          </p:cNvPr>
          <p:cNvSpPr>
            <a:spLocks noGrp="1"/>
          </p:cNvSpPr>
          <p:nvPr/>
        </p:nvSpPr>
        <p:spPr>
          <a:xfrm>
            <a:off x="13582650" y="2228850"/>
            <a:ext cx="36385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训练保护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472BA80-B7F9-44FE-87F1-381F03E031B0}"/>
              </a:ext>
            </a:extLst>
          </p:cNvPr>
          <p:cNvSpPr>
            <a:spLocks noGrp="1"/>
          </p:cNvSpPr>
          <p:nvPr/>
        </p:nvSpPr>
        <p:spPr>
          <a:xfrm>
            <a:off x="13582650" y="2667000"/>
            <a:ext cx="363855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596A80"/>
                </a:solidFill>
              </a:defRPr>
            </a:pPr>
            <a:r>
              <a:rPr sz="1875">
                <a:solidFill>
                  <a:srgbClr val="596A80"/>
                </a:solidFill>
              </a:rPr>
              <a:t>Early Stopping、AMP 混合精度和梯度裁剪减少过拟合与数值波动。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30B90738-CA91-48E9-B4BA-0DB4A61F0C3E}"/>
              </a:ext>
            </a:extLst>
          </p:cNvPr>
          <p:cNvSpPr>
            <a:spLocks noGrp="1"/>
          </p:cNvSpPr>
          <p:nvPr/>
        </p:nvSpPr>
        <p:spPr>
          <a:xfrm>
            <a:off x="819150" y="8705850"/>
            <a:ext cx="16649700" cy="97155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2C76B5A-1B0C-4951-9910-6408F9251D61}"/>
              </a:ext>
            </a:extLst>
          </p:cNvPr>
          <p:cNvSpPr>
            <a:spLocks noGrp="1"/>
          </p:cNvSpPr>
          <p:nvPr/>
        </p:nvSpPr>
        <p:spPr>
          <a:xfrm>
            <a:off x="1085850" y="8896350"/>
            <a:ext cx="16116300" cy="590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1">
                <a:solidFill>
                  <a:srgbClr val="20796E"/>
                </a:solidFill>
              </a:defRPr>
            </a:pPr>
            <a:r>
              <a:rPr sz="2325" b="1">
                <a:solidFill>
                  <a:srgbClr val="20796E"/>
                </a:solidFill>
              </a:rPr>
              <a:t>业务含义：模型先输出理赔概率，阈值搜索再决定分类边界。这样可以在风控场景中适度接受误报，尽量减少高风险保单漏判。</a:t>
            </a:r>
          </a:p>
        </p:txBody>
      </p:sp>
    </p:spTree>
    <p:extLst>
      <p:ext uri="{BB962C8B-B14F-4D97-AF65-F5344CB8AC3E}">
        <p14:creationId xmlns:p14="http://schemas.microsoft.com/office/powerpoint/2010/main" val="9909620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矩形 64">
            <a:extLst>
              <a:ext uri="{FF2B5EF4-FFF2-40B4-BE49-F238E27FC236}">
                <a16:creationId xmlns:a16="http://schemas.microsoft.com/office/drawing/2014/main" id="{06237B95-A777-40B6-8E59-1F79194A912F}"/>
              </a:ext>
            </a:extLst>
          </p:cNvPr>
          <p:cNvSpPr>
            <a:spLocks noGrp="1"/>
          </p:cNvSpPr>
          <p:nvPr/>
        </p:nvSpPr>
        <p:spPr>
          <a:xfrm>
            <a:off x="819150" y="609600"/>
            <a:ext cx="15868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20796E"/>
                </a:solidFill>
              </a:defRPr>
            </a:pPr>
            <a:r>
              <a:rPr sz="1650" b="1">
                <a:solidFill>
                  <a:srgbClr val="20796E"/>
                </a:solidFill>
              </a:rPr>
              <a:t>性能评估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B267AB9-DEBF-4098-A767-4D46E815B38D}"/>
              </a:ext>
            </a:extLst>
          </p:cNvPr>
          <p:cNvSpPr>
            <a:spLocks noGrp="1"/>
          </p:cNvSpPr>
          <p:nvPr/>
        </p:nvSpPr>
        <p:spPr>
          <a:xfrm>
            <a:off x="819150" y="895350"/>
            <a:ext cx="121539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0D172A"/>
                </a:solidFill>
              </a:defRPr>
            </a:pPr>
            <a:r>
              <a:rPr sz="4350" b="1">
                <a:solidFill>
                  <a:srgbClr val="0D172A"/>
                </a:solidFill>
              </a:rPr>
              <a:t>模型评估：整体排序能力与理赔样本召回表现良好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61A3040-E405-44D6-B41E-28E8F4DE1F83}"/>
              </a:ext>
            </a:extLst>
          </p:cNvPr>
          <p:cNvSpPr>
            <a:spLocks noGrp="1"/>
          </p:cNvSpPr>
          <p:nvPr/>
        </p:nvSpPr>
        <p:spPr>
          <a:xfrm>
            <a:off x="16916400" y="914400"/>
            <a:ext cx="552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20796E"/>
                </a:solidFill>
              </a:defRPr>
            </a:pPr>
            <a:r>
              <a:rPr sz="1800" b="1">
                <a:solidFill>
                  <a:srgbClr val="20796E"/>
                </a:solidFill>
              </a:rPr>
              <a:t>12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D3A2C76-2D26-4DA9-904A-F6DAB4628D83}"/>
              </a:ext>
            </a:extLst>
          </p:cNvPr>
          <p:cNvSpPr>
            <a:spLocks noGrp="1"/>
          </p:cNvSpPr>
          <p:nvPr/>
        </p:nvSpPr>
        <p:spPr>
          <a:xfrm>
            <a:off x="819150" y="3638550"/>
            <a:ext cx="609600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950" b="1">
                <a:solidFill>
                  <a:srgbClr val="20796E"/>
                </a:solidFill>
              </a:defRPr>
            </a:pPr>
            <a:r>
              <a:rPr sz="4950" b="1">
                <a:solidFill>
                  <a:srgbClr val="20796E"/>
                </a:solidFill>
              </a:rPr>
              <a:t>0.9604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8750882-0ED4-4A4D-B2B5-5253DE76AE76}"/>
              </a:ext>
            </a:extLst>
          </p:cNvPr>
          <p:cNvSpPr>
            <a:spLocks noGrp="1"/>
          </p:cNvSpPr>
          <p:nvPr/>
        </p:nvSpPr>
        <p:spPr>
          <a:xfrm>
            <a:off x="819150" y="4343400"/>
            <a:ext cx="60960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AUC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6D6FCF0-5AA3-4AC2-B802-9C9597A4C792}"/>
              </a:ext>
            </a:extLst>
          </p:cNvPr>
          <p:cNvSpPr>
            <a:spLocks noGrp="1"/>
          </p:cNvSpPr>
          <p:nvPr/>
        </p:nvSpPr>
        <p:spPr>
          <a:xfrm>
            <a:off x="819150" y="4667250"/>
            <a:ext cx="60960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96A80"/>
                </a:solidFill>
              </a:defRPr>
            </a:pPr>
            <a:r>
              <a:rPr sz="1500">
                <a:solidFill>
                  <a:srgbClr val="596A80"/>
                </a:solidFill>
              </a:rPr>
              <a:t>测试集 10,557 条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D5C3BFD-AB27-4280-8D9C-CB034AF6F61C}"/>
              </a:ext>
            </a:extLst>
          </p:cNvPr>
          <p:cNvSpPr>
            <a:spLocks noGrp="1"/>
          </p:cNvSpPr>
          <p:nvPr/>
        </p:nvSpPr>
        <p:spPr>
          <a:xfrm>
            <a:off x="819150" y="5124450"/>
            <a:ext cx="609600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950" b="1">
                <a:solidFill>
                  <a:srgbClr val="E15A4F"/>
                </a:solidFill>
              </a:defRPr>
            </a:pPr>
            <a:r>
              <a:rPr sz="4950" b="1">
                <a:solidFill>
                  <a:srgbClr val="E15A4F"/>
                </a:solidFill>
              </a:rPr>
              <a:t>0.8305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3675253-C5F2-4AD7-B976-5F14F7193793}"/>
              </a:ext>
            </a:extLst>
          </p:cNvPr>
          <p:cNvSpPr>
            <a:spLocks noGrp="1"/>
          </p:cNvSpPr>
          <p:nvPr/>
        </p:nvSpPr>
        <p:spPr>
          <a:xfrm>
            <a:off x="819150" y="5829300"/>
            <a:ext cx="60960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Claim Recall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B38B3CB-B625-416D-A499-699052742AC6}"/>
              </a:ext>
            </a:extLst>
          </p:cNvPr>
          <p:cNvSpPr>
            <a:spLocks noGrp="1"/>
          </p:cNvSpPr>
          <p:nvPr/>
        </p:nvSpPr>
        <p:spPr>
          <a:xfrm>
            <a:off x="819150" y="6134100"/>
            <a:ext cx="60960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96A80"/>
                </a:solidFill>
              </a:defRPr>
            </a:pPr>
            <a:r>
              <a:rPr sz="1500">
                <a:solidFill>
                  <a:srgbClr val="596A80"/>
                </a:solidFill>
              </a:rPr>
              <a:t>理赔样本召回率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0998D00-CFCB-42CB-ADE1-147CE60723FC}"/>
              </a:ext>
            </a:extLst>
          </p:cNvPr>
          <p:cNvSpPr>
            <a:spLocks noGrp="1"/>
          </p:cNvSpPr>
          <p:nvPr/>
        </p:nvSpPr>
        <p:spPr>
          <a:xfrm>
            <a:off x="819150" y="6591300"/>
            <a:ext cx="609600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950" b="1">
                <a:solidFill>
                  <a:srgbClr val="2765E8"/>
                </a:solidFill>
              </a:defRPr>
            </a:pPr>
            <a:r>
              <a:rPr sz="4950" b="1">
                <a:solidFill>
                  <a:srgbClr val="2765E8"/>
                </a:solidFill>
              </a:rPr>
              <a:t>0.9121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788B706-0834-4066-B892-27442480D8C3}"/>
              </a:ext>
            </a:extLst>
          </p:cNvPr>
          <p:cNvSpPr>
            <a:spLocks noGrp="1"/>
          </p:cNvSpPr>
          <p:nvPr/>
        </p:nvSpPr>
        <p:spPr>
          <a:xfrm>
            <a:off x="819150" y="7296150"/>
            <a:ext cx="60960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Weighted F1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D90FDA7-AD4E-4DB0-A2E4-948F09742906}"/>
              </a:ext>
            </a:extLst>
          </p:cNvPr>
          <p:cNvSpPr>
            <a:spLocks noGrp="1"/>
          </p:cNvSpPr>
          <p:nvPr/>
        </p:nvSpPr>
        <p:spPr>
          <a:xfrm>
            <a:off x="819150" y="7620000"/>
            <a:ext cx="60960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596A80"/>
                </a:solidFill>
              </a:defRPr>
            </a:pPr>
            <a:r>
              <a:rPr sz="1500">
                <a:solidFill>
                  <a:srgbClr val="596A80"/>
                </a:solidFill>
              </a:rPr>
              <a:t>加权平均 F1-score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DB0CC70-A7F9-49CC-97A8-F3E62A7493B4}"/>
              </a:ext>
            </a:extLst>
          </p:cNvPr>
          <p:cNvSpPr>
            <a:spLocks noGrp="1"/>
          </p:cNvSpPr>
          <p:nvPr/>
        </p:nvSpPr>
        <p:spPr>
          <a:xfrm>
            <a:off x="7312819" y="2933700"/>
            <a:ext cx="1524000" cy="514350"/>
          </a:xfrm>
          <a:prstGeom prst="roundRect">
            <a:avLst>
              <a:gd name="adj" fmla="val 3704"/>
            </a:avLst>
          </a:prstGeom>
          <a:solidFill>
            <a:srgbClr val="0D172A"/>
          </a:solidFill>
          <a:ln w="9525">
            <a:solidFill>
              <a:srgbClr val="D8E1EA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9F2705F-3AEC-4BDA-8DA9-8A69F253493D}"/>
              </a:ext>
            </a:extLst>
          </p:cNvPr>
          <p:cNvSpPr>
            <a:spLocks noGrp="1"/>
          </p:cNvSpPr>
          <p:nvPr/>
        </p:nvSpPr>
        <p:spPr>
          <a:xfrm>
            <a:off x="7448550" y="3048000"/>
            <a:ext cx="12573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类别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936682C9-8E7E-4E0E-8C3E-199BB5461262}"/>
              </a:ext>
            </a:extLst>
          </p:cNvPr>
          <p:cNvSpPr>
            <a:spLocks noGrp="1"/>
          </p:cNvSpPr>
          <p:nvPr/>
        </p:nvSpPr>
        <p:spPr>
          <a:xfrm>
            <a:off x="8836819" y="2933700"/>
            <a:ext cx="1428750" cy="514350"/>
          </a:xfrm>
          <a:prstGeom prst="roundRect">
            <a:avLst>
              <a:gd name="adj" fmla="val 3704"/>
            </a:avLst>
          </a:prstGeom>
          <a:solidFill>
            <a:srgbClr val="0D172A"/>
          </a:solidFill>
          <a:ln w="9525">
            <a:solidFill>
              <a:srgbClr val="D8E1EA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69CEB2B-4F1A-4A2B-BD07-80E164552D1D}"/>
              </a:ext>
            </a:extLst>
          </p:cNvPr>
          <p:cNvSpPr>
            <a:spLocks noGrp="1"/>
          </p:cNvSpPr>
          <p:nvPr/>
        </p:nvSpPr>
        <p:spPr>
          <a:xfrm>
            <a:off x="8972550" y="3048000"/>
            <a:ext cx="11620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Precision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53E940C-9924-4E42-A45D-579D6D596CC3}"/>
              </a:ext>
            </a:extLst>
          </p:cNvPr>
          <p:cNvSpPr>
            <a:spLocks noGrp="1"/>
          </p:cNvSpPr>
          <p:nvPr/>
        </p:nvSpPr>
        <p:spPr>
          <a:xfrm>
            <a:off x="10265569" y="2933700"/>
            <a:ext cx="1428750" cy="514350"/>
          </a:xfrm>
          <a:prstGeom prst="roundRect">
            <a:avLst>
              <a:gd name="adj" fmla="val 3704"/>
            </a:avLst>
          </a:prstGeom>
          <a:solidFill>
            <a:srgbClr val="0D172A"/>
          </a:solidFill>
          <a:ln w="9525">
            <a:solidFill>
              <a:srgbClr val="D8E1EA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DCE936F-80EF-4CF0-A75B-8CD2135E0D0D}"/>
              </a:ext>
            </a:extLst>
          </p:cNvPr>
          <p:cNvSpPr>
            <a:spLocks noGrp="1"/>
          </p:cNvSpPr>
          <p:nvPr/>
        </p:nvSpPr>
        <p:spPr>
          <a:xfrm>
            <a:off x="10401300" y="3048000"/>
            <a:ext cx="11620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92C862CC-B90A-472A-94F1-51A442744A19}"/>
              </a:ext>
            </a:extLst>
          </p:cNvPr>
          <p:cNvSpPr>
            <a:spLocks noGrp="1"/>
          </p:cNvSpPr>
          <p:nvPr/>
        </p:nvSpPr>
        <p:spPr>
          <a:xfrm>
            <a:off x="11694319" y="2933700"/>
            <a:ext cx="1524000" cy="514350"/>
          </a:xfrm>
          <a:prstGeom prst="roundRect">
            <a:avLst>
              <a:gd name="adj" fmla="val 3704"/>
            </a:avLst>
          </a:prstGeom>
          <a:solidFill>
            <a:srgbClr val="0D172A"/>
          </a:solidFill>
          <a:ln w="9525">
            <a:solidFill>
              <a:srgbClr val="D8E1EA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24B0791-0A9D-4D29-AD4E-D202DE215B72}"/>
              </a:ext>
            </a:extLst>
          </p:cNvPr>
          <p:cNvSpPr>
            <a:spLocks noGrp="1"/>
          </p:cNvSpPr>
          <p:nvPr/>
        </p:nvSpPr>
        <p:spPr>
          <a:xfrm>
            <a:off x="11830050" y="3048000"/>
            <a:ext cx="12573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F1-score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FB9284BA-9857-4DE1-93E6-FA9BF1B50501}"/>
              </a:ext>
            </a:extLst>
          </p:cNvPr>
          <p:cNvSpPr>
            <a:spLocks noGrp="1"/>
          </p:cNvSpPr>
          <p:nvPr/>
        </p:nvSpPr>
        <p:spPr>
          <a:xfrm>
            <a:off x="13218319" y="2933700"/>
            <a:ext cx="1238250" cy="514350"/>
          </a:xfrm>
          <a:prstGeom prst="roundRect">
            <a:avLst>
              <a:gd name="adj" fmla="val 3704"/>
            </a:avLst>
          </a:prstGeom>
          <a:solidFill>
            <a:srgbClr val="0D172A"/>
          </a:solidFill>
          <a:ln w="9525">
            <a:solidFill>
              <a:srgbClr val="D8E1EA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E708053-97B5-4176-9180-B1BEB2338602}"/>
              </a:ext>
            </a:extLst>
          </p:cNvPr>
          <p:cNvSpPr>
            <a:spLocks noGrp="1"/>
          </p:cNvSpPr>
          <p:nvPr/>
        </p:nvSpPr>
        <p:spPr>
          <a:xfrm>
            <a:off x="13354050" y="3048000"/>
            <a:ext cx="9715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样本数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E82D445F-7D16-43DA-A9C4-ECBF8F126EC1}"/>
              </a:ext>
            </a:extLst>
          </p:cNvPr>
          <p:cNvSpPr>
            <a:spLocks noGrp="1"/>
          </p:cNvSpPr>
          <p:nvPr/>
        </p:nvSpPr>
        <p:spPr>
          <a:xfrm>
            <a:off x="7312819" y="3448050"/>
            <a:ext cx="1524000" cy="476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D46AB6B-C1BB-4121-83CE-6C1EC4EAABB9}"/>
              </a:ext>
            </a:extLst>
          </p:cNvPr>
          <p:cNvSpPr>
            <a:spLocks noGrp="1"/>
          </p:cNvSpPr>
          <p:nvPr/>
        </p:nvSpPr>
        <p:spPr>
          <a:xfrm>
            <a:off x="7448550" y="3562350"/>
            <a:ext cx="12573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No Claim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9F3310BF-99F5-4EF2-8D9F-D32342AAF663}"/>
              </a:ext>
            </a:extLst>
          </p:cNvPr>
          <p:cNvSpPr>
            <a:spLocks noGrp="1"/>
          </p:cNvSpPr>
          <p:nvPr/>
        </p:nvSpPr>
        <p:spPr>
          <a:xfrm>
            <a:off x="8836819" y="3448050"/>
            <a:ext cx="1428750" cy="476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409E4C2-7224-414E-B151-B22D4494362F}"/>
              </a:ext>
            </a:extLst>
          </p:cNvPr>
          <p:cNvSpPr>
            <a:spLocks noGrp="1"/>
          </p:cNvSpPr>
          <p:nvPr/>
        </p:nvSpPr>
        <p:spPr>
          <a:xfrm>
            <a:off x="8972550" y="3562350"/>
            <a:ext cx="11620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0.9599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4E6AE669-9BDC-4520-A87E-1069251B4CAB}"/>
              </a:ext>
            </a:extLst>
          </p:cNvPr>
          <p:cNvSpPr>
            <a:spLocks noGrp="1"/>
          </p:cNvSpPr>
          <p:nvPr/>
        </p:nvSpPr>
        <p:spPr>
          <a:xfrm>
            <a:off x="10265569" y="3448050"/>
            <a:ext cx="1428750" cy="476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A3AA8E6-F340-4E7C-8120-7B247E5E0BBE}"/>
              </a:ext>
            </a:extLst>
          </p:cNvPr>
          <p:cNvSpPr>
            <a:spLocks noGrp="1"/>
          </p:cNvSpPr>
          <p:nvPr/>
        </p:nvSpPr>
        <p:spPr>
          <a:xfrm>
            <a:off x="10401300" y="3562350"/>
            <a:ext cx="11620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0.9280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0FC28C8F-2DD7-4448-8C85-B6B228DC3C4F}"/>
              </a:ext>
            </a:extLst>
          </p:cNvPr>
          <p:cNvSpPr>
            <a:spLocks noGrp="1"/>
          </p:cNvSpPr>
          <p:nvPr/>
        </p:nvSpPr>
        <p:spPr>
          <a:xfrm>
            <a:off x="11694319" y="3448050"/>
            <a:ext cx="1524000" cy="476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39C7B1F-7085-430B-B973-6FE8B8DD41C9}"/>
              </a:ext>
            </a:extLst>
          </p:cNvPr>
          <p:cNvSpPr>
            <a:spLocks noGrp="1"/>
          </p:cNvSpPr>
          <p:nvPr/>
        </p:nvSpPr>
        <p:spPr>
          <a:xfrm>
            <a:off x="11830050" y="3562350"/>
            <a:ext cx="12573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0.9437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7D01AB3B-DBFB-4144-B5BD-9D73A4E14BC7}"/>
              </a:ext>
            </a:extLst>
          </p:cNvPr>
          <p:cNvSpPr>
            <a:spLocks noGrp="1"/>
          </p:cNvSpPr>
          <p:nvPr/>
        </p:nvSpPr>
        <p:spPr>
          <a:xfrm>
            <a:off x="13218319" y="3448050"/>
            <a:ext cx="1238250" cy="476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41F5F6A-6F6E-4C66-A6D5-11DE1248415A}"/>
              </a:ext>
            </a:extLst>
          </p:cNvPr>
          <p:cNvSpPr>
            <a:spLocks noGrp="1"/>
          </p:cNvSpPr>
          <p:nvPr/>
        </p:nvSpPr>
        <p:spPr>
          <a:xfrm>
            <a:off x="13354050" y="3562350"/>
            <a:ext cx="9715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8592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BEE1EB6D-487F-45A2-A712-B78412A9F9DA}"/>
              </a:ext>
            </a:extLst>
          </p:cNvPr>
          <p:cNvSpPr>
            <a:spLocks noGrp="1"/>
          </p:cNvSpPr>
          <p:nvPr/>
        </p:nvSpPr>
        <p:spPr>
          <a:xfrm>
            <a:off x="7312819" y="3924300"/>
            <a:ext cx="1524000" cy="476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8A17407-BC9C-461B-AF6D-2C3B05685415}"/>
              </a:ext>
            </a:extLst>
          </p:cNvPr>
          <p:cNvSpPr>
            <a:spLocks noGrp="1"/>
          </p:cNvSpPr>
          <p:nvPr/>
        </p:nvSpPr>
        <p:spPr>
          <a:xfrm>
            <a:off x="7448550" y="4038600"/>
            <a:ext cx="12573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Claim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1414C45C-C9E1-45B5-8FD1-3DB8BEFB524C}"/>
              </a:ext>
            </a:extLst>
          </p:cNvPr>
          <p:cNvSpPr>
            <a:spLocks noGrp="1"/>
          </p:cNvSpPr>
          <p:nvPr/>
        </p:nvSpPr>
        <p:spPr>
          <a:xfrm>
            <a:off x="8836819" y="3924300"/>
            <a:ext cx="1428750" cy="476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463C25C-EF6B-4A1D-8532-5B3B53832121}"/>
              </a:ext>
            </a:extLst>
          </p:cNvPr>
          <p:cNvSpPr>
            <a:spLocks noGrp="1"/>
          </p:cNvSpPr>
          <p:nvPr/>
        </p:nvSpPr>
        <p:spPr>
          <a:xfrm>
            <a:off x="8972550" y="4038600"/>
            <a:ext cx="11620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0.7250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E733C92D-3176-452A-9420-0B2AAF634799}"/>
              </a:ext>
            </a:extLst>
          </p:cNvPr>
          <p:cNvSpPr>
            <a:spLocks noGrp="1"/>
          </p:cNvSpPr>
          <p:nvPr/>
        </p:nvSpPr>
        <p:spPr>
          <a:xfrm>
            <a:off x="10265569" y="3924300"/>
            <a:ext cx="1428750" cy="476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43CE3DA-1C6D-4940-A92F-A130C695B747}"/>
              </a:ext>
            </a:extLst>
          </p:cNvPr>
          <p:cNvSpPr>
            <a:spLocks noGrp="1"/>
          </p:cNvSpPr>
          <p:nvPr/>
        </p:nvSpPr>
        <p:spPr>
          <a:xfrm>
            <a:off x="10401300" y="4038600"/>
            <a:ext cx="11620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0.8305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902EE906-EECE-4AC8-85A4-A1F94F83EEF0}"/>
              </a:ext>
            </a:extLst>
          </p:cNvPr>
          <p:cNvSpPr>
            <a:spLocks noGrp="1"/>
          </p:cNvSpPr>
          <p:nvPr/>
        </p:nvSpPr>
        <p:spPr>
          <a:xfrm>
            <a:off x="11694319" y="3924300"/>
            <a:ext cx="1524000" cy="476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AA0F2C80-D8C2-4172-A2F4-52589B17329C}"/>
              </a:ext>
            </a:extLst>
          </p:cNvPr>
          <p:cNvSpPr>
            <a:spLocks noGrp="1"/>
          </p:cNvSpPr>
          <p:nvPr/>
        </p:nvSpPr>
        <p:spPr>
          <a:xfrm>
            <a:off x="11830050" y="4038600"/>
            <a:ext cx="12573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0.7742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321F60CC-CF89-44CC-9B96-3D12B9E5469B}"/>
              </a:ext>
            </a:extLst>
          </p:cNvPr>
          <p:cNvSpPr>
            <a:spLocks noGrp="1"/>
          </p:cNvSpPr>
          <p:nvPr/>
        </p:nvSpPr>
        <p:spPr>
          <a:xfrm>
            <a:off x="13218319" y="3924300"/>
            <a:ext cx="1238250" cy="476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0E9C371-FD65-4CB3-858F-A8C6F6FB9CA6}"/>
              </a:ext>
            </a:extLst>
          </p:cNvPr>
          <p:cNvSpPr>
            <a:spLocks noGrp="1"/>
          </p:cNvSpPr>
          <p:nvPr/>
        </p:nvSpPr>
        <p:spPr>
          <a:xfrm>
            <a:off x="13354050" y="4038600"/>
            <a:ext cx="9715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1965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8AB9FC49-B869-4515-9AFB-9DD28A86F7C8}"/>
              </a:ext>
            </a:extLst>
          </p:cNvPr>
          <p:cNvSpPr>
            <a:spLocks noGrp="1"/>
          </p:cNvSpPr>
          <p:nvPr/>
        </p:nvSpPr>
        <p:spPr>
          <a:xfrm>
            <a:off x="7312819" y="4400550"/>
            <a:ext cx="1524000" cy="476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974C84C-C195-4F6F-89A6-BE6E372A3B7A}"/>
              </a:ext>
            </a:extLst>
          </p:cNvPr>
          <p:cNvSpPr>
            <a:spLocks noGrp="1"/>
          </p:cNvSpPr>
          <p:nvPr/>
        </p:nvSpPr>
        <p:spPr>
          <a:xfrm>
            <a:off x="7448550" y="4514850"/>
            <a:ext cx="12573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加权平均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EBFBBA8D-6E01-4C9E-B435-D3C732C22828}"/>
              </a:ext>
            </a:extLst>
          </p:cNvPr>
          <p:cNvSpPr>
            <a:spLocks noGrp="1"/>
          </p:cNvSpPr>
          <p:nvPr/>
        </p:nvSpPr>
        <p:spPr>
          <a:xfrm>
            <a:off x="8836819" y="4400550"/>
            <a:ext cx="1428750" cy="476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D538C539-52F2-4DCA-9878-8D1968F7B24A}"/>
              </a:ext>
            </a:extLst>
          </p:cNvPr>
          <p:cNvSpPr>
            <a:spLocks noGrp="1"/>
          </p:cNvSpPr>
          <p:nvPr/>
        </p:nvSpPr>
        <p:spPr>
          <a:xfrm>
            <a:off x="8972550" y="4514850"/>
            <a:ext cx="11620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0.9162</a:t>
            </a: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F442E816-3D44-41D1-9A94-609F254B5BFF}"/>
              </a:ext>
            </a:extLst>
          </p:cNvPr>
          <p:cNvSpPr>
            <a:spLocks noGrp="1"/>
          </p:cNvSpPr>
          <p:nvPr/>
        </p:nvSpPr>
        <p:spPr>
          <a:xfrm>
            <a:off x="10265569" y="4400550"/>
            <a:ext cx="1428750" cy="476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8B580887-7F04-4E9B-8DCC-74EC65354F98}"/>
              </a:ext>
            </a:extLst>
          </p:cNvPr>
          <p:cNvSpPr>
            <a:spLocks noGrp="1"/>
          </p:cNvSpPr>
          <p:nvPr/>
        </p:nvSpPr>
        <p:spPr>
          <a:xfrm>
            <a:off x="10401300" y="4514850"/>
            <a:ext cx="11620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0.9098</a:t>
            </a: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CACB67BB-C80D-4A2C-8E07-2C80C436E71D}"/>
              </a:ext>
            </a:extLst>
          </p:cNvPr>
          <p:cNvSpPr>
            <a:spLocks noGrp="1"/>
          </p:cNvSpPr>
          <p:nvPr/>
        </p:nvSpPr>
        <p:spPr>
          <a:xfrm>
            <a:off x="11694319" y="4400550"/>
            <a:ext cx="1524000" cy="476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D3773DA1-126A-48D4-BEA2-6EEFFC217E21}"/>
              </a:ext>
            </a:extLst>
          </p:cNvPr>
          <p:cNvSpPr>
            <a:spLocks noGrp="1"/>
          </p:cNvSpPr>
          <p:nvPr/>
        </p:nvSpPr>
        <p:spPr>
          <a:xfrm>
            <a:off x="11830050" y="4514850"/>
            <a:ext cx="12573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0.9121</a:t>
            </a: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002A4617-4F8D-44FE-B9C9-7E1A1BEFBDCD}"/>
              </a:ext>
            </a:extLst>
          </p:cNvPr>
          <p:cNvSpPr>
            <a:spLocks noGrp="1"/>
          </p:cNvSpPr>
          <p:nvPr/>
        </p:nvSpPr>
        <p:spPr>
          <a:xfrm>
            <a:off x="13218319" y="4400550"/>
            <a:ext cx="1238250" cy="476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D5E55B52-525E-406C-A74A-6D81D58ACD3D}"/>
              </a:ext>
            </a:extLst>
          </p:cNvPr>
          <p:cNvSpPr>
            <a:spLocks noGrp="1"/>
          </p:cNvSpPr>
          <p:nvPr/>
        </p:nvSpPr>
        <p:spPr>
          <a:xfrm>
            <a:off x="13354050" y="4514850"/>
            <a:ext cx="9715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-</a:t>
            </a: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D69E97FD-B181-4C18-B6C5-D65625595990}"/>
              </a:ext>
            </a:extLst>
          </p:cNvPr>
          <p:cNvSpPr>
            <a:spLocks noGrp="1"/>
          </p:cNvSpPr>
          <p:nvPr/>
        </p:nvSpPr>
        <p:spPr>
          <a:xfrm>
            <a:off x="7312819" y="5086350"/>
            <a:ext cx="2539008" cy="3429000"/>
          </a:xfrm>
          <a:prstGeom prst="roundRect">
            <a:avLst>
              <a:gd name="adj" fmla="val 2251"/>
            </a:avLst>
          </a:prstGeom>
          <a:solidFill>
            <a:srgbClr val="124D77"/>
          </a:solidFill>
          <a:ln w="9525">
            <a:solidFill>
              <a:srgbClr val="124D77"/>
            </a:solidFill>
            <a:prstDash val="solid"/>
          </a:ln>
        </p:spPr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1F8F1385-F788-4AE9-9E47-4B193BD65821}"/>
              </a:ext>
            </a:extLst>
          </p:cNvPr>
          <p:cNvSpPr>
            <a:spLocks noGrp="1"/>
          </p:cNvSpPr>
          <p:nvPr/>
        </p:nvSpPr>
        <p:spPr>
          <a:xfrm>
            <a:off x="7581900" y="6438900"/>
            <a:ext cx="200025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7973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6CF7DB45-864D-4AD0-A8B4-0BC0B8F82F0D}"/>
              </a:ext>
            </a:extLst>
          </p:cNvPr>
          <p:cNvSpPr>
            <a:spLocks noGrp="1"/>
          </p:cNvSpPr>
          <p:nvPr/>
        </p:nvSpPr>
        <p:spPr>
          <a:xfrm>
            <a:off x="7581900" y="6953250"/>
            <a:ext cx="20002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D5EAF2"/>
                </a:solidFill>
              </a:defRPr>
            </a:pPr>
            <a:r>
              <a:rPr sz="1650">
                <a:solidFill>
                  <a:srgbClr val="D5EAF2"/>
                </a:solidFill>
              </a:rPr>
              <a:t>TN</a:t>
            </a: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FB8C6B17-023F-48F5-B69E-4775452F4735}"/>
              </a:ext>
            </a:extLst>
          </p:cNvPr>
          <p:cNvSpPr>
            <a:spLocks noGrp="1"/>
          </p:cNvSpPr>
          <p:nvPr/>
        </p:nvSpPr>
        <p:spPr>
          <a:xfrm>
            <a:off x="9851827" y="5086350"/>
            <a:ext cx="2539008" cy="3429000"/>
          </a:xfrm>
          <a:prstGeom prst="roundRect">
            <a:avLst>
              <a:gd name="adj" fmla="val 2251"/>
            </a:avLst>
          </a:prstGeom>
          <a:solidFill>
            <a:srgbClr val="D7EAF2"/>
          </a:solidFill>
          <a:ln w="9525">
            <a:solidFill>
              <a:srgbClr val="D7EAF2"/>
            </a:solidFill>
            <a:prstDash val="solid"/>
          </a:ln>
        </p:spPr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3E5130BC-A16E-4B7A-9B00-51E44D584310}"/>
              </a:ext>
            </a:extLst>
          </p:cNvPr>
          <p:cNvSpPr>
            <a:spLocks noGrp="1"/>
          </p:cNvSpPr>
          <p:nvPr/>
        </p:nvSpPr>
        <p:spPr>
          <a:xfrm>
            <a:off x="10115550" y="6438900"/>
            <a:ext cx="200025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450" b="1">
                <a:solidFill>
                  <a:srgbClr val="111827"/>
                </a:solidFill>
              </a:defRPr>
            </a:pPr>
            <a:r>
              <a:rPr sz="3450" b="1">
                <a:solidFill>
                  <a:srgbClr val="111827"/>
                </a:solidFill>
              </a:rPr>
              <a:t>619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B2486E88-93EB-4F5A-873C-39878E71DBA7}"/>
              </a:ext>
            </a:extLst>
          </p:cNvPr>
          <p:cNvSpPr>
            <a:spLocks noGrp="1"/>
          </p:cNvSpPr>
          <p:nvPr/>
        </p:nvSpPr>
        <p:spPr>
          <a:xfrm>
            <a:off x="10115550" y="6953250"/>
            <a:ext cx="20002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596A80"/>
                </a:solidFill>
              </a:defRPr>
            </a:pPr>
            <a:r>
              <a:rPr sz="1650">
                <a:solidFill>
                  <a:srgbClr val="596A80"/>
                </a:solidFill>
              </a:rPr>
              <a:t>FP</a:t>
            </a:r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5DDA1917-CDFD-42EF-B0C2-4F55DEBEC53F}"/>
              </a:ext>
            </a:extLst>
          </p:cNvPr>
          <p:cNvSpPr>
            <a:spLocks noGrp="1"/>
          </p:cNvSpPr>
          <p:nvPr/>
        </p:nvSpPr>
        <p:spPr>
          <a:xfrm>
            <a:off x="12390834" y="5086350"/>
            <a:ext cx="2539008" cy="3429000"/>
          </a:xfrm>
          <a:prstGeom prst="roundRect">
            <a:avLst>
              <a:gd name="adj" fmla="val 2251"/>
            </a:avLst>
          </a:prstGeom>
          <a:solidFill>
            <a:srgbClr val="E9F2F7"/>
          </a:solidFill>
          <a:ln w="9525">
            <a:solidFill>
              <a:srgbClr val="E9F2F7"/>
            </a:solidFill>
            <a:prstDash val="solid"/>
          </a:ln>
        </p:spPr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AA1CC9A3-8BFE-487B-84FE-47E9EFA5F728}"/>
              </a:ext>
            </a:extLst>
          </p:cNvPr>
          <p:cNvSpPr>
            <a:spLocks noGrp="1"/>
          </p:cNvSpPr>
          <p:nvPr/>
        </p:nvSpPr>
        <p:spPr>
          <a:xfrm>
            <a:off x="12649200" y="6438900"/>
            <a:ext cx="200025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450" b="1">
                <a:solidFill>
                  <a:srgbClr val="111827"/>
                </a:solidFill>
              </a:defRPr>
            </a:pPr>
            <a:r>
              <a:rPr sz="3450" b="1">
                <a:solidFill>
                  <a:srgbClr val="111827"/>
                </a:solidFill>
              </a:rPr>
              <a:t>333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8C16E12E-2DED-41C1-8F9F-F78F4FCD70D6}"/>
              </a:ext>
            </a:extLst>
          </p:cNvPr>
          <p:cNvSpPr>
            <a:spLocks noGrp="1"/>
          </p:cNvSpPr>
          <p:nvPr/>
        </p:nvSpPr>
        <p:spPr>
          <a:xfrm>
            <a:off x="12649200" y="6953250"/>
            <a:ext cx="20002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596A80"/>
                </a:solidFill>
              </a:defRPr>
            </a:pPr>
            <a:r>
              <a:rPr sz="1650">
                <a:solidFill>
                  <a:srgbClr val="596A80"/>
                </a:solidFill>
              </a:rPr>
              <a:t>FN</a:t>
            </a:r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3C40FD3D-D735-4702-AC49-B603875B0610}"/>
              </a:ext>
            </a:extLst>
          </p:cNvPr>
          <p:cNvSpPr>
            <a:spLocks noGrp="1"/>
          </p:cNvSpPr>
          <p:nvPr/>
        </p:nvSpPr>
        <p:spPr>
          <a:xfrm>
            <a:off x="14929842" y="5086350"/>
            <a:ext cx="2539008" cy="3429000"/>
          </a:xfrm>
          <a:prstGeom prst="roundRect">
            <a:avLst>
              <a:gd name="adj" fmla="val 2251"/>
            </a:avLst>
          </a:prstGeom>
          <a:solidFill>
            <a:srgbClr val="73A9C7"/>
          </a:solidFill>
          <a:ln w="9525">
            <a:solidFill>
              <a:srgbClr val="73A9C7"/>
            </a:solidFill>
            <a:prstDash val="solid"/>
          </a:ln>
        </p:spPr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2768FB23-FB4A-4B8D-8564-A1C43DBE0393}"/>
              </a:ext>
            </a:extLst>
          </p:cNvPr>
          <p:cNvSpPr>
            <a:spLocks noGrp="1"/>
          </p:cNvSpPr>
          <p:nvPr/>
        </p:nvSpPr>
        <p:spPr>
          <a:xfrm>
            <a:off x="15201900" y="6438900"/>
            <a:ext cx="200025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1632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A0FCEBC2-6BA2-4F2C-B604-0683167C22C4}"/>
              </a:ext>
            </a:extLst>
          </p:cNvPr>
          <p:cNvSpPr>
            <a:spLocks noGrp="1"/>
          </p:cNvSpPr>
          <p:nvPr/>
        </p:nvSpPr>
        <p:spPr>
          <a:xfrm>
            <a:off x="15201900" y="6953250"/>
            <a:ext cx="20002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EDF7FB"/>
                </a:solidFill>
              </a:defRPr>
            </a:pPr>
            <a:r>
              <a:rPr sz="1650">
                <a:solidFill>
                  <a:srgbClr val="EDF7FB"/>
                </a:solidFill>
              </a:rPr>
              <a:t>TP</a:t>
            </a:r>
          </a:p>
        </p:txBody>
      </p:sp>
    </p:spTree>
    <p:extLst>
      <p:ext uri="{BB962C8B-B14F-4D97-AF65-F5344CB8AC3E}">
        <p14:creationId xmlns:p14="http://schemas.microsoft.com/office/powerpoint/2010/main" val="15625418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4DB29C39-ED49-4EBB-8DCB-270CE47D2D24}"/>
              </a:ext>
            </a:extLst>
          </p:cNvPr>
          <p:cNvSpPr>
            <a:spLocks noGrp="1"/>
          </p:cNvSpPr>
          <p:nvPr/>
        </p:nvSpPr>
        <p:spPr>
          <a:xfrm>
            <a:off x="819150" y="609600"/>
            <a:ext cx="15868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20796E"/>
                </a:solidFill>
              </a:defRPr>
            </a:pPr>
            <a:r>
              <a:rPr sz="1650" b="1">
                <a:solidFill>
                  <a:srgbClr val="20796E"/>
                </a:solidFill>
              </a:rPr>
              <a:t>对照实验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BDDBB1F-3E06-49AB-83BA-0FCDFF343A6B}"/>
              </a:ext>
            </a:extLst>
          </p:cNvPr>
          <p:cNvSpPr>
            <a:spLocks noGrp="1"/>
          </p:cNvSpPr>
          <p:nvPr/>
        </p:nvSpPr>
        <p:spPr>
          <a:xfrm>
            <a:off x="819150" y="895350"/>
            <a:ext cx="1049655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0D172A"/>
                </a:solidFill>
              </a:defRPr>
            </a:pPr>
            <a:r>
              <a:rPr sz="4350" b="1">
                <a:solidFill>
                  <a:srgbClr val="0D172A"/>
                </a:solidFill>
              </a:rPr>
              <a:t>消融实验：优化策略让模型更贴近风控目标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18543E0-58F9-4F77-A311-9A250278CEF8}"/>
              </a:ext>
            </a:extLst>
          </p:cNvPr>
          <p:cNvSpPr>
            <a:spLocks noGrp="1"/>
          </p:cNvSpPr>
          <p:nvPr/>
        </p:nvSpPr>
        <p:spPr>
          <a:xfrm>
            <a:off x="16916400" y="914400"/>
            <a:ext cx="552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20796E"/>
                </a:solidFill>
              </a:defRPr>
            </a:pPr>
            <a:r>
              <a:rPr sz="1800" b="1">
                <a:solidFill>
                  <a:srgbClr val="20796E"/>
                </a:solidFill>
              </a:rPr>
              <a:t>13</a:t>
            </a:r>
          </a:p>
        </p:txBody>
      </p:sp>
      <p:graphicFrame>
        <p:nvGraphicFramePr>
          <p:cNvPr id="4" name="ablation-chart"/>
          <p:cNvGraphicFramePr/>
          <p:nvPr/>
        </p:nvGraphicFramePr>
        <p:xfrm>
          <a:off x="819150" y="1771650"/>
          <a:ext cx="8541068" cy="7905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78A44882-9B7F-4CF5-883B-E412604E760B}"/>
              </a:ext>
            </a:extLst>
          </p:cNvPr>
          <p:cNvSpPr>
            <a:spLocks noGrp="1"/>
          </p:cNvSpPr>
          <p:nvPr/>
        </p:nvSpPr>
        <p:spPr>
          <a:xfrm>
            <a:off x="9734550" y="3848100"/>
            <a:ext cx="773430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 b="1">
                <a:solidFill>
                  <a:srgbClr val="0D172A"/>
                </a:solidFill>
              </a:defRPr>
            </a:pPr>
            <a:r>
              <a:rPr sz="2850" b="1">
                <a:solidFill>
                  <a:srgbClr val="0D172A"/>
                </a:solidFill>
              </a:rPr>
              <a:t>实验结论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EFBFBB8F-3ED4-4E6E-8CC9-854B5C49520D}"/>
              </a:ext>
            </a:extLst>
          </p:cNvPr>
          <p:cNvSpPr>
            <a:spLocks noGrp="1"/>
          </p:cNvSpPr>
          <p:nvPr/>
        </p:nvSpPr>
        <p:spPr>
          <a:xfrm>
            <a:off x="9734550" y="4419600"/>
            <a:ext cx="114300" cy="114300"/>
          </a:xfrm>
          <a:prstGeom prst="ellipse">
            <a:avLst/>
          </a:prstGeom>
          <a:solidFill>
            <a:srgbClr val="E15A4F"/>
          </a:solidFill>
          <a:ln w="0">
            <a:solidFill>
              <a:srgbClr val="E15A4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BB94AB0-3C69-4D02-840A-14711679C31B}"/>
              </a:ext>
            </a:extLst>
          </p:cNvPr>
          <p:cNvSpPr>
            <a:spLocks noGrp="1"/>
          </p:cNvSpPr>
          <p:nvPr/>
        </p:nvSpPr>
        <p:spPr>
          <a:xfrm>
            <a:off x="9982200" y="4419600"/>
            <a:ext cx="74866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>
                <a:solidFill>
                  <a:srgbClr val="263246"/>
                </a:solidFill>
              </a:defRPr>
            </a:pPr>
            <a:r>
              <a:rPr sz="2100">
                <a:solidFill>
                  <a:srgbClr val="263246"/>
                </a:solidFill>
              </a:rPr>
              <a:t>AUC 基本稳定在 0.957 左右，说明模型排序能力较稳定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F15E0179-71E8-4D44-A362-60EC6D9F98BD}"/>
              </a:ext>
            </a:extLst>
          </p:cNvPr>
          <p:cNvSpPr>
            <a:spLocks noGrp="1"/>
          </p:cNvSpPr>
          <p:nvPr/>
        </p:nvSpPr>
        <p:spPr>
          <a:xfrm>
            <a:off x="9734550" y="4857750"/>
            <a:ext cx="114300" cy="114300"/>
          </a:xfrm>
          <a:prstGeom prst="ellipse">
            <a:avLst/>
          </a:prstGeom>
          <a:solidFill>
            <a:srgbClr val="C8D3DE"/>
          </a:solidFill>
          <a:ln w="0">
            <a:solidFill>
              <a:srgbClr val="C8D3DE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64F0D41-423C-4BC9-81AF-FD0A97D854BF}"/>
              </a:ext>
            </a:extLst>
          </p:cNvPr>
          <p:cNvSpPr>
            <a:spLocks noGrp="1"/>
          </p:cNvSpPr>
          <p:nvPr/>
        </p:nvSpPr>
        <p:spPr>
          <a:xfrm>
            <a:off x="9982200" y="4857750"/>
            <a:ext cx="74866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>
                <a:solidFill>
                  <a:srgbClr val="263246"/>
                </a:solidFill>
              </a:defRPr>
            </a:pPr>
            <a:r>
              <a:rPr sz="2100">
                <a:solidFill>
                  <a:srgbClr val="263246"/>
                </a:solidFill>
              </a:rPr>
              <a:t>固定阈值可提升召回，但会明显牺牲准确率或 F1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E7DC7223-7E9B-4235-808D-5C3ABB468224}"/>
              </a:ext>
            </a:extLst>
          </p:cNvPr>
          <p:cNvSpPr>
            <a:spLocks noGrp="1"/>
          </p:cNvSpPr>
          <p:nvPr/>
        </p:nvSpPr>
        <p:spPr>
          <a:xfrm>
            <a:off x="9734550" y="5295900"/>
            <a:ext cx="114300" cy="114300"/>
          </a:xfrm>
          <a:prstGeom prst="ellipse">
            <a:avLst/>
          </a:prstGeom>
          <a:solidFill>
            <a:srgbClr val="C8D3DE"/>
          </a:solidFill>
          <a:ln w="0">
            <a:solidFill>
              <a:srgbClr val="C8D3DE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88FE19B-F766-47BD-ABFD-B2577502DB16}"/>
              </a:ext>
            </a:extLst>
          </p:cNvPr>
          <p:cNvSpPr>
            <a:spLocks noGrp="1"/>
          </p:cNvSpPr>
          <p:nvPr/>
        </p:nvSpPr>
        <p:spPr>
          <a:xfrm>
            <a:off x="9982200" y="5295900"/>
            <a:ext cx="7486650" cy="533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>
                <a:solidFill>
                  <a:srgbClr val="263246"/>
                </a:solidFill>
              </a:defRPr>
            </a:pPr>
            <a:r>
              <a:rPr sz="2100" dirty="0" err="1">
                <a:solidFill>
                  <a:srgbClr val="263246"/>
                </a:solidFill>
              </a:rPr>
              <a:t>加权损失与自动阈值能在</a:t>
            </a:r>
            <a:r>
              <a:rPr sz="2100" dirty="0">
                <a:solidFill>
                  <a:srgbClr val="263246"/>
                </a:solidFill>
              </a:rPr>
              <a:t> F1、Accuracy、Recall </a:t>
            </a:r>
            <a:r>
              <a:rPr sz="2100" dirty="0" err="1">
                <a:solidFill>
                  <a:srgbClr val="263246"/>
                </a:solidFill>
              </a:rPr>
              <a:t>间取得更平衡表现</a:t>
            </a:r>
            <a:endParaRPr sz="2100" dirty="0">
              <a:solidFill>
                <a:srgbClr val="263246"/>
              </a:solidFill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C55993B-8DCA-4AC2-BBBD-E34134CCA9B2}"/>
              </a:ext>
            </a:extLst>
          </p:cNvPr>
          <p:cNvSpPr>
            <a:spLocks noGrp="1"/>
          </p:cNvSpPr>
          <p:nvPr/>
        </p:nvSpPr>
        <p:spPr>
          <a:xfrm>
            <a:off x="9741218" y="6043613"/>
            <a:ext cx="7727633" cy="1552575"/>
          </a:xfrm>
          <a:prstGeom prst="roundRect">
            <a:avLst>
              <a:gd name="adj" fmla="val 3681"/>
            </a:avLst>
          </a:prstGeom>
          <a:solidFill>
            <a:srgbClr val="E7F4F1"/>
          </a:solidFill>
          <a:ln w="9525">
            <a:solidFill>
              <a:srgbClr val="C8E3DC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68B9EC9-D621-441E-97C0-1C065C146C78}"/>
              </a:ext>
            </a:extLst>
          </p:cNvPr>
          <p:cNvSpPr>
            <a:spLocks noGrp="1"/>
          </p:cNvSpPr>
          <p:nvPr/>
        </p:nvSpPr>
        <p:spPr>
          <a:xfrm>
            <a:off x="9982200" y="6286500"/>
            <a:ext cx="72390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20796E"/>
                </a:solidFill>
              </a:defRPr>
            </a:pPr>
            <a:r>
              <a:rPr sz="1950" b="1">
                <a:solidFill>
                  <a:srgbClr val="20796E"/>
                </a:solidFill>
              </a:rPr>
              <a:t>最佳网络结构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A395DCD-3180-4E05-8962-DDB8AD603865}"/>
              </a:ext>
            </a:extLst>
          </p:cNvPr>
          <p:cNvSpPr>
            <a:spLocks noGrp="1"/>
          </p:cNvSpPr>
          <p:nvPr/>
        </p:nvSpPr>
        <p:spPr>
          <a:xfrm>
            <a:off x="9982200" y="6648450"/>
            <a:ext cx="723900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 b="1">
                <a:solidFill>
                  <a:srgbClr val="0D172A"/>
                </a:solidFill>
              </a:defRPr>
            </a:pPr>
            <a:r>
              <a:rPr sz="2850" b="1">
                <a:solidFill>
                  <a:srgbClr val="0D172A"/>
                </a:solidFill>
              </a:rPr>
              <a:t>256, 512, 512, 256, 128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3971A6E-1897-49C2-ADC2-04A3006F9EDD}"/>
              </a:ext>
            </a:extLst>
          </p:cNvPr>
          <p:cNvSpPr>
            <a:spLocks noGrp="1"/>
          </p:cNvSpPr>
          <p:nvPr/>
        </p:nvSpPr>
        <p:spPr>
          <a:xfrm>
            <a:off x="9982200" y="7124700"/>
            <a:ext cx="7239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596A80"/>
                </a:solidFill>
              </a:defRPr>
            </a:pPr>
            <a:r>
              <a:rPr sz="1725">
                <a:solidFill>
                  <a:srgbClr val="596A80"/>
                </a:solidFill>
              </a:rPr>
              <a:t>AUC 0.9588 | F1 0.7583 | Accuracy 0.9018 | Recall 0.8282</a:t>
            </a:r>
          </a:p>
        </p:txBody>
      </p:sp>
    </p:spTree>
    <p:extLst>
      <p:ext uri="{BB962C8B-B14F-4D97-AF65-F5344CB8AC3E}">
        <p14:creationId xmlns:p14="http://schemas.microsoft.com/office/powerpoint/2010/main" val="17960310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41FC0979-A9A5-41DF-AF2A-2B7FA6DEC80E}"/>
              </a:ext>
            </a:extLst>
          </p:cNvPr>
          <p:cNvSpPr>
            <a:spLocks noGrp="1"/>
          </p:cNvSpPr>
          <p:nvPr/>
        </p:nvSpPr>
        <p:spPr>
          <a:xfrm>
            <a:off x="819150" y="609600"/>
            <a:ext cx="15868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20796E"/>
                </a:solidFill>
              </a:defRPr>
            </a:pPr>
            <a:r>
              <a:rPr sz="1650" b="1">
                <a:solidFill>
                  <a:srgbClr val="20796E"/>
                </a:solidFill>
              </a:rPr>
              <a:t>系统实现与测试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CB74B1B-CAEE-4005-9DE9-559D988A6DF1}"/>
              </a:ext>
            </a:extLst>
          </p:cNvPr>
          <p:cNvSpPr>
            <a:spLocks noGrp="1"/>
          </p:cNvSpPr>
          <p:nvPr/>
        </p:nvSpPr>
        <p:spPr>
          <a:xfrm>
            <a:off x="819150" y="895350"/>
            <a:ext cx="1270635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0D172A"/>
                </a:solidFill>
              </a:defRPr>
            </a:pPr>
            <a:r>
              <a:rPr sz="4350" b="1">
                <a:solidFill>
                  <a:srgbClr val="0D172A"/>
                </a:solidFill>
              </a:rPr>
              <a:t>系统实现：数据管理、模型训练、在线预测形成闭环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801B34A-9DCB-4683-A9F7-0BF18942BA66}"/>
              </a:ext>
            </a:extLst>
          </p:cNvPr>
          <p:cNvSpPr>
            <a:spLocks noGrp="1"/>
          </p:cNvSpPr>
          <p:nvPr/>
        </p:nvSpPr>
        <p:spPr>
          <a:xfrm>
            <a:off x="16916400" y="914400"/>
            <a:ext cx="552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20796E"/>
                </a:solidFill>
              </a:defRPr>
            </a:pPr>
            <a:r>
              <a:rPr sz="1800" b="1">
                <a:solidFill>
                  <a:srgbClr val="20796E"/>
                </a:solidFill>
              </a:rPr>
              <a:t>14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467EB7B-CAFF-467E-97C0-C7E5ADFCEA81}"/>
              </a:ext>
            </a:extLst>
          </p:cNvPr>
          <p:cNvSpPr>
            <a:spLocks noGrp="1"/>
          </p:cNvSpPr>
          <p:nvPr/>
        </p:nvSpPr>
        <p:spPr>
          <a:xfrm>
            <a:off x="838200" y="3314700"/>
            <a:ext cx="609600" cy="76200"/>
          </a:xfrm>
          <a:prstGeom prst="rect">
            <a:avLst/>
          </a:prstGeom>
          <a:solidFill>
            <a:srgbClr val="20796E"/>
          </a:solidFill>
          <a:ln w="0">
            <a:solidFill>
              <a:srgbClr val="20796E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550DBD0-63C9-40A6-9ED3-505C915C65D6}"/>
              </a:ext>
            </a:extLst>
          </p:cNvPr>
          <p:cNvSpPr>
            <a:spLocks noGrp="1"/>
          </p:cNvSpPr>
          <p:nvPr/>
        </p:nvSpPr>
        <p:spPr>
          <a:xfrm>
            <a:off x="819150" y="3505200"/>
            <a:ext cx="71628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业务数据管理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C50EA72-E308-454A-9D6C-8C4C88101CCE}"/>
              </a:ext>
            </a:extLst>
          </p:cNvPr>
          <p:cNvSpPr>
            <a:spLocks noGrp="1"/>
          </p:cNvSpPr>
          <p:nvPr/>
        </p:nvSpPr>
        <p:spPr>
          <a:xfrm>
            <a:off x="819150" y="3924300"/>
            <a:ext cx="71628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596A80"/>
                </a:solidFill>
              </a:defRPr>
            </a:pPr>
            <a:r>
              <a:rPr sz="1875">
                <a:solidFill>
                  <a:srgbClr val="596A80"/>
                </a:solidFill>
              </a:rPr>
              <a:t>用户、保单、理赔记录、车辆信息的增删改查与权限控制。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BC4877A-65A2-43A7-8620-A0F488CD2646}"/>
              </a:ext>
            </a:extLst>
          </p:cNvPr>
          <p:cNvSpPr>
            <a:spLocks noGrp="1"/>
          </p:cNvSpPr>
          <p:nvPr/>
        </p:nvSpPr>
        <p:spPr>
          <a:xfrm>
            <a:off x="838200" y="4381500"/>
            <a:ext cx="609600" cy="76200"/>
          </a:xfrm>
          <a:prstGeom prst="rect">
            <a:avLst/>
          </a:prstGeom>
          <a:solidFill>
            <a:srgbClr val="2765E8"/>
          </a:solidFill>
          <a:ln w="0">
            <a:solidFill>
              <a:srgbClr val="2765E8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E9C1586-2F0F-49F9-A739-192181C1CA4F}"/>
              </a:ext>
            </a:extLst>
          </p:cNvPr>
          <p:cNvSpPr>
            <a:spLocks noGrp="1"/>
          </p:cNvSpPr>
          <p:nvPr/>
        </p:nvSpPr>
        <p:spPr>
          <a:xfrm>
            <a:off x="819150" y="4591050"/>
            <a:ext cx="71628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模型训练管理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D37EC07-A3E5-4CF9-96B7-68E532C38BF3}"/>
              </a:ext>
            </a:extLst>
          </p:cNvPr>
          <p:cNvSpPr>
            <a:spLocks noGrp="1"/>
          </p:cNvSpPr>
          <p:nvPr/>
        </p:nvSpPr>
        <p:spPr>
          <a:xfrm>
            <a:off x="819150" y="5010150"/>
            <a:ext cx="7162800" cy="476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596A80"/>
                </a:solidFill>
              </a:defRPr>
            </a:pPr>
            <a:r>
              <a:rPr sz="1875">
                <a:solidFill>
                  <a:srgbClr val="596A80"/>
                </a:solidFill>
              </a:rPr>
              <a:t>管理员配置优化器、学习率、隐藏层结构和阈值策略，生成模型文件。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0D68618-8A17-4C94-B308-5389B03433A0}"/>
              </a:ext>
            </a:extLst>
          </p:cNvPr>
          <p:cNvSpPr>
            <a:spLocks noGrp="1"/>
          </p:cNvSpPr>
          <p:nvPr/>
        </p:nvSpPr>
        <p:spPr>
          <a:xfrm>
            <a:off x="838200" y="5715000"/>
            <a:ext cx="609600" cy="76200"/>
          </a:xfrm>
          <a:prstGeom prst="rect">
            <a:avLst/>
          </a:prstGeom>
          <a:solidFill>
            <a:srgbClr val="E15A4F"/>
          </a:solidFill>
          <a:ln w="0">
            <a:solidFill>
              <a:srgbClr val="E15A4F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89AED4D-ECAB-4EC1-BAA3-D5CEC3BA4742}"/>
              </a:ext>
            </a:extLst>
          </p:cNvPr>
          <p:cNvSpPr>
            <a:spLocks noGrp="1"/>
          </p:cNvSpPr>
          <p:nvPr/>
        </p:nvSpPr>
        <p:spPr>
          <a:xfrm>
            <a:off x="819150" y="5905500"/>
            <a:ext cx="71628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在线理赔预测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AB015EC-E508-4F2A-93F0-D6823309FD28}"/>
              </a:ext>
            </a:extLst>
          </p:cNvPr>
          <p:cNvSpPr>
            <a:spLocks noGrp="1"/>
          </p:cNvSpPr>
          <p:nvPr/>
        </p:nvSpPr>
        <p:spPr>
          <a:xfrm>
            <a:off x="819150" y="6343650"/>
            <a:ext cx="7162800" cy="476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596A80"/>
                </a:solidFill>
              </a:defRPr>
            </a:pPr>
            <a:r>
              <a:rPr sz="1875">
                <a:solidFill>
                  <a:srgbClr val="596A80"/>
                </a:solidFill>
              </a:rPr>
              <a:t>用户选择已有保单或手动填写特征，系统返回概率、标签、风险等级与解释。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AF7CA7B-9553-4897-A06C-01B246E7869F}"/>
              </a:ext>
            </a:extLst>
          </p:cNvPr>
          <p:cNvSpPr>
            <a:spLocks noGrp="1"/>
          </p:cNvSpPr>
          <p:nvPr/>
        </p:nvSpPr>
        <p:spPr>
          <a:xfrm>
            <a:off x="838200" y="7048500"/>
            <a:ext cx="609600" cy="76200"/>
          </a:xfrm>
          <a:prstGeom prst="rect">
            <a:avLst/>
          </a:prstGeom>
          <a:solidFill>
            <a:srgbClr val="D88312"/>
          </a:solidFill>
          <a:ln w="0">
            <a:solidFill>
              <a:srgbClr val="D88312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26CC0AA-CC2E-4EB5-9A95-3E12B5A7776B}"/>
              </a:ext>
            </a:extLst>
          </p:cNvPr>
          <p:cNvSpPr>
            <a:spLocks noGrp="1"/>
          </p:cNvSpPr>
          <p:nvPr/>
        </p:nvSpPr>
        <p:spPr>
          <a:xfrm>
            <a:off x="819150" y="7239000"/>
            <a:ext cx="71628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结果统计分析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2D7C683-7246-453A-9722-B8F81353158E}"/>
              </a:ext>
            </a:extLst>
          </p:cNvPr>
          <p:cNvSpPr>
            <a:spLocks noGrp="1"/>
          </p:cNvSpPr>
          <p:nvPr/>
        </p:nvSpPr>
        <p:spPr>
          <a:xfrm>
            <a:off x="819150" y="7658100"/>
            <a:ext cx="7162800" cy="476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596A80"/>
                </a:solidFill>
              </a:defRPr>
            </a:pPr>
            <a:r>
              <a:rPr sz="1875">
                <a:solidFill>
                  <a:srgbClr val="596A80"/>
                </a:solidFill>
              </a:rPr>
              <a:t>预测记录持久化，展示风险等级分布、理赔概率分布和历史预测概览。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D402A11F-F54A-4C09-A57A-A9797DB1571E}"/>
              </a:ext>
            </a:extLst>
          </p:cNvPr>
          <p:cNvSpPr>
            <a:spLocks noGrp="1"/>
          </p:cNvSpPr>
          <p:nvPr/>
        </p:nvSpPr>
        <p:spPr>
          <a:xfrm>
            <a:off x="8358378" y="1771650"/>
            <a:ext cx="9110472" cy="3952875"/>
          </a:xfrm>
          <a:prstGeom prst="roundRect">
            <a:avLst>
              <a:gd name="adj" fmla="val 1446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rcRect t="6588" b="6588"/>
          <a:stretch>
            <a:fillRect/>
          </a:stretch>
        </p:blipFill>
        <p:spPr>
          <a:xfrm>
            <a:off x="8472678" y="1885950"/>
            <a:ext cx="8881872" cy="3724275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1A421B0-CB14-4634-B369-1B863A56E730}"/>
              </a:ext>
            </a:extLst>
          </p:cNvPr>
          <p:cNvSpPr>
            <a:spLocks noGrp="1"/>
          </p:cNvSpPr>
          <p:nvPr/>
        </p:nvSpPr>
        <p:spPr>
          <a:xfrm>
            <a:off x="8358378" y="5724525"/>
            <a:ext cx="9110472" cy="3952875"/>
          </a:xfrm>
          <a:prstGeom prst="roundRect">
            <a:avLst>
              <a:gd name="adj" fmla="val 1446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4"/>
          <a:srcRect t="18413" b="18413"/>
          <a:stretch>
            <a:fillRect/>
          </a:stretch>
        </p:blipFill>
        <p:spPr>
          <a:xfrm>
            <a:off x="8472678" y="5838825"/>
            <a:ext cx="8881872" cy="372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2532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0E9AD48C-AB29-4173-9AB5-5A649416AEC8}"/>
              </a:ext>
            </a:extLst>
          </p:cNvPr>
          <p:cNvSpPr>
            <a:spLocks noGrp="1"/>
          </p:cNvSpPr>
          <p:nvPr/>
        </p:nvSpPr>
        <p:spPr>
          <a:xfrm>
            <a:off x="819150" y="609600"/>
            <a:ext cx="15868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20796E"/>
                </a:solidFill>
              </a:defRPr>
            </a:pPr>
            <a:r>
              <a:rPr sz="1650" b="1">
                <a:solidFill>
                  <a:srgbClr val="20796E"/>
                </a:solidFill>
              </a:rPr>
              <a:t>结论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C620D41-59C2-4365-B2BC-B3C73B01FA9D}"/>
              </a:ext>
            </a:extLst>
          </p:cNvPr>
          <p:cNvSpPr>
            <a:spLocks noGrp="1"/>
          </p:cNvSpPr>
          <p:nvPr/>
        </p:nvSpPr>
        <p:spPr>
          <a:xfrm>
            <a:off x="819150" y="895350"/>
            <a:ext cx="1270635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0D172A"/>
                </a:solidFill>
              </a:defRPr>
            </a:pPr>
            <a:r>
              <a:rPr sz="4350" b="1">
                <a:solidFill>
                  <a:srgbClr val="0D172A"/>
                </a:solidFill>
              </a:rPr>
              <a:t>总结与展望：完成从模型研究到系统落地的基本闭环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9AA08F9-A960-499A-9596-A8818354C7F3}"/>
              </a:ext>
            </a:extLst>
          </p:cNvPr>
          <p:cNvSpPr>
            <a:spLocks noGrp="1"/>
          </p:cNvSpPr>
          <p:nvPr/>
        </p:nvSpPr>
        <p:spPr>
          <a:xfrm>
            <a:off x="16916400" y="914400"/>
            <a:ext cx="552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20796E"/>
                </a:solidFill>
              </a:defRPr>
            </a:pPr>
            <a:r>
              <a:rPr sz="1800" b="1">
                <a:solidFill>
                  <a:srgbClr val="20796E"/>
                </a:solidFill>
              </a:rPr>
              <a:t>15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931F392B-7F60-497F-9CA1-E19CBC2B5B16}"/>
              </a:ext>
            </a:extLst>
          </p:cNvPr>
          <p:cNvSpPr>
            <a:spLocks noGrp="1"/>
          </p:cNvSpPr>
          <p:nvPr/>
        </p:nvSpPr>
        <p:spPr>
          <a:xfrm>
            <a:off x="819150" y="1771650"/>
            <a:ext cx="5549900" cy="7286625"/>
          </a:xfrm>
          <a:prstGeom prst="roundRect">
            <a:avLst>
              <a:gd name="adj" fmla="val 1030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76E5A5C-4D41-4C3D-83CE-4F6AE0F5F09A}"/>
              </a:ext>
            </a:extLst>
          </p:cNvPr>
          <p:cNvSpPr>
            <a:spLocks noGrp="1"/>
          </p:cNvSpPr>
          <p:nvPr/>
        </p:nvSpPr>
        <p:spPr>
          <a:xfrm>
            <a:off x="1085850" y="2038350"/>
            <a:ext cx="50101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20796E"/>
                </a:solidFill>
              </a:defRPr>
            </a:pPr>
            <a:r>
              <a:rPr sz="2700" b="1">
                <a:solidFill>
                  <a:srgbClr val="20796E"/>
                </a:solidFill>
              </a:rPr>
              <a:t>测试验证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D93C8682-C52A-41BE-809A-EC9EC00B5708}"/>
              </a:ext>
            </a:extLst>
          </p:cNvPr>
          <p:cNvSpPr>
            <a:spLocks noGrp="1"/>
          </p:cNvSpPr>
          <p:nvPr/>
        </p:nvSpPr>
        <p:spPr>
          <a:xfrm>
            <a:off x="1085850" y="2590800"/>
            <a:ext cx="114300" cy="114300"/>
          </a:xfrm>
          <a:prstGeom prst="ellipse">
            <a:avLst/>
          </a:prstGeom>
          <a:solidFill>
            <a:srgbClr val="20796E"/>
          </a:solidFill>
          <a:ln w="0">
            <a:solidFill>
              <a:srgbClr val="20796E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143BC67-A125-426A-8D20-5650A4E0C937}"/>
              </a:ext>
            </a:extLst>
          </p:cNvPr>
          <p:cNvSpPr>
            <a:spLocks noGrp="1"/>
          </p:cNvSpPr>
          <p:nvPr/>
        </p:nvSpPr>
        <p:spPr>
          <a:xfrm>
            <a:off x="1333500" y="2590800"/>
            <a:ext cx="47625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>
                <a:solidFill>
                  <a:srgbClr val="263246"/>
                </a:solidFill>
              </a:defRPr>
            </a:pPr>
            <a:r>
              <a:rPr sz="1950">
                <a:solidFill>
                  <a:srgbClr val="263246"/>
                </a:solidFill>
              </a:rPr>
              <a:t>登录注册、用户管理、保单管理通过测试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61921677-2BB1-4F13-8802-A46AD8CE9008}"/>
              </a:ext>
            </a:extLst>
          </p:cNvPr>
          <p:cNvSpPr>
            <a:spLocks noGrp="1"/>
          </p:cNvSpPr>
          <p:nvPr/>
        </p:nvSpPr>
        <p:spPr>
          <a:xfrm>
            <a:off x="1085850" y="3009900"/>
            <a:ext cx="114300" cy="114300"/>
          </a:xfrm>
          <a:prstGeom prst="ellipse">
            <a:avLst/>
          </a:prstGeom>
          <a:solidFill>
            <a:srgbClr val="C8D3DE"/>
          </a:solidFill>
          <a:ln w="0">
            <a:solidFill>
              <a:srgbClr val="C8D3DE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22767F2-CF1B-4212-9C58-C64E6DD2C4F6}"/>
              </a:ext>
            </a:extLst>
          </p:cNvPr>
          <p:cNvSpPr>
            <a:spLocks noGrp="1"/>
          </p:cNvSpPr>
          <p:nvPr/>
        </p:nvSpPr>
        <p:spPr>
          <a:xfrm>
            <a:off x="1333500" y="3009900"/>
            <a:ext cx="47625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>
                <a:solidFill>
                  <a:srgbClr val="263246"/>
                </a:solidFill>
              </a:defRPr>
            </a:pPr>
            <a:r>
              <a:rPr sz="1950">
                <a:solidFill>
                  <a:srgbClr val="263246"/>
                </a:solidFill>
              </a:rPr>
              <a:t>理赔记录、车辆信息、统计分析通过测试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A836C266-A0CD-4FF4-A506-D5FC3B0BBCC7}"/>
              </a:ext>
            </a:extLst>
          </p:cNvPr>
          <p:cNvSpPr>
            <a:spLocks noGrp="1"/>
          </p:cNvSpPr>
          <p:nvPr/>
        </p:nvSpPr>
        <p:spPr>
          <a:xfrm>
            <a:off x="1085850" y="3429000"/>
            <a:ext cx="114300" cy="114300"/>
          </a:xfrm>
          <a:prstGeom prst="ellipse">
            <a:avLst/>
          </a:prstGeom>
          <a:solidFill>
            <a:srgbClr val="C8D3DE"/>
          </a:solidFill>
          <a:ln w="0">
            <a:solidFill>
              <a:srgbClr val="C8D3DE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5B7EC4B-F7C0-4174-A39C-436191386B4C}"/>
              </a:ext>
            </a:extLst>
          </p:cNvPr>
          <p:cNvSpPr>
            <a:spLocks noGrp="1"/>
          </p:cNvSpPr>
          <p:nvPr/>
        </p:nvSpPr>
        <p:spPr>
          <a:xfrm>
            <a:off x="1333500" y="3429000"/>
            <a:ext cx="47625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>
                <a:solidFill>
                  <a:srgbClr val="263246"/>
                </a:solidFill>
              </a:defRPr>
            </a:pPr>
            <a:r>
              <a:rPr sz="1950">
                <a:solidFill>
                  <a:srgbClr val="263246"/>
                </a:solidFill>
              </a:rPr>
              <a:t>模型训练、预测管理、记录统计通过测试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2903CDD-0D70-4E1B-AA02-76EDB2ABC860}"/>
              </a:ext>
            </a:extLst>
          </p:cNvPr>
          <p:cNvSpPr>
            <a:spLocks noGrp="1"/>
          </p:cNvSpPr>
          <p:nvPr/>
        </p:nvSpPr>
        <p:spPr>
          <a:xfrm>
            <a:off x="6369050" y="1771650"/>
            <a:ext cx="5549900" cy="7286625"/>
          </a:xfrm>
          <a:prstGeom prst="roundRect">
            <a:avLst>
              <a:gd name="adj" fmla="val 1030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FB617B3-F8EA-42A6-8335-5212B3084C13}"/>
              </a:ext>
            </a:extLst>
          </p:cNvPr>
          <p:cNvSpPr>
            <a:spLocks noGrp="1"/>
          </p:cNvSpPr>
          <p:nvPr/>
        </p:nvSpPr>
        <p:spPr>
          <a:xfrm>
            <a:off x="6629400" y="2038350"/>
            <a:ext cx="50101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2765E8"/>
                </a:solidFill>
              </a:defRPr>
            </a:pPr>
            <a:r>
              <a:rPr sz="2700" b="1">
                <a:solidFill>
                  <a:srgbClr val="2765E8"/>
                </a:solidFill>
              </a:rPr>
              <a:t>主要成果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E66B7AB3-68C4-4977-A707-A6718D3108BC}"/>
              </a:ext>
            </a:extLst>
          </p:cNvPr>
          <p:cNvSpPr>
            <a:spLocks noGrp="1"/>
          </p:cNvSpPr>
          <p:nvPr/>
        </p:nvSpPr>
        <p:spPr>
          <a:xfrm>
            <a:off x="6629400" y="2590800"/>
            <a:ext cx="114300" cy="114300"/>
          </a:xfrm>
          <a:prstGeom prst="ellipse">
            <a:avLst/>
          </a:prstGeom>
          <a:solidFill>
            <a:srgbClr val="2765E8"/>
          </a:solidFill>
          <a:ln w="0">
            <a:solidFill>
              <a:srgbClr val="2765E8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F39101C-3956-4430-A893-9E1A0A6324B9}"/>
              </a:ext>
            </a:extLst>
          </p:cNvPr>
          <p:cNvSpPr>
            <a:spLocks noGrp="1"/>
          </p:cNvSpPr>
          <p:nvPr/>
        </p:nvSpPr>
        <p:spPr>
          <a:xfrm>
            <a:off x="6877050" y="2590800"/>
            <a:ext cx="47625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>
                <a:solidFill>
                  <a:srgbClr val="263246"/>
                </a:solidFill>
              </a:defRPr>
            </a:pPr>
            <a:r>
              <a:rPr sz="1950">
                <a:solidFill>
                  <a:srgbClr val="263246"/>
                </a:solidFill>
              </a:rPr>
              <a:t>完成残差式 MLP 理赔预测模型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7BB115F9-0897-4595-B0F1-6B824D75CF05}"/>
              </a:ext>
            </a:extLst>
          </p:cNvPr>
          <p:cNvSpPr>
            <a:spLocks noGrp="1"/>
          </p:cNvSpPr>
          <p:nvPr/>
        </p:nvSpPr>
        <p:spPr>
          <a:xfrm>
            <a:off x="6629400" y="3009900"/>
            <a:ext cx="114300" cy="114300"/>
          </a:xfrm>
          <a:prstGeom prst="ellipse">
            <a:avLst/>
          </a:prstGeom>
          <a:solidFill>
            <a:srgbClr val="C8D3DE"/>
          </a:solidFill>
          <a:ln w="0">
            <a:solidFill>
              <a:srgbClr val="C8D3DE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E4DB631-62A1-4922-BDCF-0827EB567A1F}"/>
              </a:ext>
            </a:extLst>
          </p:cNvPr>
          <p:cNvSpPr>
            <a:spLocks noGrp="1"/>
          </p:cNvSpPr>
          <p:nvPr/>
        </p:nvSpPr>
        <p:spPr>
          <a:xfrm>
            <a:off x="6877050" y="3009900"/>
            <a:ext cx="47625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>
                <a:solidFill>
                  <a:srgbClr val="263246"/>
                </a:solidFill>
              </a:defRPr>
            </a:pPr>
            <a:r>
              <a:rPr sz="1950">
                <a:solidFill>
                  <a:srgbClr val="263246"/>
                </a:solidFill>
              </a:rPr>
              <a:t>完成数据处理、特征工程、训练与评估流程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16624768-931D-4B2C-AAB5-022FA52A473E}"/>
              </a:ext>
            </a:extLst>
          </p:cNvPr>
          <p:cNvSpPr>
            <a:spLocks noGrp="1"/>
          </p:cNvSpPr>
          <p:nvPr/>
        </p:nvSpPr>
        <p:spPr>
          <a:xfrm>
            <a:off x="6629400" y="3429000"/>
            <a:ext cx="114300" cy="114300"/>
          </a:xfrm>
          <a:prstGeom prst="ellipse">
            <a:avLst/>
          </a:prstGeom>
          <a:solidFill>
            <a:srgbClr val="C8D3DE"/>
          </a:solidFill>
          <a:ln w="0">
            <a:solidFill>
              <a:srgbClr val="C8D3DE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D4E112A-950B-4756-81EA-1C1EC8AC7211}"/>
              </a:ext>
            </a:extLst>
          </p:cNvPr>
          <p:cNvSpPr>
            <a:spLocks noGrp="1"/>
          </p:cNvSpPr>
          <p:nvPr/>
        </p:nvSpPr>
        <p:spPr>
          <a:xfrm>
            <a:off x="6877050" y="3429000"/>
            <a:ext cx="47625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>
                <a:solidFill>
                  <a:srgbClr val="263246"/>
                </a:solidFill>
              </a:defRPr>
            </a:pPr>
            <a:r>
              <a:rPr sz="1950">
                <a:solidFill>
                  <a:srgbClr val="263246"/>
                </a:solidFill>
              </a:rPr>
              <a:t>完成 Spring Boot + Vue3 + FastAPI 平台集成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DE6BE8AD-8236-4772-8F78-9596BCC9B20F}"/>
              </a:ext>
            </a:extLst>
          </p:cNvPr>
          <p:cNvSpPr>
            <a:spLocks noGrp="1"/>
          </p:cNvSpPr>
          <p:nvPr/>
        </p:nvSpPr>
        <p:spPr>
          <a:xfrm>
            <a:off x="11918950" y="1771650"/>
            <a:ext cx="5549900" cy="7286625"/>
          </a:xfrm>
          <a:prstGeom prst="roundRect">
            <a:avLst>
              <a:gd name="adj" fmla="val 1030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A4E3A1-7DB2-4E4A-A4E3-9FD90923F04F}"/>
              </a:ext>
            </a:extLst>
          </p:cNvPr>
          <p:cNvSpPr>
            <a:spLocks noGrp="1"/>
          </p:cNvSpPr>
          <p:nvPr/>
        </p:nvSpPr>
        <p:spPr>
          <a:xfrm>
            <a:off x="12192000" y="2038350"/>
            <a:ext cx="50101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E15A4F"/>
                </a:solidFill>
              </a:defRPr>
            </a:pPr>
            <a:r>
              <a:rPr sz="2700" b="1">
                <a:solidFill>
                  <a:srgbClr val="E15A4F"/>
                </a:solidFill>
              </a:rPr>
              <a:t>未来优化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A3B3A192-BF2F-4926-94EF-30D90F4E1994}"/>
              </a:ext>
            </a:extLst>
          </p:cNvPr>
          <p:cNvSpPr>
            <a:spLocks noGrp="1"/>
          </p:cNvSpPr>
          <p:nvPr/>
        </p:nvSpPr>
        <p:spPr>
          <a:xfrm>
            <a:off x="12192000" y="2590800"/>
            <a:ext cx="114300" cy="114300"/>
          </a:xfrm>
          <a:prstGeom prst="ellipse">
            <a:avLst/>
          </a:prstGeom>
          <a:solidFill>
            <a:srgbClr val="E15A4F"/>
          </a:solidFill>
          <a:ln w="0">
            <a:solidFill>
              <a:srgbClr val="E15A4F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199577A-FD41-442D-95A7-1612C43D399D}"/>
              </a:ext>
            </a:extLst>
          </p:cNvPr>
          <p:cNvSpPr>
            <a:spLocks noGrp="1"/>
          </p:cNvSpPr>
          <p:nvPr/>
        </p:nvSpPr>
        <p:spPr>
          <a:xfrm>
            <a:off x="12439650" y="2590800"/>
            <a:ext cx="47625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>
                <a:solidFill>
                  <a:srgbClr val="263246"/>
                </a:solidFill>
              </a:defRPr>
            </a:pPr>
            <a:r>
              <a:rPr sz="1950">
                <a:solidFill>
                  <a:srgbClr val="263246"/>
                </a:solidFill>
              </a:rPr>
              <a:t>引入驾驶行为、天气、道路环境等外部数据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23654592-E0C1-4905-935A-BAAE236DEB5F}"/>
              </a:ext>
            </a:extLst>
          </p:cNvPr>
          <p:cNvSpPr>
            <a:spLocks noGrp="1"/>
          </p:cNvSpPr>
          <p:nvPr/>
        </p:nvSpPr>
        <p:spPr>
          <a:xfrm>
            <a:off x="12192000" y="3009900"/>
            <a:ext cx="114300" cy="114300"/>
          </a:xfrm>
          <a:prstGeom prst="ellipse">
            <a:avLst/>
          </a:prstGeom>
          <a:solidFill>
            <a:srgbClr val="C8D3DE"/>
          </a:solidFill>
          <a:ln w="0">
            <a:solidFill>
              <a:srgbClr val="C8D3DE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16A3A28-2DB8-4A43-9DFA-E58C3570D3A4}"/>
              </a:ext>
            </a:extLst>
          </p:cNvPr>
          <p:cNvSpPr>
            <a:spLocks noGrp="1"/>
          </p:cNvSpPr>
          <p:nvPr/>
        </p:nvSpPr>
        <p:spPr>
          <a:xfrm>
            <a:off x="12439650" y="3009900"/>
            <a:ext cx="47625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>
                <a:solidFill>
                  <a:srgbClr val="263246"/>
                </a:solidFill>
              </a:defRPr>
            </a:pPr>
            <a:r>
              <a:rPr sz="1950">
                <a:solidFill>
                  <a:srgbClr val="263246"/>
                </a:solidFill>
              </a:rPr>
              <a:t>拓展理赔金额估计和多任务联合建模</a:t>
            </a: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31461923-DAF6-40CC-8755-A7BF6322FA2C}"/>
              </a:ext>
            </a:extLst>
          </p:cNvPr>
          <p:cNvSpPr>
            <a:spLocks noGrp="1"/>
          </p:cNvSpPr>
          <p:nvPr/>
        </p:nvSpPr>
        <p:spPr>
          <a:xfrm>
            <a:off x="12192000" y="3429000"/>
            <a:ext cx="114300" cy="114300"/>
          </a:xfrm>
          <a:prstGeom prst="ellipse">
            <a:avLst/>
          </a:prstGeom>
          <a:solidFill>
            <a:srgbClr val="C8D3DE"/>
          </a:solidFill>
          <a:ln w="0">
            <a:solidFill>
              <a:srgbClr val="C8D3DE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D4C4DF1-2490-45A9-97D6-404B28A9B863}"/>
              </a:ext>
            </a:extLst>
          </p:cNvPr>
          <p:cNvSpPr>
            <a:spLocks noGrp="1"/>
          </p:cNvSpPr>
          <p:nvPr/>
        </p:nvSpPr>
        <p:spPr>
          <a:xfrm>
            <a:off x="12439650" y="3429000"/>
            <a:ext cx="47625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>
                <a:solidFill>
                  <a:srgbClr val="263246"/>
                </a:solidFill>
              </a:defRPr>
            </a:pPr>
            <a:r>
              <a:rPr sz="1950">
                <a:solidFill>
                  <a:srgbClr val="263246"/>
                </a:solidFill>
              </a:rPr>
              <a:t>增强模型版本管理、预警推送和业务联动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07FB5B5-6DF5-415F-9991-EAC0D0B46459}"/>
              </a:ext>
            </a:extLst>
          </p:cNvPr>
          <p:cNvSpPr>
            <a:spLocks noGrp="1"/>
          </p:cNvSpPr>
          <p:nvPr/>
        </p:nvSpPr>
        <p:spPr>
          <a:xfrm>
            <a:off x="819150" y="9391650"/>
            <a:ext cx="166497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1">
                <a:solidFill>
                  <a:srgbClr val="20796E"/>
                </a:solidFill>
              </a:defRPr>
            </a:pPr>
            <a:r>
              <a:rPr sz="2325" b="1">
                <a:solidFill>
                  <a:srgbClr val="20796E"/>
                </a:solidFill>
              </a:rPr>
              <a:t>最终结论：本文实现了车险理赔预测模型与业务系统的结合，为车险风险识别和辅助决策提供了可运行的原型方案。</a:t>
            </a:r>
          </a:p>
        </p:txBody>
      </p:sp>
    </p:spTree>
    <p:extLst>
      <p:ext uri="{BB962C8B-B14F-4D97-AF65-F5344CB8AC3E}">
        <p14:creationId xmlns:p14="http://schemas.microsoft.com/office/powerpoint/2010/main" val="205908630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888</Words>
  <Application>Microsoft Office PowerPoint</Application>
  <DocSecurity>0</DocSecurity>
  <PresentationFormat>自定义</PresentationFormat>
  <Paragraphs>281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8" baseType="lpstr">
      <vt:lpstr>宋体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信宇 钱</cp:lastModifiedBy>
  <cp:revision>1</cp:revision>
  <dcterms:created xsi:type="dcterms:W3CDTF">2026-05-06T14:30:29Z</dcterms:created>
  <dcterms:modified xsi:type="dcterms:W3CDTF">2026-05-16T12:09:53Z</dcterms:modified>
</cp:coreProperties>
</file>