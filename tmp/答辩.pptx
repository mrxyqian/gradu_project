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1cb28345b22e4f9c" Type="http://schemas.openxmlformats.org/package/2006/relationships/metadata/core-properties" Target="docProps/core.xml"/><Relationship Id="R4203c6087f5b49e1" Type="http://schemas.openxmlformats.org/officeDocument/2006/relationships/extended-properties" Target="docProps/app.xml"/><Relationship Id="Rf07f3eb5dd654424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eb0ee891257448f"/>
  </p:sldMasterIdLst>
  <p:notesMasterIdLst>
    <p:notesMasterId xmlns:r="http://schemas.openxmlformats.org/officeDocument/2006/relationships" r:id="R933f8a7507e0493a"/>
  </p:notesMasterIdLst>
  <p:sldIdLst>
    <p:sldId xmlns:r="http://schemas.openxmlformats.org/officeDocument/2006/relationships" id="256" r:id="R9a1d9910d3184567"/>
    <p:sldId xmlns:r="http://schemas.openxmlformats.org/officeDocument/2006/relationships" id="257" r:id="R0809a2c37558449d"/>
    <p:sldId xmlns:r="http://schemas.openxmlformats.org/officeDocument/2006/relationships" id="258" r:id="Rd30c5e8dcdb448be"/>
    <p:sldId xmlns:r="http://schemas.openxmlformats.org/officeDocument/2006/relationships" id="259" r:id="R84f19381991c43ba"/>
    <p:sldId xmlns:r="http://schemas.openxmlformats.org/officeDocument/2006/relationships" id="260" r:id="Re78409f8f3c74087"/>
    <p:sldId xmlns:r="http://schemas.openxmlformats.org/officeDocument/2006/relationships" id="261" r:id="R93cd5c7bef1e45e9"/>
    <p:sldId xmlns:r="http://schemas.openxmlformats.org/officeDocument/2006/relationships" id="262" r:id="R9771c9e90747409a"/>
    <p:sldId xmlns:r="http://schemas.openxmlformats.org/officeDocument/2006/relationships" id="263" r:id="R7ddf9233609a48fd"/>
    <p:sldId xmlns:r="http://schemas.openxmlformats.org/officeDocument/2006/relationships" id="264" r:id="R6b99104b7359414e"/>
    <p:sldId xmlns:r="http://schemas.openxmlformats.org/officeDocument/2006/relationships" id="265" r:id="Rd97f4ca286f643cf"/>
    <p:sldId xmlns:r="http://schemas.openxmlformats.org/officeDocument/2006/relationships" id="266" r:id="Rf59d88511a42447d"/>
    <p:sldId xmlns:r="http://schemas.openxmlformats.org/officeDocument/2006/relationships" id="267" r:id="R53514eeae79c494f"/>
    <p:sldId xmlns:r="http://schemas.openxmlformats.org/officeDocument/2006/relationships" id="268" r:id="Rd1f5d92347f0422c"/>
    <p:sldId xmlns:r="http://schemas.openxmlformats.org/officeDocument/2006/relationships" id="269" r:id="R36811054c261484c"/>
    <p:sldId xmlns:r="http://schemas.openxmlformats.org/officeDocument/2006/relationships" id="270" r:id="R2bd5322693484df8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0809a2c37558449d" Type="http://schemas.openxmlformats.org/officeDocument/2006/relationships/slide" Target="slides/slide2.xml"/><Relationship Id="R0eb0ee891257448f" Type="http://schemas.openxmlformats.org/officeDocument/2006/relationships/slideMaster" Target="slideMasters/slideMaster1.xml"/><Relationship Id="R2bd5322693484df8" Type="http://schemas.openxmlformats.org/officeDocument/2006/relationships/slide" Target="slides/slide15.xml"/><Relationship Id="R36811054c261484c" Type="http://schemas.openxmlformats.org/officeDocument/2006/relationships/slide" Target="slides/slide14.xml"/><Relationship Id="R53514eeae79c494f" Type="http://schemas.openxmlformats.org/officeDocument/2006/relationships/slide" Target="slides/slide12.xml"/><Relationship Id="R53f3a803792b472a" Type="http://schemas.openxmlformats.org/officeDocument/2006/relationships/theme" Target="theme/theme1.xml"/><Relationship Id="R6b99104b7359414e" Type="http://schemas.openxmlformats.org/officeDocument/2006/relationships/slide" Target="slides/slide9.xml"/><Relationship Id="R7ddf9233609a48fd" Type="http://schemas.openxmlformats.org/officeDocument/2006/relationships/slide" Target="slides/slide8.xml"/><Relationship Id="R84f19381991c43ba" Type="http://schemas.openxmlformats.org/officeDocument/2006/relationships/slide" Target="slides/slide4.xml"/><Relationship Id="R933f8a7507e0493a" Type="http://schemas.openxmlformats.org/officeDocument/2006/relationships/notesMaster" Target="notesMasters/notesMaster1.xml"/><Relationship Id="R93cd5c7bef1e45e9" Type="http://schemas.openxmlformats.org/officeDocument/2006/relationships/slide" Target="slides/slide6.xml"/><Relationship Id="R9771c9e90747409a" Type="http://schemas.openxmlformats.org/officeDocument/2006/relationships/slide" Target="slides/slide7.xml"/><Relationship Id="R9a1d9910d3184567" Type="http://schemas.openxmlformats.org/officeDocument/2006/relationships/slide" Target="slides/slide1.xml"/><Relationship Id="R9b38e3d369cf4962" Type="http://schemas.openxmlformats.org/officeDocument/2006/relationships/viewProps" Target="viewProps.xml"/><Relationship Id="Rd1f5d92347f0422c" Type="http://schemas.openxmlformats.org/officeDocument/2006/relationships/slide" Target="slides/slide13.xml"/><Relationship Id="Rd30c5e8dcdb448be" Type="http://schemas.openxmlformats.org/officeDocument/2006/relationships/slide" Target="slides/slide3.xml"/><Relationship Id="Rd97f4ca286f643cf" Type="http://schemas.openxmlformats.org/officeDocument/2006/relationships/slide" Target="slides/slide10.xml"/><Relationship Id="Re78409f8f3c74087" Type="http://schemas.openxmlformats.org/officeDocument/2006/relationships/slide" Target="slides/slide5.xml"/><Relationship Id="Rf53ceeff24ca46be" Type="http://schemas.openxmlformats.org/officeDocument/2006/relationships/presProps" Target="presProps.xml"/><Relationship Id="Rf59d88511a42447d" Type="http://schemas.openxmlformats.org/officeDocument/2006/relationships/slide" Target="slides/slide11.xml"/><Relationship Id="Rfcdf34592fd44ada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ac8cd14c96d2489f" Type="http://schemas.openxmlformats.org/officeDocument/2006/relationships/theme" Target="theme/theme2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0c58ecedd2f0418a" Type="http://schemas.openxmlformats.org/officeDocument/2006/relationships/notesMaster" Target="../notesMasters/notesMaster1.xml"/><Relationship Id="R13154101adb34c40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5d4d878ce9534228" Type="http://schemas.openxmlformats.org/officeDocument/2006/relationships/slide" Target="../slides/slide2.xml"/><Relationship Id="Rd152ed12ef2f4b0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0766dad075d44210" Type="http://schemas.openxmlformats.org/officeDocument/2006/relationships/notesMaster" Target="../notesMasters/notesMaster1.xml"/><Relationship Id="R56d4cff6d3664bcd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37891105141b4372" Type="http://schemas.openxmlformats.org/officeDocument/2006/relationships/slide" Target="../slides/slide4.xml"/><Relationship Id="Rd2fd624681bc42ec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6216c8fa347841fa" Type="http://schemas.openxmlformats.org/officeDocument/2006/relationships/slide" Target="../slides/slide5.xml"/><Relationship Id="Rc3f954545d65440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0ba75bf8089f486d" Type="http://schemas.openxmlformats.org/officeDocument/2006/relationships/slide" Target="../slides/slide6.xml"/><Relationship Id="R257bb186e1144fe6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4af2218d086a4d4d" Type="http://schemas.openxmlformats.org/officeDocument/2006/relationships/notesMaster" Target="../notesMasters/notesMaster1.xml"/><Relationship Id="R90df0709933c4d69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08ef76c623ff41b6" Type="http://schemas.openxmlformats.org/officeDocument/2006/relationships/notesMaster" Target="../notesMasters/notesMaster1.xml"/><Relationship Id="R338e51da7335471b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26eae1e71cae4d3d" Type="http://schemas.openxmlformats.org/officeDocument/2006/relationships/notesMaster" Target="../notesMasters/notesMaster1.xml"/><Relationship Id="R507131125d904cd7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39a75f25e978485f" Type="http://schemas.openxmlformats.org/officeDocument/2006/relationships/slide" Target="../slides/slide10.xml"/><Relationship Id="R44f8c661a1d14c5f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5e9eafc0bfac482f" Type="http://schemas.openxmlformats.org/officeDocument/2006/relationships/slide" Target="../slides/slide11.xml"/><Relationship Id="Rab8f1189a4e94337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837c372826244f1f" Type="http://schemas.openxmlformats.org/officeDocument/2006/relationships/notesMaster" Target="../notesMasters/notesMaster1.xml"/><Relationship Id="Rac908ef34ae24366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5249338424b740bf" Type="http://schemas.openxmlformats.org/officeDocument/2006/relationships/slide" Target="../slides/slide13.xml"/><Relationship Id="R8b1ca459f93e484f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1a489331c13a4021" Type="http://schemas.openxmlformats.org/officeDocument/2006/relationships/notesMaster" Target="../notesMasters/notesMaster1.xml"/><Relationship Id="R4441509be41e478e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b1b66d36f3c44dc8" Type="http://schemas.openxmlformats.org/officeDocument/2006/relationships/notesMaster" Target="../notesMasters/notesMaster1.xml"/><Relationship Id="Rc29bca9f31e140ee" Type="http://schemas.openxmlformats.org/officeDocument/2006/relationships/slide" Target="../slides/slide15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0:00-0:35 开场。只交代题目、身份和答辩主题，不提前讲实验指标。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0:35-1:10 介绍目录和时间分配。新版目录用六个部分展开，比上一版更像答辩路线。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1:10-2:20 讲研究背景：理赔连接成本、服务与风险控制；数据积累使预测建模成为可落地问题。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2:20-3:25 说明研究目标和主要工作。强调论文不是只比较模型，而是完成从数据到系统的闭环。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3:25-4:15 单独讲技术栈。说明每个技术服务于哪个层次，不再塞在封面里。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4:15-5:10 讲系统架构：表现层、接口层、业务层、智能预测层、数据持久层、基础框架层。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5:10-6:00 讲功能需求。突出十个模块归为业务管理、可视化分析、理赔预测三类。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6:00-7:05 讲数据集、样本不均衡和数据处理策略。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7:05-8:00 讲特征工程。重点是日期参考点、车辆属性、保单合同特征和类别编码。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8:00-9:05 讲模型结构。基础是 MLP，重点是残差块和分类头。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9:05-10:05 讲训练策略。强调阈值搜索服务于车险风控的召回目标。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10:05-11:10 展示核心指标。AUC 说明排序能力，Claim Recall 说明对理赔样本的识别。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11:10-12:15 讲消融实验。说明优化策略的取舍和最佳网络结构。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12:15-13:20 讲系统实现。用截图证明模型训练和预测展示已经落地。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13:20-14:50 总结测试、主要工作、不足和未来方向。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<?xml version='1.0' encoding='UTF-8' standalone='yes'?>
<Relationships xmlns="http://schemas.openxmlformats.org/package/2006/relationships"><Relationship Id="Re75336a2619648d7" Type="http://schemas.openxmlformats.org/officeDocument/2006/relationships/slideMaster" Target="../slideMasters/slideMaster1.xml"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1b1b8471d2aa4033" Type="http://schemas.openxmlformats.org/officeDocument/2006/relationships/slideLayout" Target="../slideLayouts/slideLayout2.xml"/><Relationship Id="R8ac0892f77f54355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b1b8471d2aa403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b1cb4a3f571a4357" Type="http://schemas.openxmlformats.org/officeDocument/2006/relationships/notesSlide" Target="../notesSlides/notesSlide1.xml"/><Relationship Id="Rb2fef98e4f394b49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a7ec6e06e3f04dc5" Type="http://schemas.openxmlformats.org/officeDocument/2006/relationships/slideLayout" Target="../slideLayouts/slideLayout2.xml"/><Relationship Id="Rb544bc615bde492f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46a974e33dc84004" Type="http://schemas.openxmlformats.org/officeDocument/2006/relationships/notesSlide" Target="../notesSlides/notesSlide3.xml"/><Relationship Id="Ree2017e79708441f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4848e78c5e1d4056" Type="http://schemas.openxmlformats.org/officeDocument/2006/relationships/notesSlide" Target="../notesSlides/notesSlide4.xml"/><Relationship Id="Rf404aa5d533d463d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0b8e11d1c8834e0a" Type="http://schemas.openxmlformats.org/officeDocument/2006/relationships/slideLayout" Target="../slideLayouts/slideLayout2.xml"/><Relationship Id="Rbaeab4cb9e4c4e41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325bc26485994ac0" Type="http://schemas.openxmlformats.org/officeDocument/2006/relationships/notesSlide" Target="../notesSlides/notesSlide6.xml"/><Relationship Id="R4758bf4c609b408d" Type="http://schemas.openxmlformats.org/officeDocument/2006/relationships/slideLayout" Target="../slideLayouts/slideLayout2.xml"/><Relationship Id="R9cf432159d2a487c" Type="http://schemas.openxmlformats.org/officeDocument/2006/relationships/image" Target="../media/image.png"/></Relationships>
</file>

<file path=ppt/slides/_rels/slide7.xml.rels><?xml version='1.0' encoding='UTF-8' standalone='yes'?>
<Relationships xmlns="http://schemas.openxmlformats.org/package/2006/relationships"><Relationship Id="R349e410ed5be4d29" Type="http://schemas.openxmlformats.org/officeDocument/2006/relationships/image" Target="../media/image2.png"/><Relationship Id="Re6ceef2bcf0b4cc5" Type="http://schemas.openxmlformats.org/officeDocument/2006/relationships/notesSlide" Target="../notesSlides/notesSlide7.xml"/><Relationship Id="Re95e8e945e7d48a2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2093c873128b4a96" Type="http://schemas.openxmlformats.org/officeDocument/2006/relationships/notesSlide" Target="../notesSlides/notesSlide8.xml"/><Relationship Id="Rd70049da0c31418b" Type="http://schemas.openxmlformats.org/officeDocument/2006/relationships/slideLayout" Target="../slideLayouts/slideLayout2.xml"/><Relationship Id="Recea276743aa4a1a" Type="http://schemas.openxmlformats.org/officeDocument/2006/relationships/chart" Target="charts/chart1.xml"/><Relationship Id="rId4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2c0266fa2692424e" Type="http://schemas.openxmlformats.org/officeDocument/2006/relationships/notesSlide" Target="../notesSlides/notesSlide9.xml"/><Relationship Id="R972eef4b1351452c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2da24d54094146de" Type="http://schemas.openxmlformats.org/officeDocument/2006/relationships/image" Target="../media/image3.png"/><Relationship Id="R3385cb72b11f44eb" Type="http://schemas.openxmlformats.org/officeDocument/2006/relationships/slideLayout" Target="../slideLayouts/slideLayout2.xml"/><Relationship Id="Rfd636c5de2cd482c" Type="http://schemas.openxmlformats.org/officeDocument/2006/relationships/notesSlide" Target="../notesSlides/notesSlide10.xml"/><Relationship Id="rId4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2ec1e7383c6541fb" Type="http://schemas.openxmlformats.org/officeDocument/2006/relationships/notesSlide" Target="../notesSlides/notesSlide11.xml"/><Relationship Id="Ra60e52eafd3c4567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8c65f8a4f6b54e14" Type="http://schemas.openxmlformats.org/officeDocument/2006/relationships/notesSlide" Target="../notesSlides/notesSlide12.xml"/><Relationship Id="Rbcd4522a44554c20" Type="http://schemas.openxmlformats.org/officeDocument/2006/relationships/slideLayout" Target="../slideLayouts/slideLayout2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29b834b05b144609" Type="http://schemas.openxmlformats.org/officeDocument/2006/relationships/notesSlide" Target="../notesSlides/notesSlide13.xml"/><Relationship Id="R41afe31a932f47cf" Type="http://schemas.openxmlformats.org/officeDocument/2006/relationships/chart" Target="charts/chart2.xml"/><Relationship Id="R99b106741099413c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85f527d2229f40e8" Type="http://schemas.openxmlformats.org/officeDocument/2006/relationships/slideLayout" Target="../slideLayouts/slideLayout2.xml"/><Relationship Id="Rb88092fb9ba84d8f" Type="http://schemas.openxmlformats.org/officeDocument/2006/relationships/image" Target="../media/image4.png"/><Relationship Id="Rd6653f2c73b24e7f" Type="http://schemas.openxmlformats.org/officeDocument/2006/relationships/notesSlide" Target="../notesSlides/notesSlide14.xml"/><Relationship Id="Rdf6d5bcabd064a25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7c8ec8113ed84f54" Type="http://schemas.openxmlformats.org/officeDocument/2006/relationships/notesSlide" Target="../notesSlides/notesSlide15.xml"/><Relationship Id="Rbcb7a327f59243b0" Type="http://schemas.openxmlformats.org/officeDocument/2006/relationships/slideLayout" Target="../slideLayouts/slideLayout2.xml"/></Relationships>
</file>

<file path=ppt/slides/charts/chart1.xml><?xml version="1.0" encoding="utf-8"?>
<c:chartSpace xmlns:c="http://schemas.openxmlformats.org/drawingml/2006/chart">
  <c:lang val="en-US"/>
  <c:roundedCorners val="0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/>
              <a:t>理赔样本与非理赔样本分布</a:t>
            </a:r>
          </a:p>
        </c:rich>
      </c:tx>
      <c:overlay val="0"/>
    </c:title>
    <c:autoTitleDeleted val="0"/>
    <c:plotArea>
      <c:layout/>
      <c:barChart>
        <c:barDir val="col"/>
        <c:varyColors val="0"/>
        <c:ser>
          <c:idx val="0"/>
          <c:order val="0"/>
          <c:tx>
            <c:v>样本数</c:v>
          </c:tx>
          <c:cat>
            <c:strLit>
              <c:ptCount val="2"/>
              <c:pt idx="0">
                <c:v>非理赔样本</c:v>
              </c:pt>
              <c:pt idx="1">
                <c:v>理赔样本</c:v>
              </c:pt>
            </c:strLit>
          </c:cat>
          <c:val>
            <c:numLit>
              <c:formatCode/>
              <c:ptCount val="2"/>
              <c:pt idx="0">
                <c:v>85909</c:v>
              </c:pt>
              <c:pt idx="1">
                <c:v>19646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overlay val="0"/>
    </c:legend>
    <c:plotVisOnly val="1"/>
  </c:chart>
</c:chartSpace>
</file>

<file path=ppt/slides/charts/chart2.xml><?xml version="1.0" encoding="utf-8"?>
<c:chartSpace xmlns:c="http://schemas.openxmlformats.org/drawingml/2006/chart">
  <c:lang val="en-US"/>
  <c:roundedCorners val="0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/>
              <a:t>损失权重与阈值策略对比</a:t>
            </a:r>
          </a:p>
        </c:rich>
      </c:tx>
      <c:overlay val="0"/>
    </c:title>
    <c:autoTitleDeleted val="0"/>
    <c:plotArea>
      <c:layout/>
      <c:barChart>
        <c:barDir val="col"/>
        <c:varyColors val="0"/>
        <c:ser>
          <c:idx val="0"/>
          <c:order val="0"/>
          <c:tx>
            <c:v>F1</c:v>
          </c:tx>
          <c:cat>
            <c:strLit>
              <c:ptCount val="4"/>
              <c:pt idx="0">
                <c:v>加权+自动</c:v>
              </c:pt>
              <c:pt idx="1">
                <c:v>加权+固定</c:v>
              </c:pt>
              <c:pt idx="2">
                <c:v>非加权+自动</c:v>
              </c:pt>
              <c:pt idx="3">
                <c:v>非加权+固定</c:v>
              </c:pt>
            </c:strLit>
          </c:cat>
          <c:val>
            <c:numLit>
              <c:formatCode/>
              <c:ptCount val="4"/>
              <c:pt idx="0">
                <c:v>0.755</c:v>
              </c:pt>
              <c:pt idx="1">
                <c:v>0.7046</c:v>
              </c:pt>
              <c:pt idx="2">
                <c:v>0.7477</c:v>
              </c:pt>
              <c:pt idx="3">
                <c:v>0.7628</c:v>
              </c:pt>
            </c:numLit>
          </c:val>
        </c:ser>
        <c:ser>
          <c:idx val="1"/>
          <c:order val="1"/>
          <c:tx>
            <c:v>Recall</c:v>
          </c:tx>
          <c:cat>
            <c:strLit>
              <c:ptCount val="4"/>
              <c:pt idx="0">
                <c:v>加权+自动</c:v>
              </c:pt>
              <c:pt idx="1">
                <c:v>加权+固定</c:v>
              </c:pt>
              <c:pt idx="2">
                <c:v>非加权+自动</c:v>
              </c:pt>
              <c:pt idx="3">
                <c:v>非加权+固定</c:v>
              </c:pt>
            </c:strLit>
          </c:cat>
          <c:val>
            <c:numLit>
              <c:formatCode/>
              <c:ptCount val="4"/>
              <c:pt idx="0">
                <c:v>0.8198</c:v>
              </c:pt>
              <c:pt idx="1">
                <c:v>0.9216</c:v>
              </c:pt>
              <c:pt idx="2">
                <c:v>0.8518</c:v>
              </c:pt>
              <c:pt idx="3">
                <c:v>0.751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overlay val="0"/>
    </c:legend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3C0AC37-8517-4E6B-9A4C-101C3830C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10000"/>
            <a:ext cx="2190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796E"/>
          </a:solidFill>
          <a:ln xmlns:a="http://schemas.openxmlformats.org/drawingml/2006/main" w="0">
            <a:solidFill>
              <a:srgbClr val="20796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CFC846-F652-452D-A224-C33BEA6BB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10050"/>
            <a:ext cx="10572750" cy="140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550" b="1">
                <a:solidFill>
                  <a:srgbClr val="0D172A"/>
                </a:solidFill>
              </a:defRPr>
            </a:pPr>
            <a:r>
              <a:rPr sz="5550" b="1">
                <a:solidFill>
                  <a:srgbClr val="0D172A"/>
                </a:solidFill>
              </a:rPr>
              <a:t>基于深度学习的车险理赔预测系统设计与实现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183A30-C3CD-4BB1-9656-4151FE689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43600"/>
            <a:ext cx="112966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0796E"/>
                </a:solidFill>
              </a:defRPr>
            </a:pPr>
            <a:r>
              <a:rPr sz="2700" b="1">
                <a:solidFill>
                  <a:srgbClr val="20796E"/>
                </a:solidFill>
              </a:rPr>
              <a:t>本科毕业论文答辩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4D76C3-10AA-4086-9AF9-B021DAA01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0150" y="3524250"/>
            <a:ext cx="47434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D172A"/>
                </a:solidFill>
              </a:defRPr>
            </a:pPr>
            <a:r>
              <a:rPr sz="2700" b="1">
                <a:solidFill>
                  <a:srgbClr val="0D172A"/>
                </a:solidFill>
              </a:rPr>
              <a:t>重庆邮电大学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68CACA-EA6D-45A0-A256-87130C777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0150" y="40957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solidFill>
              <a:srgbClr val="D8E1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A28F16-275F-465F-9ACC-9B72E28B0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0150" y="4324350"/>
            <a:ext cx="4743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263246"/>
                </a:solidFill>
              </a:defRPr>
            </a:pPr>
            <a:r>
              <a:rPr sz="2100">
                <a:solidFill>
                  <a:srgbClr val="263246"/>
                </a:solidFill>
              </a:rPr>
              <a:t>人工智能学院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243AF7-8A23-4986-A3DF-653724BC0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0150" y="4819650"/>
            <a:ext cx="4743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263246"/>
                </a:solidFill>
              </a:defRPr>
            </a:pPr>
            <a:r>
              <a:rPr sz="2100">
                <a:solidFill>
                  <a:srgbClr val="263246"/>
                </a:solidFill>
              </a:rPr>
              <a:t>学生：钱信宇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A9151D-7EEA-466C-A6B3-3FA302D6B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0150" y="5314950"/>
            <a:ext cx="4743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263246"/>
                </a:solidFill>
              </a:defRPr>
            </a:pPr>
            <a:r>
              <a:rPr sz="2100">
                <a:solidFill>
                  <a:srgbClr val="263246"/>
                </a:solidFill>
              </a:rPr>
              <a:t>专业：数据科学与大数据技术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82F7AE-6565-445B-A8E6-2EBB4E885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0150" y="5810250"/>
            <a:ext cx="4743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263246"/>
                </a:solidFill>
              </a:defRPr>
            </a:pPr>
            <a:r>
              <a:rPr sz="2100">
                <a:solidFill>
                  <a:srgbClr val="263246"/>
                </a:solidFill>
              </a:rPr>
              <a:t>指导教师：丁晓宇 讲师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E6E1A7-3F1A-40F6-AC5C-65FF8BE40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0150" y="6305550"/>
            <a:ext cx="4743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596A80"/>
                </a:solidFill>
              </a:defRPr>
            </a:pPr>
            <a:r>
              <a:rPr sz="1950">
                <a:solidFill>
                  <a:srgbClr val="596A80"/>
                </a:solidFill>
              </a:rPr>
              <a:t>2026年5月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9F330D-B723-482C-9CA2-1A0B6B496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353550"/>
            <a:ext cx="16459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96A80"/>
                </a:solidFill>
              </a:defRPr>
            </a:pPr>
            <a:r>
              <a:rPr sz="1650">
                <a:solidFill>
                  <a:srgbClr val="596A80"/>
                </a:solidFill>
              </a:rPr>
              <a:t>Design and Implementation of Auto Insurance Claim Prediction System Based on Deep Learning</a:t>
            </a:r>
          </a:p>
        </p:txBody>
      </p:sp>
    </p:spTree>
    <p:extLst>
      <p:ext uri="{BB962C8B-B14F-4D97-AF65-F5344CB8AC3E}">
        <p14:creationId xmlns:p14="http://schemas.microsoft.com/office/powerpoint/2010/main" val="6292941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F066EAF-820C-4B39-BE21-A27A615EA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9600"/>
            <a:ext cx="15868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0796E"/>
                </a:solidFill>
              </a:defRPr>
            </a:pPr>
            <a:r>
              <a:rPr sz="1650" b="1">
                <a:solidFill>
                  <a:srgbClr val="20796E"/>
                </a:solidFill>
              </a:rPr>
              <a:t>围绕“模型研究 + 系统落地”展开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06F5BD-F893-421D-80CD-1494075D0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95350"/>
            <a:ext cx="22098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D172A"/>
                </a:solidFill>
              </a:defRPr>
            </a:pPr>
            <a:r>
              <a:rPr sz="4350" b="1">
                <a:solidFill>
                  <a:srgbClr val="0D172A"/>
                </a:solidFill>
              </a:rPr>
              <a:t>答辩目录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236C37-3E73-434F-9026-B832F9095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0" y="9144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0796E"/>
                </a:solidFill>
              </a:defRPr>
            </a:pPr>
            <a:r>
              <a:rPr sz="1800" b="1">
                <a:solidFill>
                  <a:srgbClr val="20796E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23B04B-F8F8-4076-AA92-8EC5DA3EB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46863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6600" b="1">
                <a:solidFill>
                  <a:srgbClr val="20796E"/>
                </a:solidFill>
              </a:defRPr>
            </a:pPr>
            <a:r>
              <a:rPr sz="6600" b="1">
                <a:solidFill>
                  <a:srgbClr val="20796E"/>
                </a:solidFill>
              </a:rPr>
              <a:t>15分钟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D73059-C1CD-4B88-8826-0F69CBD73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33950"/>
            <a:ext cx="46863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D172A"/>
                </a:solidFill>
              </a:defRPr>
            </a:pPr>
            <a:r>
              <a:rPr sz="3225" b="1">
                <a:solidFill>
                  <a:srgbClr val="0D172A"/>
                </a:solidFill>
              </a:rPr>
              <a:t>答辩节奏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8A9AEC-B324-4A52-A650-1E36EB8CD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62600"/>
            <a:ext cx="1428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796E"/>
          </a:solidFill>
          <a:ln xmlns:a="http://schemas.openxmlformats.org/drawingml/2006/main" w="0">
            <a:solidFill>
              <a:srgbClr val="20796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E56E45-5B18-4298-AA67-E08C8B753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67400"/>
            <a:ext cx="46863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263246"/>
                </a:solidFill>
              </a:defRPr>
            </a:pPr>
            <a:r>
              <a:rPr sz="2100">
                <a:solidFill>
                  <a:srgbClr val="263246"/>
                </a:solidFill>
              </a:rPr>
              <a:t>主线：背景与目标、关键设计、实验结果和系统展示。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300405-5CA6-414E-9A8C-AF43FE2E4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629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796E"/>
          </a:solidFill>
          <a:ln xmlns:a="http://schemas.openxmlformats.org/drawingml/2006/main" w="0">
            <a:solidFill>
              <a:srgbClr val="20796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1674E4-52A6-461A-854A-324AEE156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629400"/>
            <a:ext cx="44386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63246"/>
                </a:solidFill>
              </a:defRPr>
            </a:pPr>
            <a:r>
              <a:rPr sz="1875">
                <a:solidFill>
                  <a:srgbClr val="263246"/>
                </a:solidFill>
              </a:rPr>
              <a:t>背景和目标不铺开过多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E79EA9-0D7C-4DB8-8045-04D7E135C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991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3DE"/>
          </a:solidFill>
          <a:ln xmlns:a="http://schemas.openxmlformats.org/drawingml/2006/main" w="0">
            <a:solidFill>
              <a:srgbClr val="C8D3D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454678-D52D-4029-9E72-2EA9B85E2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991350"/>
            <a:ext cx="44386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63246"/>
                </a:solidFill>
              </a:defRPr>
            </a:pPr>
            <a:r>
              <a:rPr sz="1875">
                <a:solidFill>
                  <a:srgbClr val="263246"/>
                </a:solidFill>
              </a:rPr>
              <a:t>方法页聚焦关键设计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3AACBD-609C-4108-B518-FCFE8A240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353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3DE"/>
          </a:solidFill>
          <a:ln xmlns:a="http://schemas.openxmlformats.org/drawingml/2006/main" w="0">
            <a:solidFill>
              <a:srgbClr val="C8D3D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EC1531-7F46-42D9-BA18-17A0A9652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353300"/>
            <a:ext cx="44386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63246"/>
                </a:solidFill>
              </a:defRPr>
            </a:pPr>
            <a:r>
              <a:rPr sz="1875">
                <a:solidFill>
                  <a:srgbClr val="263246"/>
                </a:solidFill>
              </a:rPr>
              <a:t>结果页服务结论表达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F2CCF0-2FBE-44E9-AA98-ED3E8E645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2752" y="2728913"/>
            <a:ext cx="11456099" cy="895350"/>
          </a:xfrm>
          <a:prstGeom xmlns:a="http://schemas.openxmlformats.org/drawingml/2006/main" prst="roundRect">
            <a:avLst>
              <a:gd name="adj" fmla="val 2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86BF2B-519E-414F-9863-21E139F58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990850"/>
            <a:ext cx="666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20796E"/>
                </a:solidFill>
              </a:defRPr>
            </a:pPr>
            <a:r>
              <a:rPr sz="2925" b="1">
                <a:solidFill>
                  <a:srgbClr val="20796E"/>
                </a:solidFill>
              </a:rPr>
              <a:t>01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16DDF9-E369-47E7-8A39-2D08B745A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895600"/>
            <a:ext cx="666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796E"/>
          </a:solidFill>
          <a:ln xmlns:a="http://schemas.openxmlformats.org/drawingml/2006/main" w="0">
            <a:solidFill>
              <a:srgbClr val="20796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2A3F8E-EDD9-46CB-A2D5-8C193231F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914650"/>
            <a:ext cx="7753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D172A"/>
                </a:solidFill>
              </a:defRPr>
            </a:pPr>
            <a:r>
              <a:rPr sz="2175" b="1">
                <a:solidFill>
                  <a:srgbClr val="0D172A"/>
                </a:solidFill>
              </a:rPr>
              <a:t>研究背景与目标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6D9975-8DE4-4D5B-96C2-F214A4091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82850" y="2781300"/>
            <a:ext cx="106680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4F1"/>
          </a:solidFill>
          <a:ln xmlns:a="http://schemas.openxmlformats.org/drawingml/2006/main" w="9525">
            <a:solidFill>
              <a:srgbClr val="20796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FC530F-3746-48A3-9B46-6F4204BC9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8100" y="2876550"/>
            <a:ext cx="876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0796E"/>
                </a:solidFill>
              </a:defRPr>
            </a:pPr>
            <a:r>
              <a:rPr sz="1500" b="1">
                <a:solidFill>
                  <a:srgbClr val="20796E"/>
                </a:solidFill>
              </a:rPr>
              <a:t>约2min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13F6BD-BA98-487E-BB8C-FB93FABBC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371850"/>
            <a:ext cx="8953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96A80"/>
                </a:solidFill>
              </a:defRPr>
            </a:pPr>
            <a:r>
              <a:rPr sz="1650">
                <a:solidFill>
                  <a:srgbClr val="596A80"/>
                </a:solidFill>
              </a:rPr>
              <a:t>业务痛点、研究意义、论文主要工作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A2AF8E-94B2-4D24-956F-C5A724C51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21100" y="3086100"/>
            <a:ext cx="838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596A80"/>
                </a:solidFill>
              </a:defRPr>
            </a:pPr>
            <a:r>
              <a:rPr sz="1575" b="1">
                <a:solidFill>
                  <a:srgbClr val="596A80"/>
                </a:solidFill>
              </a:rPr>
              <a:t>03-04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92CAA1-A70C-4AB1-B35B-28C6C0950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2752" y="3748088"/>
            <a:ext cx="11456099" cy="895350"/>
          </a:xfrm>
          <a:prstGeom xmlns:a="http://schemas.openxmlformats.org/drawingml/2006/main" prst="roundRect">
            <a:avLst>
              <a:gd name="adj" fmla="val 2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DC9BBA-2A98-4150-855A-6690BD2DF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00500"/>
            <a:ext cx="666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2765E8"/>
                </a:solidFill>
              </a:defRPr>
            </a:pPr>
            <a:r>
              <a:rPr sz="2925" b="1">
                <a:solidFill>
                  <a:srgbClr val="2765E8"/>
                </a:solidFill>
              </a:rPr>
              <a:t>02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4F3824-728A-4818-9ABF-46EF0D00B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924300"/>
            <a:ext cx="666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5E8"/>
          </a:solidFill>
          <a:ln xmlns:a="http://schemas.openxmlformats.org/drawingml/2006/main" w="0">
            <a:solidFill>
              <a:srgbClr val="2765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16856F-3F7A-4010-B9AD-C832832EF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924300"/>
            <a:ext cx="7753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D172A"/>
                </a:solidFill>
              </a:defRPr>
            </a:pPr>
            <a:r>
              <a:rPr sz="2175" b="1">
                <a:solidFill>
                  <a:srgbClr val="0D172A"/>
                </a:solidFill>
              </a:rPr>
              <a:t>技术栈与系统设计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C8244A-7EF2-4B23-958F-EB3B5B57D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82850" y="3790950"/>
            <a:ext cx="106680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2765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C75C37A-52AC-40CF-936F-00B99F971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8100" y="3886200"/>
            <a:ext cx="876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765E8"/>
                </a:solidFill>
              </a:defRPr>
            </a:pPr>
            <a:r>
              <a:rPr sz="1500" b="1">
                <a:solidFill>
                  <a:srgbClr val="2765E8"/>
                </a:solidFill>
              </a:rPr>
              <a:t>约3min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5404005-E7B9-4EDB-AC65-B9D54C667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381500"/>
            <a:ext cx="8953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96A80"/>
                </a:solidFill>
              </a:defRPr>
            </a:pPr>
            <a:r>
              <a:rPr sz="1650">
                <a:solidFill>
                  <a:srgbClr val="596A80"/>
                </a:solidFill>
              </a:rPr>
              <a:t>前后端分离、模型服务解耦、功能模块划分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FD2A722-740D-434F-9ACE-591F251F3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21100" y="4095750"/>
            <a:ext cx="838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596A80"/>
                </a:solidFill>
              </a:defRPr>
            </a:pPr>
            <a:r>
              <a:rPr sz="1575" b="1">
                <a:solidFill>
                  <a:srgbClr val="596A80"/>
                </a:solidFill>
              </a:rPr>
              <a:t>05-07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B0C0A0C-EC7F-4447-9A74-61964A968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2752" y="4767263"/>
            <a:ext cx="11456099" cy="895350"/>
          </a:xfrm>
          <a:prstGeom xmlns:a="http://schemas.openxmlformats.org/drawingml/2006/main" prst="roundRect">
            <a:avLst>
              <a:gd name="adj" fmla="val 2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D6C294C-CA5B-415D-BA6C-F0D432B36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029200"/>
            <a:ext cx="666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E15A4F"/>
                </a:solidFill>
              </a:defRPr>
            </a:pPr>
            <a:r>
              <a:rPr sz="2925" b="1">
                <a:solidFill>
                  <a:srgbClr val="E15A4F"/>
                </a:solidFill>
              </a:rPr>
              <a:t>03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6343204-388B-497A-B43B-FF853A2EE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953000"/>
            <a:ext cx="666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5A4F"/>
          </a:solidFill>
          <a:ln xmlns:a="http://schemas.openxmlformats.org/drawingml/2006/main" w="0">
            <a:solidFill>
              <a:srgbClr val="E15A4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9C06D48-D342-4B4B-92A5-B0CD673A9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953000"/>
            <a:ext cx="7753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D172A"/>
                </a:solidFill>
              </a:defRPr>
            </a:pPr>
            <a:r>
              <a:rPr sz="2175" b="1">
                <a:solidFill>
                  <a:srgbClr val="0D172A"/>
                </a:solidFill>
              </a:rPr>
              <a:t>数据处理与特征工程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2F70E44-4F2F-4B4A-B486-A8A8A67F1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82850" y="4819650"/>
            <a:ext cx="106680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DEDEA"/>
          </a:solidFill>
          <a:ln xmlns:a="http://schemas.openxmlformats.org/drawingml/2006/main" w="9525">
            <a:solidFill>
              <a:srgbClr val="E15A4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990357E-8BDB-4CF9-A5D1-E6597883A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8100" y="4914900"/>
            <a:ext cx="876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E15A4F"/>
                </a:solidFill>
              </a:defRPr>
            </a:pPr>
            <a:r>
              <a:rPr sz="1500" b="1">
                <a:solidFill>
                  <a:srgbClr val="E15A4F"/>
                </a:solidFill>
              </a:rPr>
              <a:t>约2min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F6E43A0-7DDF-45F5-9123-1B77B001C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5410200"/>
            <a:ext cx="8953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96A80"/>
                </a:solidFill>
              </a:defRPr>
            </a:pPr>
            <a:r>
              <a:rPr sz="1650">
                <a:solidFill>
                  <a:srgbClr val="596A80"/>
                </a:solidFill>
              </a:rPr>
              <a:t>数据集、缺失值、类别不均衡、日期语义特征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E99A49D-C221-4530-8CD4-4D0678733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21100" y="5124450"/>
            <a:ext cx="838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596A80"/>
                </a:solidFill>
              </a:defRPr>
            </a:pPr>
            <a:r>
              <a:rPr sz="1575" b="1">
                <a:solidFill>
                  <a:srgbClr val="596A80"/>
                </a:solidFill>
              </a:rPr>
              <a:t>08-09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948DE81-B32D-4A77-B25D-ABE4F2948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2752" y="5786438"/>
            <a:ext cx="11456099" cy="895350"/>
          </a:xfrm>
          <a:prstGeom xmlns:a="http://schemas.openxmlformats.org/drawingml/2006/main" prst="roundRect">
            <a:avLst>
              <a:gd name="adj" fmla="val 2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E281A03-6527-4FBD-8F22-F3B733621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6038850"/>
            <a:ext cx="666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D88312"/>
                </a:solidFill>
              </a:defRPr>
            </a:pPr>
            <a:r>
              <a:rPr sz="2925" b="1">
                <a:solidFill>
                  <a:srgbClr val="D88312"/>
                </a:solidFill>
              </a:rPr>
              <a:t>04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66A4F60-BF5D-4184-B633-F63B81B0C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981700"/>
            <a:ext cx="666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312"/>
          </a:solidFill>
          <a:ln xmlns:a="http://schemas.openxmlformats.org/drawingml/2006/main" w="0">
            <a:solidFill>
              <a:srgbClr val="D88312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A1C606A-6E83-4CC3-84DF-DFE3AE2E3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5962650"/>
            <a:ext cx="7753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D172A"/>
                </a:solidFill>
              </a:defRPr>
            </a:pPr>
            <a:r>
              <a:rPr sz="2175" b="1">
                <a:solidFill>
                  <a:srgbClr val="0D172A"/>
                </a:solidFill>
              </a:rPr>
              <a:t>模型构建与训练策略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9231846-B818-4D24-A41F-99DF942CA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82850" y="5829300"/>
            <a:ext cx="106680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3DD"/>
          </a:solidFill>
          <a:ln xmlns:a="http://schemas.openxmlformats.org/drawingml/2006/main" w="9525">
            <a:solidFill>
              <a:srgbClr val="D88312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B9CC116-5E11-4531-AE4C-8E65E7828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8100" y="5924550"/>
            <a:ext cx="876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88312"/>
                </a:solidFill>
              </a:defRPr>
            </a:pPr>
            <a:r>
              <a:rPr sz="1500" b="1">
                <a:solidFill>
                  <a:srgbClr val="D88312"/>
                </a:solidFill>
              </a:rPr>
              <a:t>约3min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1951FD6-E67D-4CC7-B0A8-F818F112C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6419850"/>
            <a:ext cx="8953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96A80"/>
                </a:solidFill>
              </a:defRPr>
            </a:pPr>
            <a:r>
              <a:rPr sz="1650">
                <a:solidFill>
                  <a:srgbClr val="596A80"/>
                </a:solidFill>
              </a:rPr>
              <a:t>残差式 MLP、损失重加权、自动阈值搜索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C8A17CF-0F39-4D6B-96F9-96AA0CBA4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21100" y="6134100"/>
            <a:ext cx="838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596A80"/>
                </a:solidFill>
              </a:defRPr>
            </a:pPr>
            <a:r>
              <a:rPr sz="1575" b="1">
                <a:solidFill>
                  <a:srgbClr val="596A80"/>
                </a:solidFill>
              </a:rPr>
              <a:t>10-11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24D144A-6B99-4F0E-8590-6252A1FC2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2752" y="6805613"/>
            <a:ext cx="11456099" cy="895350"/>
          </a:xfrm>
          <a:prstGeom xmlns:a="http://schemas.openxmlformats.org/drawingml/2006/main" prst="roundRect">
            <a:avLst>
              <a:gd name="adj" fmla="val 2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C9FB318-47EB-4B77-BA84-93820BB53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7067550"/>
            <a:ext cx="666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24A064"/>
                </a:solidFill>
              </a:defRPr>
            </a:pPr>
            <a:r>
              <a:rPr sz="2925" b="1">
                <a:solidFill>
                  <a:srgbClr val="24A064"/>
                </a:solidFill>
              </a:rPr>
              <a:t>05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AB5F57A-438E-4912-9EF9-86E6A697E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6972300"/>
            <a:ext cx="666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A064"/>
          </a:solidFill>
          <a:ln xmlns:a="http://schemas.openxmlformats.org/drawingml/2006/main" w="0">
            <a:solidFill>
              <a:srgbClr val="24A064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27A7C51-6E0E-4AA3-A0F7-F2E360750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6991350"/>
            <a:ext cx="7753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D172A"/>
                </a:solidFill>
              </a:defRPr>
            </a:pPr>
            <a:r>
              <a:rPr sz="2175" b="1">
                <a:solidFill>
                  <a:srgbClr val="0D172A"/>
                </a:solidFill>
              </a:rPr>
              <a:t>实验结果与系统实现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1C57EE5-8260-4A77-A5A2-EF259C972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82850" y="6858000"/>
            <a:ext cx="106680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7EF"/>
          </a:solidFill>
          <a:ln xmlns:a="http://schemas.openxmlformats.org/drawingml/2006/main" w="9525">
            <a:solidFill>
              <a:srgbClr val="24A064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D768330-722F-4FDC-BC3E-E9B6E172A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8100" y="6953250"/>
            <a:ext cx="876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4A064"/>
                </a:solidFill>
              </a:defRPr>
            </a:pPr>
            <a:r>
              <a:rPr sz="1500" b="1">
                <a:solidFill>
                  <a:srgbClr val="24A064"/>
                </a:solidFill>
              </a:rPr>
              <a:t>约3min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73E5C4D-B5AF-4C6A-99A0-4C14DA5B8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7448550"/>
            <a:ext cx="8953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96A80"/>
                </a:solidFill>
              </a:defRPr>
            </a:pPr>
            <a:r>
              <a:rPr sz="1650">
                <a:solidFill>
                  <a:srgbClr val="596A80"/>
                </a:solidFill>
              </a:rPr>
              <a:t>分类报告、消融实验、训练与预测页面展示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5460FF5-F178-48CF-9106-E368B7C1D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21100" y="7162800"/>
            <a:ext cx="838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596A80"/>
                </a:solidFill>
              </a:defRPr>
            </a:pPr>
            <a:r>
              <a:rPr sz="1575" b="1">
                <a:solidFill>
                  <a:srgbClr val="596A80"/>
                </a:solidFill>
              </a:rPr>
              <a:t>12-14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5012FD6-5B16-4139-BD38-901357A06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2752" y="7824788"/>
            <a:ext cx="11456099" cy="895350"/>
          </a:xfrm>
          <a:prstGeom xmlns:a="http://schemas.openxmlformats.org/drawingml/2006/main" prst="roundRect">
            <a:avLst>
              <a:gd name="adj" fmla="val 2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E91348C-5533-47F0-A96A-7433AA7CC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8077200"/>
            <a:ext cx="666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2F9486"/>
                </a:solidFill>
              </a:defRPr>
            </a:pPr>
            <a:r>
              <a:rPr sz="2925" b="1">
                <a:solidFill>
                  <a:srgbClr val="2F9486"/>
                </a:solidFill>
              </a:rPr>
              <a:t>06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43EC864-999D-4114-9125-6910B2BCC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8001000"/>
            <a:ext cx="666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9486"/>
          </a:solidFill>
          <a:ln xmlns:a="http://schemas.openxmlformats.org/drawingml/2006/main" w="0">
            <a:solidFill>
              <a:srgbClr val="2F9486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2F55A73-188F-4F2C-BFDE-D10F14A90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8001000"/>
            <a:ext cx="7753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D172A"/>
                </a:solidFill>
              </a:defRPr>
            </a:pPr>
            <a:r>
              <a:rPr sz="2175" b="1">
                <a:solidFill>
                  <a:srgbClr val="0D172A"/>
                </a:solidFill>
              </a:rPr>
              <a:t>总结与展望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B0F59B2-519B-4361-9929-A17486AB5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82850" y="7867650"/>
            <a:ext cx="106680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4F1"/>
          </a:solidFill>
          <a:ln xmlns:a="http://schemas.openxmlformats.org/drawingml/2006/main" w="9525">
            <a:solidFill>
              <a:srgbClr val="2F9486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8537C50-4EC5-4152-9B6E-1FCFC13F3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8100" y="7962900"/>
            <a:ext cx="876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F9486"/>
                </a:solidFill>
              </a:defRPr>
            </a:pPr>
            <a:r>
              <a:rPr sz="1500" b="1">
                <a:solidFill>
                  <a:srgbClr val="2F9486"/>
                </a:solidFill>
              </a:rPr>
              <a:t>约2min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C168B36-8FFF-409A-AD1A-8563A96BD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8458200"/>
            <a:ext cx="8953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96A80"/>
                </a:solidFill>
              </a:defRPr>
            </a:pPr>
            <a:r>
              <a:rPr sz="1650">
                <a:solidFill>
                  <a:srgbClr val="596A80"/>
                </a:solidFill>
              </a:rPr>
              <a:t>主要成果、现有不足、后续优化方向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2165708-EC11-44C5-9B42-31F6047E8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21100" y="8172450"/>
            <a:ext cx="838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596A80"/>
                </a:solidFill>
              </a:defRPr>
            </a:pPr>
            <a:r>
              <a:rPr sz="1575" b="1">
                <a:solidFill>
                  <a:srgbClr val="596A80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5818886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4951ED3-2BE6-4E24-8C61-3D8E8D551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9600"/>
            <a:ext cx="15868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0796E"/>
                </a:solidFill>
              </a:defRPr>
            </a:pPr>
            <a:r>
              <a:rPr sz="1650" b="1">
                <a:solidFill>
                  <a:srgbClr val="20796E"/>
                </a:solidFill>
              </a:rPr>
              <a:t>研究背景与意义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CEB6C5-1850-49D5-B1C4-4CED751AE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95350"/>
            <a:ext cx="132588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D172A"/>
                </a:solidFill>
              </a:defRPr>
            </a:pPr>
            <a:r>
              <a:rPr sz="4350" b="1">
                <a:solidFill>
                  <a:srgbClr val="0D172A"/>
                </a:solidFill>
              </a:rPr>
              <a:t>研究背景：车险理赔正在从经验处理转向数据驱动风控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1F3FF2-131E-409C-B439-EF131B219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0" y="9144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0796E"/>
                </a:solidFill>
              </a:defRPr>
            </a:pPr>
            <a:r>
              <a:rPr sz="1800" b="1">
                <a:solidFill>
                  <a:srgbClr val="20796E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F4997A-FFD6-45FF-9607-ADD21F080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76800"/>
            <a:ext cx="70104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0D172A"/>
                </a:solidFill>
              </a:defRPr>
            </a:pPr>
            <a:r>
              <a:rPr sz="3450" b="1">
                <a:solidFill>
                  <a:srgbClr val="0D172A"/>
                </a:solidFill>
              </a:rPr>
              <a:t>理赔环节同时影响赔付支出控制、客户满意度和保险企业运营效率。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A67866-146D-440B-B2BF-D09FFB5AB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19800"/>
            <a:ext cx="7143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596A80"/>
                </a:solidFill>
              </a:defRPr>
            </a:pPr>
            <a:r>
              <a:rPr sz="2250">
                <a:solidFill>
                  <a:srgbClr val="596A80"/>
                </a:solidFill>
              </a:rPr>
              <a:t>线上报案、历史保单、车辆属性和理赔记录持续积累，使系统从业务数据中抽取风险信号成为可能。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375A8A-222B-4714-934A-F1F2A058D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848100"/>
            <a:ext cx="609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5A4F"/>
          </a:solidFill>
          <a:ln xmlns:a="http://schemas.openxmlformats.org/drawingml/2006/main" w="0">
            <a:solidFill>
              <a:srgbClr val="E15A4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20375F-3A58-4F8F-B583-2601D84F7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19550"/>
            <a:ext cx="87058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11827"/>
                </a:solidFill>
              </a:defRPr>
            </a:pPr>
            <a:r>
              <a:rPr sz="2475" b="1">
                <a:solidFill>
                  <a:srgbClr val="111827"/>
                </a:solidFill>
              </a:rPr>
              <a:t>传统方式的不足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3C8ACC-A3A7-4B9A-BEB8-E63AF569E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457700"/>
            <a:ext cx="87058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96A80"/>
                </a:solidFill>
              </a:defRPr>
            </a:pPr>
            <a:r>
              <a:rPr sz="1875">
                <a:solidFill>
                  <a:srgbClr val="596A80"/>
                </a:solidFill>
              </a:rPr>
              <a:t>人工经验与规则匹配在大规模、高维度、复杂关联数据下效率不足，规则维护成本较高。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9D811F-736B-48C3-9266-60AE9305A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181600"/>
            <a:ext cx="609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5E8"/>
          </a:solidFill>
          <a:ln xmlns:a="http://schemas.openxmlformats.org/drawingml/2006/main" w="0">
            <a:solidFill>
              <a:srgbClr val="2765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978292-5D5D-405A-B482-ACE8E57C9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372100"/>
            <a:ext cx="87058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11827"/>
                </a:solidFill>
              </a:defRPr>
            </a:pPr>
            <a:r>
              <a:rPr sz="2475" b="1">
                <a:solidFill>
                  <a:srgbClr val="111827"/>
                </a:solidFill>
              </a:rPr>
              <a:t>机器学习的机会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70A91B-E4A4-4DB9-B1E3-F756867BF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791200"/>
            <a:ext cx="87058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96A80"/>
                </a:solidFill>
              </a:defRPr>
            </a:pPr>
            <a:r>
              <a:rPr sz="1875">
                <a:solidFill>
                  <a:srgbClr val="596A80"/>
                </a:solidFill>
              </a:rPr>
              <a:t>神经网络能够从多维结构化字段中学习非线性风险表征，用于辅助识别潜在理赔风险。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F5FB03-B9D0-4FDF-A71E-FA01F4092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15100"/>
            <a:ext cx="609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796E"/>
          </a:solidFill>
          <a:ln xmlns:a="http://schemas.openxmlformats.org/drawingml/2006/main" w="0">
            <a:solidFill>
              <a:srgbClr val="20796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B93ABC-857A-4615-8732-2BC63323C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705600"/>
            <a:ext cx="87058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11827"/>
                </a:solidFill>
              </a:defRPr>
            </a:pPr>
            <a:r>
              <a:rPr sz="2475" b="1">
                <a:solidFill>
                  <a:srgbClr val="111827"/>
                </a:solidFill>
              </a:rPr>
              <a:t>系统化落地价值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71FF02-57F8-48F9-B70A-BC4097160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7143750"/>
            <a:ext cx="87058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96A80"/>
                </a:solidFill>
              </a:defRPr>
            </a:pPr>
            <a:r>
              <a:rPr sz="1875">
                <a:solidFill>
                  <a:srgbClr val="596A80"/>
                </a:solidFill>
              </a:rPr>
              <a:t>将样本管理、模型训练、在线预测、结果查询与统计分析纳入统一平台，降低算法应用门槛。</a:t>
            </a:r>
          </a:p>
        </p:txBody>
      </p:sp>
    </p:spTree>
    <p:extLst>
      <p:ext uri="{BB962C8B-B14F-4D97-AF65-F5344CB8AC3E}">
        <p14:creationId xmlns:p14="http://schemas.microsoft.com/office/powerpoint/2010/main" val="55956019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BD9A5AA-A257-42B5-B43A-1FE8FBDCB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9600"/>
            <a:ext cx="15868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0796E"/>
                </a:solidFill>
              </a:defRPr>
            </a:pPr>
            <a:r>
              <a:rPr sz="1650" b="1">
                <a:solidFill>
                  <a:srgbClr val="20796E"/>
                </a:solidFill>
              </a:rPr>
              <a:t>研究目标与主要工作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351DE4-B942-4798-AA00-8DD17C6BD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95350"/>
            <a:ext cx="127063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D172A"/>
                </a:solidFill>
              </a:defRPr>
            </a:pPr>
            <a:r>
              <a:rPr sz="4350" b="1">
                <a:solidFill>
                  <a:srgbClr val="0D172A"/>
                </a:solidFill>
              </a:rPr>
              <a:t>研究目标：完成车险理赔预测模型与业务系统的结合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F1EF2B-382C-4291-938D-1F683F549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0" y="9144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0796E"/>
                </a:solidFill>
              </a:defRPr>
            </a:pPr>
            <a:r>
              <a:rPr sz="1800" b="1">
                <a:solidFill>
                  <a:srgbClr val="20796E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B48536-55B8-44D8-97CB-6FC4D72D1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57700"/>
            <a:ext cx="8096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0796E"/>
                </a:solidFill>
              </a:defRPr>
            </a:pPr>
            <a:r>
              <a:rPr sz="3150" b="1">
                <a:solidFill>
                  <a:srgbClr val="20796E"/>
                </a:solidFill>
              </a:rPr>
              <a:t>模型部分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72668E-E33F-4E50-A57C-E4581F06F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05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796E"/>
          </a:solidFill>
          <a:ln xmlns:a="http://schemas.openxmlformats.org/drawingml/2006/main" w="0">
            <a:solidFill>
              <a:srgbClr val="20796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DCBB00-1D9D-4CDF-B41C-4242F8BDF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05400"/>
            <a:ext cx="7848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263246"/>
                </a:solidFill>
              </a:defRPr>
            </a:pPr>
            <a:r>
              <a:rPr sz="2175">
                <a:solidFill>
                  <a:srgbClr val="263246"/>
                </a:solidFill>
              </a:rPr>
              <a:t>围绕“保单在当前年度是否发生理赔”构建二分类预测任务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6B7FFE-22E6-4910-8B6E-F30130F5D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435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3DE"/>
          </a:solidFill>
          <a:ln xmlns:a="http://schemas.openxmlformats.org/drawingml/2006/main" w="0">
            <a:solidFill>
              <a:srgbClr val="C8D3D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EA9DA9-AC6F-44C7-9A27-966667252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543550"/>
            <a:ext cx="7848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263246"/>
                </a:solidFill>
              </a:defRPr>
            </a:pPr>
            <a:r>
              <a:rPr sz="2175">
                <a:solidFill>
                  <a:srgbClr val="263246"/>
                </a:solidFill>
              </a:rPr>
              <a:t>完成数据清洗、特征工程、标准化预处理和类别不均衡处理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82E2C6-5207-4D7F-82CB-A60B66A08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00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3DE"/>
          </a:solidFill>
          <a:ln xmlns:a="http://schemas.openxmlformats.org/drawingml/2006/main" w="0">
            <a:solidFill>
              <a:srgbClr val="C8D3D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EEF0F9-2964-4A1E-B3B4-5A94D6DE3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000750"/>
            <a:ext cx="78486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263246"/>
                </a:solidFill>
              </a:defRPr>
            </a:pPr>
            <a:r>
              <a:rPr sz="2175">
                <a:solidFill>
                  <a:srgbClr val="263246"/>
                </a:solidFill>
              </a:rPr>
              <a:t>设计残差式 MLP 主干网络，并引入 LayerNorm、GELU、Dropout 等优化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67074E-2845-42D2-9484-16C8AA27E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7246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3DE"/>
          </a:solidFill>
          <a:ln xmlns:a="http://schemas.openxmlformats.org/drawingml/2006/main" w="0">
            <a:solidFill>
              <a:srgbClr val="C8D3D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018A5D-CE74-4A2F-AE51-B6C1B2CE8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724650"/>
            <a:ext cx="7848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263246"/>
                </a:solidFill>
              </a:defRPr>
            </a:pPr>
            <a:r>
              <a:rPr sz="2175">
                <a:solidFill>
                  <a:srgbClr val="263246"/>
                </a:solidFill>
              </a:rPr>
              <a:t>使用 AUC、Precision、Recall、F1 和消融实验验证模型效果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F9910C-D0AE-45C8-B6DF-8EA958EC0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591050"/>
            <a:ext cx="8096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765E8"/>
                </a:solidFill>
              </a:defRPr>
            </a:pPr>
            <a:r>
              <a:rPr sz="3150" b="1">
                <a:solidFill>
                  <a:srgbClr val="2765E8"/>
                </a:solidFill>
              </a:rPr>
              <a:t>系统部分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72793C-D57F-4FB9-9F59-57D58841B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238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65E8"/>
          </a:solidFill>
          <a:ln xmlns:a="http://schemas.openxmlformats.org/drawingml/2006/main" w="0">
            <a:solidFill>
              <a:srgbClr val="2765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234518-ED06-4B19-84FA-05595AA11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238750"/>
            <a:ext cx="7848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263246"/>
                </a:solidFill>
              </a:defRPr>
            </a:pPr>
            <a:r>
              <a:rPr sz="2175">
                <a:solidFill>
                  <a:srgbClr val="263246"/>
                </a:solidFill>
              </a:rPr>
              <a:t>构建基于 Spring Boot、Vue3、MySQL、FastAPI 的前后端分离平台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F3B901-822D-43F2-8C1E-F9A578CF9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695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3DE"/>
          </a:solidFill>
          <a:ln xmlns:a="http://schemas.openxmlformats.org/drawingml/2006/main" w="0">
            <a:solidFill>
              <a:srgbClr val="C8D3D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7127BA-2BF5-433F-99FC-F89A15A7B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695950"/>
            <a:ext cx="7848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263246"/>
                </a:solidFill>
              </a:defRPr>
            </a:pPr>
            <a:r>
              <a:rPr sz="2175">
                <a:solidFill>
                  <a:srgbClr val="263246"/>
                </a:solidFill>
              </a:rPr>
              <a:t>实现用户、保单、理赔记录、车辆信息等业务数据管理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387F34-D830-4BE0-9009-185E7F50F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6134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3DE"/>
          </a:solidFill>
          <a:ln xmlns:a="http://schemas.openxmlformats.org/drawingml/2006/main" w="0">
            <a:solidFill>
              <a:srgbClr val="C8D3D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FBF8E2-611D-4A30-B044-7E5C53482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134100"/>
            <a:ext cx="7848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263246"/>
                </a:solidFill>
              </a:defRPr>
            </a:pPr>
            <a:r>
              <a:rPr sz="2175">
                <a:solidFill>
                  <a:srgbClr val="263246"/>
                </a:solidFill>
              </a:rPr>
              <a:t>支持管理员进行模型训练、用户发起理赔概率预测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E1A37E-B243-4E4E-BC0D-DA2932E25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6591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3DE"/>
          </a:solidFill>
          <a:ln xmlns:a="http://schemas.openxmlformats.org/drawingml/2006/main" w="0">
            <a:solidFill>
              <a:srgbClr val="C8D3D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329B07-F120-4642-BF3E-A0064E974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91300"/>
            <a:ext cx="7848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263246"/>
                </a:solidFill>
              </a:defRPr>
            </a:pPr>
            <a:r>
              <a:rPr sz="2175">
                <a:solidFill>
                  <a:srgbClr val="263246"/>
                </a:solidFill>
              </a:rPr>
              <a:t>将预测结果、风险等级、记录统计和局部解释展示给业务用户</a:t>
            </a:r>
          </a:p>
        </p:txBody>
      </p:sp>
    </p:spTree>
    <p:extLst>
      <p:ext uri="{BB962C8B-B14F-4D97-AF65-F5344CB8AC3E}">
        <p14:creationId xmlns:p14="http://schemas.microsoft.com/office/powerpoint/2010/main" val="83364054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C71318B-5F8C-403B-A736-DFC6C3C43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9600"/>
            <a:ext cx="15868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0796E"/>
                </a:solidFill>
              </a:defRPr>
            </a:pPr>
            <a:r>
              <a:rPr sz="1650" b="1">
                <a:solidFill>
                  <a:srgbClr val="20796E"/>
                </a:solidFill>
              </a:rPr>
              <a:t>主要开发技术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51216D-5D30-4A5B-B6F0-8A78E88FC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95350"/>
            <a:ext cx="99250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D172A"/>
                </a:solidFill>
              </a:defRPr>
            </a:pPr>
            <a:r>
              <a:rPr sz="4350" b="1">
                <a:solidFill>
                  <a:srgbClr val="0D172A"/>
                </a:solidFill>
              </a:rPr>
              <a:t>系统技术栈：前后端分离 + 独立模型服务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1CC4E0-85E6-463D-B342-16279211F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0" y="9144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0796E"/>
                </a:solidFill>
              </a:defRPr>
            </a:pPr>
            <a:r>
              <a:rPr sz="1800" b="1">
                <a:solidFill>
                  <a:srgbClr val="20796E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4316E6-7152-4F24-BC31-CC4434479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71650"/>
            <a:ext cx="8324850" cy="3648075"/>
          </a:xfrm>
          <a:prstGeom xmlns:a="http://schemas.openxmlformats.org/drawingml/2006/main" prst="roundRect">
            <a:avLst>
              <a:gd name="adj" fmla="val 1567"/>
            </a:avLst>
          </a:prstGeom>
          <a:solidFill xmlns:a="http://schemas.openxmlformats.org/drawingml/2006/main">
            <a:srgbClr val="E7F4F1"/>
          </a:solidFill>
          <a:ln xmlns:a="http://schemas.openxmlformats.org/drawingml/2006/main" w="9525">
            <a:solidFill>
              <a:srgbClr val="C8E3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76F8DC-7961-4845-94E2-2A5C84D6E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9080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796E"/>
          </a:solidFill>
          <a:ln xmlns:a="http://schemas.openxmlformats.org/drawingml/2006/main" w="0">
            <a:solidFill>
              <a:srgbClr val="20796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309D41-4F62-4AC1-8FE4-7889645AA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38450"/>
            <a:ext cx="77914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前端表现层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600718-1E21-40BD-8500-9F7BEC1A8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33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796E"/>
          </a:solidFill>
          <a:ln xmlns:a="http://schemas.openxmlformats.org/drawingml/2006/main" w="0">
            <a:solidFill>
              <a:srgbClr val="20796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336016-C20B-44DF-9B09-033EEACD6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333750"/>
            <a:ext cx="7543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63246"/>
                </a:solidFill>
              </a:defRPr>
            </a:pPr>
            <a:r>
              <a:rPr sz="1800">
                <a:solidFill>
                  <a:srgbClr val="263246"/>
                </a:solidFill>
              </a:rPr>
              <a:t>Vue3 构建单页应用与路由视图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8237B0-0F2D-499B-B35A-09380B79F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766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3DE"/>
          </a:solidFill>
          <a:ln xmlns:a="http://schemas.openxmlformats.org/drawingml/2006/main" w="0">
            <a:solidFill>
              <a:srgbClr val="C8D3D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7A08D8-7B58-4AB9-B4C4-7566B5CB4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76650"/>
            <a:ext cx="7543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63246"/>
                </a:solidFill>
              </a:defRPr>
            </a:pPr>
            <a:r>
              <a:rPr sz="1800">
                <a:solidFill>
                  <a:srgbClr val="263246"/>
                </a:solidFill>
              </a:rPr>
              <a:t>Element Plus 支撑表格、表单和弹窗交互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C40091-0AB3-4E58-80C7-A6FE32B3A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195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3DE"/>
          </a:solidFill>
          <a:ln xmlns:a="http://schemas.openxmlformats.org/drawingml/2006/main" w="0">
            <a:solidFill>
              <a:srgbClr val="C8D3D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C94D91-DABD-44E5-8C22-1B1AD4C4F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19550"/>
            <a:ext cx="7543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63246"/>
                </a:solidFill>
              </a:defRPr>
            </a:pPr>
            <a:r>
              <a:rPr sz="1800">
                <a:solidFill>
                  <a:srgbClr val="263246"/>
                </a:solidFill>
              </a:rPr>
              <a:t>ECharts 展示保单、理赔和预测统计图表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0447AE-C667-4B77-90F8-1054BAC76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3624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3DE"/>
          </a:solidFill>
          <a:ln xmlns:a="http://schemas.openxmlformats.org/drawingml/2006/main" w="0">
            <a:solidFill>
              <a:srgbClr val="C8D3D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C1DA20-CB6D-4DF2-9F9E-1CC057456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62450"/>
            <a:ext cx="7543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63246"/>
                </a:solidFill>
              </a:defRPr>
            </a:pPr>
            <a:r>
              <a:rPr sz="1800">
                <a:solidFill>
                  <a:srgbClr val="263246"/>
                </a:solidFill>
              </a:rPr>
              <a:t>Axios 统一封装 HTTP 请求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9405E1-ABEA-4D40-A2BA-5BB1635AD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771650"/>
            <a:ext cx="8324850" cy="3648075"/>
          </a:xfrm>
          <a:prstGeom xmlns:a="http://schemas.openxmlformats.org/drawingml/2006/main" prst="roundRect">
            <a:avLst>
              <a:gd name="adj" fmla="val 1567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C9D8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74A89B-8DCE-46DC-82EB-D85F60D2C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59080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5E8"/>
          </a:solidFill>
          <a:ln xmlns:a="http://schemas.openxmlformats.org/drawingml/2006/main" w="0">
            <a:solidFill>
              <a:srgbClr val="2765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B4764D-1EFD-487E-9F94-12546E081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838450"/>
            <a:ext cx="77914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后端业务层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25CD66-B2B2-42E7-A5BF-75C18FBD3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333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65E8"/>
          </a:solidFill>
          <a:ln xmlns:a="http://schemas.openxmlformats.org/drawingml/2006/main" w="0">
            <a:solidFill>
              <a:srgbClr val="2765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80544E-80BA-4F85-93D1-BE7A62348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333750"/>
            <a:ext cx="7543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63246"/>
                </a:solidFill>
              </a:defRPr>
            </a:pPr>
            <a:r>
              <a:rPr sz="1800">
                <a:solidFill>
                  <a:srgbClr val="263246"/>
                </a:solidFill>
              </a:rPr>
              <a:t>Spring Boot 实现认证、CRUD、分页和统计接口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74BA39-EDC4-4706-AD3A-5F2583709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6766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3DE"/>
          </a:solidFill>
          <a:ln xmlns:a="http://schemas.openxmlformats.org/drawingml/2006/main" w="0">
            <a:solidFill>
              <a:srgbClr val="C8D3D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A9D293-A052-43BD-A00C-7DEA2B8C9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676650"/>
            <a:ext cx="7543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63246"/>
                </a:solidFill>
              </a:defRPr>
            </a:pPr>
            <a:r>
              <a:rPr sz="1800">
                <a:solidFill>
                  <a:srgbClr val="263246"/>
                </a:solidFill>
              </a:rPr>
              <a:t>MyBatis 完成数据库访问与对象映射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70FDB1-CDA5-4761-917D-C253F231B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0195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3DE"/>
          </a:solidFill>
          <a:ln xmlns:a="http://schemas.openxmlformats.org/drawingml/2006/main" w="0">
            <a:solidFill>
              <a:srgbClr val="C8D3D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4FBB4A-3562-46FC-8544-8DCC3264D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019550"/>
            <a:ext cx="7543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63246"/>
                </a:solidFill>
              </a:defRPr>
            </a:pPr>
            <a:r>
              <a:rPr sz="1800">
                <a:solidFill>
                  <a:srgbClr val="263246"/>
                </a:solidFill>
              </a:rPr>
              <a:t>REST API 连接前端页面和模型服务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D05839-91AD-4923-8018-3483AC5A2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3624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3DE"/>
          </a:solidFill>
          <a:ln xmlns:a="http://schemas.openxmlformats.org/drawingml/2006/main" w="0">
            <a:solidFill>
              <a:srgbClr val="C8D3D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C4539C-3AEE-44C7-ADB1-9BA1B4D64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362450"/>
            <a:ext cx="7543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63246"/>
                </a:solidFill>
              </a:defRPr>
            </a:pPr>
            <a:r>
              <a:rPr sz="1800">
                <a:solidFill>
                  <a:srgbClr val="263246"/>
                </a:solidFill>
              </a:rPr>
              <a:t>统一响应结构与异常处理降低前端适配成本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316A2C-1044-4038-8C4C-2B02E2C1D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19725"/>
            <a:ext cx="8324850" cy="3648075"/>
          </a:xfrm>
          <a:prstGeom xmlns:a="http://schemas.openxmlformats.org/drawingml/2006/main" prst="roundRect">
            <a:avLst>
              <a:gd name="adj" fmla="val 1567"/>
            </a:avLst>
          </a:prstGeom>
          <a:solidFill xmlns:a="http://schemas.openxmlformats.org/drawingml/2006/main">
            <a:srgbClr val="E9F7EF"/>
          </a:solidFill>
          <a:ln xmlns:a="http://schemas.openxmlformats.org/drawingml/2006/main" w="9525">
            <a:solidFill>
              <a:srgbClr val="CDECD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B666EA-478E-4A6F-932D-1E33CD4BB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43890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A064"/>
          </a:solidFill>
          <a:ln xmlns:a="http://schemas.openxmlformats.org/drawingml/2006/main" w="0">
            <a:solidFill>
              <a:srgbClr val="24A06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3818A17-586F-45A0-A426-B7C3776A3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6648450"/>
            <a:ext cx="77914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数据持久层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862077C-F5DA-4170-9274-82D6B9B20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7143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A064"/>
          </a:solidFill>
          <a:ln xmlns:a="http://schemas.openxmlformats.org/drawingml/2006/main" w="0">
            <a:solidFill>
              <a:srgbClr val="24A06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756D4E0-3EBB-4FA3-B6D1-9AA9346DA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143750"/>
            <a:ext cx="7543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63246"/>
                </a:solidFill>
              </a:defRPr>
            </a:pPr>
            <a:r>
              <a:rPr sz="1800">
                <a:solidFill>
                  <a:srgbClr val="263246"/>
                </a:solidFill>
              </a:rPr>
              <a:t>MySQL 保存用户、保单、理赔、车辆等业务表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45601B7-5D83-456B-BFBB-B8E292019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74866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3DE"/>
          </a:solidFill>
          <a:ln xmlns:a="http://schemas.openxmlformats.org/drawingml/2006/main" w="0">
            <a:solidFill>
              <a:srgbClr val="C8D3D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E0EC003-717D-464D-91ED-99E51DEA4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486650"/>
            <a:ext cx="7543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63246"/>
                </a:solidFill>
              </a:defRPr>
            </a:pPr>
            <a:r>
              <a:rPr sz="1800">
                <a:solidFill>
                  <a:srgbClr val="263246"/>
                </a:solidFill>
              </a:rPr>
              <a:t>预测记录表追踪概率、标签和风险等级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C2A2459-1B52-4FFD-95F9-A23D9CD4D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78295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3DE"/>
          </a:solidFill>
          <a:ln xmlns:a="http://schemas.openxmlformats.org/drawingml/2006/main" w="0">
            <a:solidFill>
              <a:srgbClr val="C8D3DE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1335466-AE28-4E9E-963F-364B4FBB0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829550"/>
            <a:ext cx="7543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63246"/>
                </a:solidFill>
              </a:defRPr>
            </a:pPr>
            <a:r>
              <a:rPr sz="1800">
                <a:solidFill>
                  <a:srgbClr val="263246"/>
                </a:solidFill>
              </a:rPr>
              <a:t>业务查询、统计分析与历史结果复盘共享同一数据源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5C445A0-ECEA-414B-AAEA-FD809510F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419725"/>
            <a:ext cx="8324850" cy="3648075"/>
          </a:xfrm>
          <a:prstGeom xmlns:a="http://schemas.openxmlformats.org/drawingml/2006/main" prst="roundRect">
            <a:avLst>
              <a:gd name="adj" fmla="val 1567"/>
            </a:avLst>
          </a:prstGeom>
          <a:solidFill xmlns:a="http://schemas.openxmlformats.org/drawingml/2006/main">
            <a:srgbClr val="FDEDEA"/>
          </a:solidFill>
          <a:ln xmlns:a="http://schemas.openxmlformats.org/drawingml/2006/main" w="9525">
            <a:solidFill>
              <a:srgbClr val="F5CBC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577D2FA-5CED-41ED-882E-0ED3F4544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24840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5A4F"/>
          </a:solidFill>
          <a:ln xmlns:a="http://schemas.openxmlformats.org/drawingml/2006/main" w="0">
            <a:solidFill>
              <a:srgbClr val="E15A4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9DA05C9-B6F9-470B-8673-63FF2205A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477000"/>
            <a:ext cx="77914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智能预测层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A64E063-E171-4594-BE98-EF499A952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972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5A4F"/>
          </a:solidFill>
          <a:ln xmlns:a="http://schemas.openxmlformats.org/drawingml/2006/main" w="0">
            <a:solidFill>
              <a:srgbClr val="E15A4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E7C4E9A-0465-4AC9-A487-45A8801AA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6972300"/>
            <a:ext cx="7543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63246"/>
                </a:solidFill>
              </a:defRPr>
            </a:pPr>
            <a:r>
              <a:rPr sz="1800">
                <a:solidFill>
                  <a:srgbClr val="263246"/>
                </a:solidFill>
              </a:rPr>
              <a:t>PyTorch 构建残差式 MLP 二分类模型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F786FCB-787B-41AE-A3C1-A0F70B6FE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73152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3DE"/>
          </a:solidFill>
          <a:ln xmlns:a="http://schemas.openxmlformats.org/drawingml/2006/main" w="0">
            <a:solidFill>
              <a:srgbClr val="C8D3DE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2EE78DB-7682-435C-8278-35BF8E70B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7315200"/>
            <a:ext cx="7543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63246"/>
                </a:solidFill>
              </a:defRPr>
            </a:pPr>
            <a:r>
              <a:rPr sz="1800">
                <a:solidFill>
                  <a:srgbClr val="263246"/>
                </a:solidFill>
              </a:rPr>
              <a:t>scikit-learn 完成标准化、数据划分和指标评估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47A4203-4F80-44B0-ABEF-D076EFBCE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7658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3DE"/>
          </a:solidFill>
          <a:ln xmlns:a="http://schemas.openxmlformats.org/drawingml/2006/main" w="0">
            <a:solidFill>
              <a:srgbClr val="C8D3DE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4FF57A5-2F2A-4BEC-BE78-D5E56317C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7658100"/>
            <a:ext cx="7543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63246"/>
                </a:solidFill>
              </a:defRPr>
            </a:pPr>
            <a:r>
              <a:rPr sz="1800">
                <a:solidFill>
                  <a:srgbClr val="263246"/>
                </a:solidFill>
              </a:rPr>
              <a:t>FastAPI 对外提供模型加载和在线预测接口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7FC485E-C03F-44C1-B246-793940778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8001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3DE"/>
          </a:solidFill>
          <a:ln xmlns:a="http://schemas.openxmlformats.org/drawingml/2006/main" w="0">
            <a:solidFill>
              <a:srgbClr val="C8D3DE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F985AF5-4D85-456E-9DBC-5B705A04A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8001000"/>
            <a:ext cx="7543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63246"/>
                </a:solidFill>
              </a:defRPr>
            </a:pPr>
            <a:r>
              <a:rPr sz="1800">
                <a:solidFill>
                  <a:srgbClr val="263246"/>
                </a:solidFill>
              </a:rPr>
              <a:t>模型产物与业务系统通过 JSON 解耦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F62167E-2F4F-4104-8B92-54E7AA35D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391650"/>
            <a:ext cx="166497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0796E"/>
                </a:solidFill>
              </a:defRPr>
            </a:pPr>
            <a:r>
              <a:rPr sz="2250" b="1">
                <a:solidFill>
                  <a:srgbClr val="20796E"/>
                </a:solidFill>
              </a:rPr>
              <a:t>设计思路：业务系统负责数据管理与流程控制，模型服务负责训练产物加载和在线推理，两者通过 JSON 接口解耦。</a:t>
            </a:r>
          </a:p>
        </p:txBody>
      </p:sp>
    </p:spTree>
    <p:extLst>
      <p:ext uri="{BB962C8B-B14F-4D97-AF65-F5344CB8AC3E}">
        <p14:creationId xmlns:p14="http://schemas.microsoft.com/office/powerpoint/2010/main" val="96894804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0D5263C-95BE-4D95-AFC6-8A7E8209D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9600"/>
            <a:ext cx="15868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0796E"/>
                </a:solidFill>
              </a:defRPr>
            </a:pPr>
            <a:r>
              <a:rPr sz="1650" b="1">
                <a:solidFill>
                  <a:srgbClr val="20796E"/>
                </a:solidFill>
              </a:rPr>
              <a:t>系统分析与设计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ADBAB4-02AE-40FA-84EA-E322089D6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95350"/>
            <a:ext cx="99441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D172A"/>
                </a:solidFill>
              </a:defRPr>
            </a:pPr>
            <a:r>
              <a:rPr sz="4350" b="1">
                <a:solidFill>
                  <a:srgbClr val="0D172A"/>
                </a:solidFill>
              </a:rPr>
              <a:t>系统架构：业务系统与智能预测服务解耦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3B8E75-80A5-45C5-A4B2-70B12B25A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0" y="9144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0796E"/>
                </a:solidFill>
              </a:defRPr>
            </a:pPr>
            <a:r>
              <a:rPr sz="1800" b="1">
                <a:solidFill>
                  <a:srgbClr val="20796E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6216FC-78F1-42E1-A012-2DE407F62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71650"/>
            <a:ext cx="9343549" cy="7905750"/>
          </a:xfrm>
          <a:prstGeom xmlns:a="http://schemas.openxmlformats.org/drawingml/2006/main" prst="roundRect">
            <a:avLst>
              <a:gd name="adj" fmla="val 7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f432159d2a487c"/>
          <a:stretch xmlns:a="http://schemas.openxmlformats.org/drawingml/2006/main"/>
        </p:blipFill>
        <p:spPr>
          <a:xfrm xmlns:a="http://schemas.openxmlformats.org/drawingml/2006/main">
            <a:off x="2069707" y="1924050"/>
            <a:ext cx="6842435" cy="76009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CE110A-BA02-4CC7-BA7E-3ADB6DB17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3505200"/>
            <a:ext cx="609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796E"/>
          </a:solidFill>
          <a:ln xmlns:a="http://schemas.openxmlformats.org/drawingml/2006/main" w="0">
            <a:solidFill>
              <a:srgbClr val="20796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6F35B6-FF85-4F95-9F6D-8A949A5CB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3714750"/>
            <a:ext cx="69151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11827"/>
                </a:solidFill>
              </a:defRPr>
            </a:pPr>
            <a:r>
              <a:rPr sz="2475" b="1">
                <a:solidFill>
                  <a:srgbClr val="111827"/>
                </a:solidFill>
              </a:rPr>
              <a:t>表现层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00671D-B812-4D25-BD23-B1A8B7B55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4133850"/>
            <a:ext cx="69151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96A80"/>
                </a:solidFill>
              </a:defRPr>
            </a:pPr>
            <a:r>
              <a:rPr sz="1875">
                <a:solidFill>
                  <a:srgbClr val="596A80"/>
                </a:solidFill>
              </a:rPr>
              <a:t>浏览器端完成业务操作、数据展示和统计图表交互。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3B29B6-5DFC-496A-B056-AC24D3043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4610100"/>
            <a:ext cx="609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5E8"/>
          </a:solidFill>
          <a:ln xmlns:a="http://schemas.openxmlformats.org/drawingml/2006/main" w="0">
            <a:solidFill>
              <a:srgbClr val="2765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9A1375-2A7D-4A89-8DA4-4B86397A7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4819650"/>
            <a:ext cx="69151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11827"/>
                </a:solidFill>
              </a:defRPr>
            </a:pPr>
            <a:r>
              <a:rPr sz="2475" b="1">
                <a:solidFill>
                  <a:srgbClr val="111827"/>
                </a:solidFill>
              </a:rPr>
              <a:t>业务层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33F744-B00C-4973-8B5B-E7EFD6A4C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5238750"/>
            <a:ext cx="69151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96A80"/>
                </a:solidFill>
              </a:defRPr>
            </a:pPr>
            <a:r>
              <a:rPr sz="1875">
                <a:solidFill>
                  <a:srgbClr val="596A80"/>
                </a:solidFill>
              </a:rPr>
              <a:t>Spring Boot 处理认证、CRUD、分页查询、统计分析和文件管理。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616BA7-0F01-4DD1-9AD3-62FE7A089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5715000"/>
            <a:ext cx="609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5A4F"/>
          </a:solidFill>
          <a:ln xmlns:a="http://schemas.openxmlformats.org/drawingml/2006/main" w="0">
            <a:solidFill>
              <a:srgbClr val="E15A4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615CE2-5D0D-4CC6-85AF-7E815200C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5924550"/>
            <a:ext cx="69151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11827"/>
                </a:solidFill>
              </a:defRPr>
            </a:pPr>
            <a:r>
              <a:rPr sz="2475" b="1">
                <a:solidFill>
                  <a:srgbClr val="111827"/>
                </a:solidFill>
              </a:rPr>
              <a:t>预测层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58B475-3264-483B-8DEC-44519846E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343650"/>
            <a:ext cx="69151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96A80"/>
                </a:solidFill>
              </a:defRPr>
            </a:pPr>
            <a:r>
              <a:rPr sz="1875">
                <a:solidFill>
                  <a:srgbClr val="596A80"/>
                </a:solidFill>
              </a:rPr>
              <a:t>FastAPI 封装训练好的 PyTorch 模型，提供理赔概率、风险等级与解释结果。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9B20BD-DED7-4AC7-9197-A6A113F67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7086600"/>
            <a:ext cx="609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312"/>
          </a:solidFill>
          <a:ln xmlns:a="http://schemas.openxmlformats.org/drawingml/2006/main" w="0">
            <a:solidFill>
              <a:srgbClr val="D8831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DEE325-71A2-4067-A5B5-D84F84F72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7258050"/>
            <a:ext cx="69151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11827"/>
                </a:solidFill>
              </a:defRPr>
            </a:pPr>
            <a:r>
              <a:rPr sz="2475" b="1">
                <a:solidFill>
                  <a:srgbClr val="111827"/>
                </a:solidFill>
              </a:rPr>
              <a:t>数据层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C90C36-4C71-4CD4-AE62-79811CF80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7696200"/>
            <a:ext cx="69151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96A80"/>
                </a:solidFill>
              </a:defRPr>
            </a:pPr>
            <a:r>
              <a:rPr sz="1875">
                <a:solidFill>
                  <a:srgbClr val="596A80"/>
                </a:solidFill>
              </a:rPr>
              <a:t>MySQL 统一保存用户、保单、理赔、车辆、预测记录等核心表。</a:t>
            </a:r>
          </a:p>
        </p:txBody>
      </p:sp>
    </p:spTree>
    <p:extLst>
      <p:ext uri="{BB962C8B-B14F-4D97-AF65-F5344CB8AC3E}">
        <p14:creationId xmlns:p14="http://schemas.microsoft.com/office/powerpoint/2010/main" val="91087679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E788B58-E5E8-48D5-A576-8E41A5E6B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9600"/>
            <a:ext cx="15868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0796E"/>
                </a:solidFill>
              </a:defRPr>
            </a:pPr>
            <a:r>
              <a:rPr sz="1650" b="1">
                <a:solidFill>
                  <a:srgbClr val="20796E"/>
                </a:solidFill>
              </a:rPr>
              <a:t>需求分析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CA5286-E01B-4CD1-B9C2-017552273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95350"/>
            <a:ext cx="132588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D172A"/>
                </a:solidFill>
              </a:defRPr>
            </a:pPr>
            <a:r>
              <a:rPr sz="4350" b="1">
                <a:solidFill>
                  <a:srgbClr val="0D172A"/>
                </a:solidFill>
              </a:rPr>
              <a:t>功能设计：围绕业务管理、可视化分析与理赔预测展开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4ABC86-CCA7-422F-9FDB-9FCDEB797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0" y="9144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0796E"/>
                </a:solidFill>
              </a:defRPr>
            </a:pPr>
            <a:r>
              <a:rPr sz="1800" b="1">
                <a:solidFill>
                  <a:srgbClr val="20796E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6715F5-13FC-4A63-8909-330AE81D3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71650"/>
            <a:ext cx="7149846" cy="7905750"/>
          </a:xfrm>
          <a:prstGeom xmlns:a="http://schemas.openxmlformats.org/drawingml/2006/main" prst="roundRect">
            <a:avLst>
              <a:gd name="adj" fmla="val 7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9e410ed5be4d29"/>
          <a:stretch xmlns:a="http://schemas.openxmlformats.org/drawingml/2006/main"/>
        </p:blipFill>
        <p:spPr>
          <a:xfrm xmlns:a="http://schemas.openxmlformats.org/drawingml/2006/main">
            <a:off x="990600" y="3589139"/>
            <a:ext cx="6806946" cy="4270772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65DD2B-C1C8-47B8-8DF9-96B28BCE0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9046" y="1771650"/>
            <a:ext cx="9099804" cy="2635250"/>
          </a:xfrm>
          <a:prstGeom xmlns:a="http://schemas.openxmlformats.org/drawingml/2006/main" prst="roundRect">
            <a:avLst>
              <a:gd name="adj" fmla="val 2169"/>
            </a:avLst>
          </a:prstGeom>
          <a:solidFill xmlns:a="http://schemas.openxmlformats.org/drawingml/2006/main">
            <a:srgbClr val="E7F4F1"/>
          </a:solidFill>
          <a:ln xmlns:a="http://schemas.openxmlformats.org/drawingml/2006/main" w="9525">
            <a:solidFill>
              <a:srgbClr val="C8E3D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CF6BDF-FC88-4F2C-B95E-1ED80149B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057400"/>
            <a:ext cx="609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796E"/>
          </a:solidFill>
          <a:ln xmlns:a="http://schemas.openxmlformats.org/drawingml/2006/main" w="0">
            <a:solidFill>
              <a:srgbClr val="20796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F812B0-5042-47E3-A437-4DC28A0EE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228850"/>
            <a:ext cx="8572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11827"/>
                </a:solidFill>
              </a:defRPr>
            </a:pPr>
            <a:r>
              <a:rPr sz="2475" b="1">
                <a:solidFill>
                  <a:srgbClr val="111827"/>
                </a:solidFill>
              </a:rPr>
              <a:t>业务管理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9380C2-7EF3-41E1-BC3C-5C0FCF82A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667000"/>
            <a:ext cx="8572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96A80"/>
                </a:solidFill>
              </a:defRPr>
            </a:pPr>
            <a:r>
              <a:rPr sz="1875">
                <a:solidFill>
                  <a:srgbClr val="596A80"/>
                </a:solidFill>
              </a:rPr>
              <a:t>用户认证、用户管理、保单信息、理赔记录、车辆信息等基础数据维护。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59A2AB-FA55-4EAD-BE7F-51629A2EC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9046" y="4406900"/>
            <a:ext cx="9099804" cy="2635250"/>
          </a:xfrm>
          <a:prstGeom xmlns:a="http://schemas.openxmlformats.org/drawingml/2006/main" prst="roundRect">
            <a:avLst>
              <a:gd name="adj" fmla="val 2169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C9D8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32653D-A94F-46DD-A98A-11D54C9B2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686300"/>
            <a:ext cx="609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5E8"/>
          </a:solidFill>
          <a:ln xmlns:a="http://schemas.openxmlformats.org/drawingml/2006/main" w="0">
            <a:solidFill>
              <a:srgbClr val="2765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9E880F-C3F3-4F6D-87FC-230E2C0A5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857750"/>
            <a:ext cx="8572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11827"/>
                </a:solidFill>
              </a:defRPr>
            </a:pPr>
            <a:r>
              <a:rPr sz="2475" b="1">
                <a:solidFill>
                  <a:srgbClr val="111827"/>
                </a:solidFill>
              </a:rPr>
              <a:t>可视化分析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5F2C55-68A7-486B-BCC2-ED851AE95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5295900"/>
            <a:ext cx="8572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96A80"/>
                </a:solidFill>
              </a:defRPr>
            </a:pPr>
            <a:r>
              <a:rPr sz="1875">
                <a:solidFill>
                  <a:srgbClr val="596A80"/>
                </a:solidFill>
              </a:rPr>
              <a:t>系统首页、保单统计、理赔统计、预测记录统计，帮助用户快速理解业务状态。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C56CA8-0912-44F4-B617-692704C94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9046" y="7042150"/>
            <a:ext cx="9099804" cy="2635250"/>
          </a:xfrm>
          <a:prstGeom xmlns:a="http://schemas.openxmlformats.org/drawingml/2006/main" prst="roundRect">
            <a:avLst>
              <a:gd name="adj" fmla="val 2169"/>
            </a:avLst>
          </a:prstGeom>
          <a:solidFill xmlns:a="http://schemas.openxmlformats.org/drawingml/2006/main">
            <a:srgbClr val="FDEDEA"/>
          </a:solidFill>
          <a:ln xmlns:a="http://schemas.openxmlformats.org/drawingml/2006/main" w="9525">
            <a:solidFill>
              <a:srgbClr val="F5CBC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8C7970-A38B-44EA-BDFE-0B8700518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7315200"/>
            <a:ext cx="609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5A4F"/>
          </a:solidFill>
          <a:ln xmlns:a="http://schemas.openxmlformats.org/drawingml/2006/main" w="0">
            <a:solidFill>
              <a:srgbClr val="E15A4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EE21BA-FED1-4CEC-8288-6FAB49C52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7505700"/>
            <a:ext cx="8572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11827"/>
                </a:solidFill>
              </a:defRPr>
            </a:pPr>
            <a:r>
              <a:rPr sz="2475" b="1">
                <a:solidFill>
                  <a:srgbClr val="111827"/>
                </a:solidFill>
              </a:rPr>
              <a:t>理赔预测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49ACBA-34A6-46EA-A999-547AD6E22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7924800"/>
            <a:ext cx="8572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96A80"/>
                </a:solidFill>
              </a:defRPr>
            </a:pPr>
            <a:r>
              <a:rPr sz="1875">
                <a:solidFill>
                  <a:srgbClr val="596A80"/>
                </a:solidFill>
              </a:rPr>
              <a:t>模型训练、批量/单条预测、预测记录管理、风险等级展示和局部消融解释。</a:t>
            </a:r>
          </a:p>
        </p:txBody>
      </p:sp>
    </p:spTree>
    <p:extLst>
      <p:ext uri="{BB962C8B-B14F-4D97-AF65-F5344CB8AC3E}">
        <p14:creationId xmlns:p14="http://schemas.microsoft.com/office/powerpoint/2010/main" val="89213374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ADE5D4F-2D81-4BC6-BAC9-6D1064B33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9600"/>
            <a:ext cx="15868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0796E"/>
                </a:solidFill>
              </a:defRPr>
            </a:pPr>
            <a:r>
              <a:rPr sz="1650" b="1">
                <a:solidFill>
                  <a:srgbClr val="20796E"/>
                </a:solidFill>
              </a:rPr>
              <a:t>数据集与预处理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784DB6-9ED6-4710-922B-94A4E5C3B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95350"/>
            <a:ext cx="11049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D172A"/>
                </a:solidFill>
              </a:defRPr>
            </a:pPr>
            <a:r>
              <a:rPr sz="4350" b="1">
                <a:solidFill>
                  <a:srgbClr val="0D172A"/>
                </a:solidFill>
              </a:rPr>
              <a:t>数据处理：从公开车险数据集中构建训练样本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678275-7803-479F-BF90-E5FB86FC6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0" y="9144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0796E"/>
                </a:solidFill>
              </a:defRPr>
            </a:pPr>
            <a:r>
              <a:rPr sz="1800" b="1">
                <a:solidFill>
                  <a:srgbClr val="20796E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54472F-A625-4E06-8135-E1E24A951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19500"/>
            <a:ext cx="58293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950" b="1">
                <a:solidFill>
                  <a:srgbClr val="20796E"/>
                </a:solidFill>
              </a:defRPr>
            </a:pPr>
            <a:r>
              <a:rPr sz="4950" b="1">
                <a:solidFill>
                  <a:srgbClr val="20796E"/>
                </a:solidFill>
              </a:rPr>
              <a:t>105,555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E86E43-612C-4C72-956A-C98EF40F0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24350"/>
            <a:ext cx="58293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保单记录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328CE1-4D36-4FE2-AFC6-817291366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48200"/>
            <a:ext cx="5829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96A80"/>
                </a:solidFill>
              </a:defRPr>
            </a:pPr>
            <a:r>
              <a:rPr sz="1500">
                <a:solidFill>
                  <a:srgbClr val="596A80"/>
                </a:solidFill>
              </a:rPr>
              <a:t>每行代表一笔保单交易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4C3472-A536-413F-997B-602AA45C9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24450"/>
            <a:ext cx="58293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950" b="1">
                <a:solidFill>
                  <a:srgbClr val="2765E8"/>
                </a:solidFill>
              </a:defRPr>
            </a:pPr>
            <a:r>
              <a:rPr sz="4950" b="1">
                <a:solidFill>
                  <a:srgbClr val="2765E8"/>
                </a:solidFill>
              </a:rPr>
              <a:t>30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B28B4B-6F58-480D-824E-730E25362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29300"/>
            <a:ext cx="58293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原始变量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50D330-E3A4-40D8-A28D-70BABA74A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134100"/>
            <a:ext cx="5829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96A80"/>
                </a:solidFill>
              </a:defRPr>
            </a:pPr>
            <a:r>
              <a:rPr sz="1500">
                <a:solidFill>
                  <a:srgbClr val="596A80"/>
                </a:solidFill>
              </a:rPr>
              <a:t>涵盖投保人、车辆、保单和理赔历史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EB56C5-381C-4D93-B2A8-DCA2393B3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610350"/>
            <a:ext cx="58293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950" b="1">
                <a:solidFill>
                  <a:srgbClr val="E15A4F"/>
                </a:solidFill>
              </a:defRPr>
            </a:pPr>
            <a:r>
              <a:rPr sz="4950" b="1">
                <a:solidFill>
                  <a:srgbClr val="E15A4F"/>
                </a:solidFill>
              </a:rPr>
              <a:t>18.6%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E6BFA6-3978-4723-9F4C-7467BD755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315200"/>
            <a:ext cx="58293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理赔样本占比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6EEFF8-5D1B-4314-B2EE-FFCCADCDB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639050"/>
            <a:ext cx="5829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96A80"/>
                </a:solidFill>
              </a:defRPr>
            </a:pPr>
            <a:r>
              <a:rPr sz="1500">
                <a:solidFill>
                  <a:srgbClr val="596A80"/>
                </a:solidFill>
              </a:rPr>
              <a:t>正负样本约 1 : 4.37</a:t>
            </a:r>
          </a:p>
        </p:txBody>
      </p:sp>
      <p:graphicFrame>
        <p:nvGraphicFramePr>
          <p:cNvPr id="13" name="class-imbalance-chart"/>
          <p:cNvGraphicFramePr/>
          <p:nvPr/>
        </p:nvGraphicFramePr>
        <p:xfrm>
          <a:off xmlns:a="http://schemas.openxmlformats.org/drawingml/2006/main" x="7093458" y="2686050"/>
          <a:ext xmlns:a="http://schemas.openxmlformats.org/drawingml/2006/main" cx="10375392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cea276743aa4a1a"/>
          </a:graphicData>
        </a:graphic>
      </p:graphicFrame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E2D78B-EFB3-43E0-BED0-CC0FDBE5E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3458" y="6343650"/>
            <a:ext cx="1619250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0D172A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1BAD16-07D0-496B-9D90-8A23EF03B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457950"/>
            <a:ext cx="1352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问题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523474-64AC-4770-AAAE-F9B970622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2708" y="6343650"/>
            <a:ext cx="4095750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0D172A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1DD207-BD02-4E14-93AF-B38AE862F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6457950"/>
            <a:ext cx="3829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处理策略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EB7837-C733-4422-AA5C-B555C074B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8458" y="6343650"/>
            <a:ext cx="4660392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0D172A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5E8BB2-012F-430E-BE37-27D4DF671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4950" y="6457950"/>
            <a:ext cx="4400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目的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115A9D-B10F-480A-9B61-6AAD4A743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3458" y="6858000"/>
            <a:ext cx="1619250" cy="476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165E3B-96A0-4507-83C0-A763F9105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972300"/>
            <a:ext cx="1352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缺失值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40E3D4-47F2-434C-8F9E-3A0AF5629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2708" y="6858000"/>
            <a:ext cx="4095750" cy="476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D2291F-5AFD-40A3-ABFD-D282B51DD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6972300"/>
            <a:ext cx="3829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字段缺失检测、业务语义填充或剔除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9EA7F7-D68C-47FD-AF02-E260EAF17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8458" y="6858000"/>
            <a:ext cx="4660392" cy="476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4CE7C0-9A0E-4D6E-878E-1538FF0FF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4950" y="6972300"/>
            <a:ext cx="4400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保证模型输入完整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993B3D-D196-44FD-86E1-88255C4CD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3458" y="7334250"/>
            <a:ext cx="1619250" cy="476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F52F38A-B5E3-4204-B471-4FDDDE167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7448550"/>
            <a:ext cx="1352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极端值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B5EDE4F-2B45-4B4F-ABAB-CD2CE023A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2708" y="7334250"/>
            <a:ext cx="4095750" cy="476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EAA4A9-C47E-4412-A34F-1DA20ADE5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7448550"/>
            <a:ext cx="3829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对保费、车价、功率等字段截断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B014485-A4E8-4468-A92B-C0EE6C2C7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8458" y="7334250"/>
            <a:ext cx="4660392" cy="476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C9519D7-F98F-4D5F-9077-8137F5D09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4950" y="7448550"/>
            <a:ext cx="4400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降低长尾异常影响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A39A8B9-23D0-4EE5-AE52-3D09CC408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3458" y="7810500"/>
            <a:ext cx="1619250" cy="476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5884D80-EBB3-4667-BF38-91326C24E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7924800"/>
            <a:ext cx="1352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样本不均衡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718128A-D07D-4656-ABBF-040937A52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2708" y="7810500"/>
            <a:ext cx="4095750" cy="476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24B132A-68F8-490B-9776-754795618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7924800"/>
            <a:ext cx="3829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分层抽样 + 正类权重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B6B67F3-9BCA-4B3E-B204-03FA244B4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8458" y="7810500"/>
            <a:ext cx="4660392" cy="476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4553B34-BC2B-482A-AC60-7BFED260A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4950" y="7924800"/>
            <a:ext cx="4400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减少模型偏向非理赔类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CB7A6B7-6232-4A35-AB96-8D5FBAA50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3458" y="8286750"/>
            <a:ext cx="1619250" cy="476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FB23377-F6DD-4800-85A2-C53E0B418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8401050"/>
            <a:ext cx="1352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字符串字段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B23D7FC-97F5-40B3-9FA6-586941597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2708" y="8286750"/>
            <a:ext cx="4095750" cy="476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F4B1786-F3EE-422A-A477-366EF18F6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8401050"/>
            <a:ext cx="3829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日期解析与类别编码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052E39B-5251-4BB1-BE88-05C69E017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8458" y="8286750"/>
            <a:ext cx="4660392" cy="476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3CA62A1-236B-4E34-BEB3-79C9BE58A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4950" y="8401050"/>
            <a:ext cx="4400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转换为可训练数值特征</a:t>
            </a:r>
          </a:p>
        </p:txBody>
      </p:sp>
      <p:pic xmlns:a="http://schemas.openxmlformats.org/drawingml/2006/main" xmlns:r="http://schemas.openxmlformats.org/officeDocument/2006/relationships">
        <p:nvPicPr>
          <p:cNvPr id="44" name="Picture 43" descr="数据理赔金额分布图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2011680"/>
            <a:ext cx="4267200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49488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2238DA9-B7D7-4915-94D8-DBD1763D4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9600"/>
            <a:ext cx="15868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0796E"/>
                </a:solidFill>
              </a:defRPr>
            </a:pPr>
            <a:r>
              <a:rPr sz="1650" b="1">
                <a:solidFill>
                  <a:srgbClr val="20796E"/>
                </a:solidFill>
              </a:rPr>
              <a:t>特征矩阵构建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9A7FB7-F1D8-445F-AD2A-6978A7A3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95350"/>
            <a:ext cx="116014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D172A"/>
                </a:solidFill>
              </a:defRPr>
            </a:pPr>
            <a:r>
              <a:rPr sz="4350" b="1">
                <a:solidFill>
                  <a:srgbClr val="0D172A"/>
                </a:solidFill>
              </a:rPr>
              <a:t>特征工程：将业务字段转化为有语义的模型输入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19D3BB-3E62-4C95-8BFD-9291201DB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0" y="9144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0796E"/>
                </a:solidFill>
              </a:defRPr>
            </a:pPr>
            <a:r>
              <a:rPr sz="1800" b="1">
                <a:solidFill>
                  <a:srgbClr val="20796E"/>
                </a:solidFill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47DB52-3FC7-4CE8-82C7-F5073BF0E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48100"/>
            <a:ext cx="609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796E"/>
          </a:solidFill>
          <a:ln xmlns:a="http://schemas.openxmlformats.org/drawingml/2006/main" w="0">
            <a:solidFill>
              <a:srgbClr val="20796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2F1E21-6C59-4698-B03A-977CC0971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19550"/>
            <a:ext cx="81153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11827"/>
                </a:solidFill>
              </a:defRPr>
            </a:pPr>
            <a:r>
              <a:rPr sz="2475" b="1">
                <a:solidFill>
                  <a:srgbClr val="111827"/>
                </a:solidFill>
              </a:rPr>
              <a:t>日期锚点特征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CE3CC3-1EE7-4D37-BDCF-ECC143E3C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57700"/>
            <a:ext cx="81153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96A80"/>
                </a:solidFill>
              </a:defRPr>
            </a:pPr>
            <a:r>
              <a:rPr sz="1875">
                <a:solidFill>
                  <a:srgbClr val="596A80"/>
                </a:solidFill>
              </a:rPr>
              <a:t>以合同开始日期作为统一参考点，计算驾龄、被保人年龄、合同期限、车龄等语义特征。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5B6BD7-320F-4B7A-A287-463F6A13F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81600"/>
            <a:ext cx="609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5E8"/>
          </a:solidFill>
          <a:ln xmlns:a="http://schemas.openxmlformats.org/drawingml/2006/main" w="0">
            <a:solidFill>
              <a:srgbClr val="2765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313BC0-0872-4205-B04A-2CA78C00D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72100"/>
            <a:ext cx="81153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11827"/>
                </a:solidFill>
              </a:defRPr>
            </a:pPr>
            <a:r>
              <a:rPr sz="2475" b="1">
                <a:solidFill>
                  <a:srgbClr val="111827"/>
                </a:solidFill>
              </a:rPr>
              <a:t>车辆属性特征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BEE857-6FFA-4371-BD04-15CC4D5BD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91200"/>
            <a:ext cx="81153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96A80"/>
                </a:solidFill>
              </a:defRPr>
            </a:pPr>
            <a:r>
              <a:rPr sz="1875">
                <a:solidFill>
                  <a:srgbClr val="596A80"/>
                </a:solidFill>
              </a:rPr>
              <a:t>保留发动机功率、排量、重量、车辆价值、注册年份等字段，并进行异常值截断。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DE39D1-0BFE-4EFD-B89C-BCB80C9E8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15100"/>
            <a:ext cx="609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5A4F"/>
          </a:solidFill>
          <a:ln xmlns:a="http://schemas.openxmlformats.org/drawingml/2006/main" w="0">
            <a:solidFill>
              <a:srgbClr val="E15A4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B64666-8849-4A3E-B311-9B12F7EE4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705600"/>
            <a:ext cx="81153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11827"/>
                </a:solidFill>
              </a:defRPr>
            </a:pPr>
            <a:r>
              <a:rPr sz="2475" b="1">
                <a:solidFill>
                  <a:srgbClr val="111827"/>
                </a:solidFill>
              </a:rPr>
              <a:t>保单与历史理赔特征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A29F04-13A1-47C2-9E58-3F1352FB4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143750"/>
            <a:ext cx="81153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96A80"/>
                </a:solidFill>
              </a:defRPr>
            </a:pPr>
            <a:r>
              <a:rPr sz="1875">
                <a:solidFill>
                  <a:srgbClr val="596A80"/>
                </a:solidFill>
              </a:rPr>
              <a:t>使用年度保费、历史理赔次数、风险类型、缴费方式等字段表达保单风险状态。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2DA0E3-3D30-4797-B364-2B70EE94A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876675"/>
            <a:ext cx="1809750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0D172A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93911C-FDE1-4E2D-9A73-F9D705E74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000500"/>
            <a:ext cx="1543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特征类别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90B3C6-C3C6-40E7-A8EA-8B2BDFF0A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876675"/>
            <a:ext cx="3810000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0D172A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E1FCD0-31A8-49B3-9650-14711B9EB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4000500"/>
            <a:ext cx="3543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代表字段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12ABE2-74D1-49FF-A38C-B178F89C2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73300" y="3876675"/>
            <a:ext cx="2495550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0D172A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66132C-4267-468F-B0D7-D1BE8DF41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6650" y="4000500"/>
            <a:ext cx="22288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来源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300F4C-CBED-4CE4-86AE-3591DA989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391025"/>
            <a:ext cx="1809750" cy="476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B1C423-A9D5-4FCE-BC09-DD3840FB4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514850"/>
            <a:ext cx="1543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日期原始天数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536E29-A85C-4CCE-BF4B-7DF6CC744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4391025"/>
            <a:ext cx="3810000" cy="476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62ACB7-DCF9-4691-9963-47308D7A4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4514850"/>
            <a:ext cx="3543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Date_start_contract_days 等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584276-2772-4148-AEA5-FF0038B66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73300" y="4391025"/>
            <a:ext cx="2495550" cy="476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F5654A-CE98-4AB7-9F4B-2250319CB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6650" y="4514850"/>
            <a:ext cx="22288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日期解析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5657FD-B919-4D06-9236-E419A47BA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867275"/>
            <a:ext cx="1809750" cy="476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0201AC-2C38-4F7B-B587-FB96210D7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991100"/>
            <a:ext cx="1543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日期语义衍生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14B5EE-5574-47EF-A56F-F0499465D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4867275"/>
            <a:ext cx="3810000" cy="476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8778B7-FE3D-4397-84EB-DF70EBF92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4991100"/>
            <a:ext cx="3543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insured_age_years、vehicle_age_years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420A6D-148A-4252-A5C1-66FB72B80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73300" y="4867275"/>
            <a:ext cx="2495550" cy="476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D505FF8-176B-4AC4-A706-9AFE613C2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6650" y="4991100"/>
            <a:ext cx="22288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业务计算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5DD37FA-7CDE-444C-8CE5-F6A7851B5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343525"/>
            <a:ext cx="1809750" cy="476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E661247-1DFF-4249-B250-212E0C658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467350"/>
            <a:ext cx="1543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车辆属性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33C9BCF-A0B9-4C20-B663-F8DBA413A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5343525"/>
            <a:ext cx="3810000" cy="476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449F6C-D6D7-425E-8CC6-42BE14A49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5467350"/>
            <a:ext cx="3543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Power、Weight、Value_vehicle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6A5B4AC-CEF5-4D3E-91E5-1605476DE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73300" y="5343525"/>
            <a:ext cx="2495550" cy="476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35AFCD0-E6C3-4D27-9B89-3A8011047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6650" y="5467350"/>
            <a:ext cx="22288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原始字段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40DB2D8-6DDE-48C0-B5DA-784962D33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819775"/>
            <a:ext cx="1809750" cy="476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01C4A43-2842-4E6A-BCBD-DF9F9A2CE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943600"/>
            <a:ext cx="1543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保单合同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56011C7-B1A7-425B-AED2-7CA982EE0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5819775"/>
            <a:ext cx="3810000" cy="476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C4702EC-5FC4-457C-9848-048993144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5943600"/>
            <a:ext cx="3543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Premium、Type_risk、Payment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77BD44D-9116-4085-8730-AC1723F1A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73300" y="5819775"/>
            <a:ext cx="2495550" cy="476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35C09F2-6ABA-4CA2-9771-A793E77B2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6650" y="5943600"/>
            <a:ext cx="22288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原始字段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4031721-00B6-4B63-9CA8-9C8B2F40F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6296025"/>
            <a:ext cx="1809750" cy="476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A11AC3E-8527-4022-B3E1-FCCD9366A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6419850"/>
            <a:ext cx="1543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类别编码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064494B-543F-4846-A639-A1E48CCCA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96025"/>
            <a:ext cx="3810000" cy="476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16D0868-7F2F-4069-9609-A6DC1956B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19850"/>
            <a:ext cx="3543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Type_fuel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9953E14-E271-4A50-AE7A-C83466F1F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73300" y="6296025"/>
            <a:ext cx="2495550" cy="476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25AF11C-8A9B-46E4-B78C-26291641B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6650" y="6419850"/>
            <a:ext cx="22288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类别数值化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4FF968F-F9CA-42D9-AC24-E01A1D7AA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7010400"/>
            <a:ext cx="81153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0796E"/>
                </a:solidFill>
              </a:defRPr>
            </a:pPr>
            <a:r>
              <a:rPr sz="2250" b="1">
                <a:solidFill>
                  <a:srgbClr val="20796E"/>
                </a:solidFill>
              </a:rPr>
              <a:t>最终输入不是简单堆字段，而是将业务时间、车辆属性和历史理赔信息统一为可复现的结构化特征矩阵。</a:t>
            </a:r>
          </a:p>
        </p:txBody>
      </p:sp>
    </p:spTree>
    <p:extLst>
      <p:ext uri="{BB962C8B-B14F-4D97-AF65-F5344CB8AC3E}">
        <p14:creationId xmlns:p14="http://schemas.microsoft.com/office/powerpoint/2010/main" val="192572189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pic xmlns:a="http://schemas.openxmlformats.org/drawingml/2006/main" xmlns:r="http://schemas.openxmlformats.org/officeDocument/2006/relationships"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200400"/>
            <a:ext cx="8778240" cy="3413110"/>
          </a:xfrm>
          <a:prstGeom prst="rect">
            <a:avLst/>
          </a:prstGeom>
        </p:spPr>
      </p:pic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683A22B-45B6-4AF2-AF67-E66E87B2E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9600"/>
            <a:ext cx="15868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0796E"/>
                </a:solidFill>
              </a:defRPr>
            </a:pPr>
            <a:r>
              <a:rPr sz="1650" b="1">
                <a:solidFill>
                  <a:srgbClr val="20796E"/>
                </a:solidFill>
              </a:rPr>
              <a:t>模型构建与优化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EFFCBC-EF12-4357-88D8-D564409DB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95350"/>
            <a:ext cx="106489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D172A"/>
                </a:solidFill>
              </a:defRPr>
            </a:pPr>
            <a:r>
              <a:rPr sz="4350" b="1">
                <a:solidFill>
                  <a:srgbClr val="0D172A"/>
                </a:solidFill>
              </a:rPr>
              <a:t>模型结构：残差式 MLP 面向表格数据二分类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19087F-5E75-4852-8B33-11E6DCBAC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0" y="9144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0796E"/>
                </a:solidFill>
              </a:defRPr>
            </a:pPr>
            <a:r>
              <a:rPr sz="1800" b="1">
                <a:solidFill>
                  <a:srgbClr val="20796E"/>
                </a:solidFill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4D61E1-00C8-4A99-B2A1-5A3EE9BCA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71650"/>
            <a:ext cx="8774811" cy="7905750"/>
          </a:xfrm>
          <a:prstGeom xmlns:a="http://schemas.openxmlformats.org/drawingml/2006/main" prst="roundRect">
            <a:avLst>
              <a:gd name="adj" fmla="val 7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9B69E7-6F6E-4944-B440-8E2749F68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457700"/>
            <a:ext cx="74676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D172A"/>
                </a:solidFill>
              </a:defRPr>
            </a:pPr>
            <a:r>
              <a:rPr sz="2700" b="1">
                <a:solidFill>
                  <a:srgbClr val="0D172A"/>
                </a:solidFill>
              </a:rPr>
              <a:t>输入为标准化后的保单特征向量，输出为“是否发生理赔”的概率 logit。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1D8FD0-8194-4ADC-B2D0-CFB7A3A2A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372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65E8"/>
          </a:solidFill>
          <a:ln xmlns:a="http://schemas.openxmlformats.org/drawingml/2006/main" w="0">
            <a:solidFill>
              <a:srgbClr val="2765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35AFAD-AEA0-4A7A-AAFA-317E68572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5372100"/>
            <a:ext cx="7219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263246"/>
                </a:solidFill>
              </a:defRPr>
            </a:pPr>
            <a:r>
              <a:rPr sz="2175">
                <a:solidFill>
                  <a:srgbClr val="263246"/>
                </a:solidFill>
              </a:rPr>
              <a:t>残差块缓解网络加深后特征表达退化问题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71240E-1FCC-4FDF-B8C8-3092ED3CD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829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3DE"/>
          </a:solidFill>
          <a:ln xmlns:a="http://schemas.openxmlformats.org/drawingml/2006/main" w="0">
            <a:solidFill>
              <a:srgbClr val="C8D3D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CC9773-35C1-487F-8B6D-C6C2B3B77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5829300"/>
            <a:ext cx="7219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263246"/>
                </a:solidFill>
              </a:defRPr>
            </a:pPr>
            <a:r>
              <a:rPr sz="2175">
                <a:solidFill>
                  <a:srgbClr val="263246"/>
                </a:solidFill>
              </a:rPr>
              <a:t>LayerNorm 与 GELU 提升训练稳定性和非线性表达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78C90F-17E3-4287-B669-443E4DC81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2674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3DE"/>
          </a:solidFill>
          <a:ln xmlns:a="http://schemas.openxmlformats.org/drawingml/2006/main" w="0">
            <a:solidFill>
              <a:srgbClr val="C8D3D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DB2543-12B3-43E6-AD89-7EE4AE42A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6267450"/>
            <a:ext cx="7219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263246"/>
                </a:solidFill>
              </a:defRPr>
            </a:pPr>
            <a:r>
              <a:rPr sz="2175">
                <a:solidFill>
                  <a:srgbClr val="263246"/>
                </a:solidFill>
              </a:rPr>
              <a:t>Dropout 与 AdamW 配合控制过拟合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90551D-EEB8-4817-AE0B-17C6D11EB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7246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3DE"/>
          </a:solidFill>
          <a:ln xmlns:a="http://schemas.openxmlformats.org/drawingml/2006/main" w="0">
            <a:solidFill>
              <a:srgbClr val="C8D3D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51C708-837C-40DA-AB41-2698B3D65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6724650"/>
            <a:ext cx="7219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263246"/>
                </a:solidFill>
              </a:defRPr>
            </a:pPr>
            <a:r>
              <a:rPr sz="2175">
                <a:solidFill>
                  <a:srgbClr val="263246"/>
                </a:solidFill>
              </a:rPr>
              <a:t>Sigmoid 概率结合最优阈值输出离散预测标签</a:t>
            </a:r>
          </a:p>
        </p:txBody>
      </p:sp>
    </p:spTree>
    <p:extLst>
      <p:ext uri="{BB962C8B-B14F-4D97-AF65-F5344CB8AC3E}">
        <p14:creationId xmlns:p14="http://schemas.microsoft.com/office/powerpoint/2010/main" val="172367833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30F3DED-061D-484E-A26B-88E85AB9C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9600"/>
            <a:ext cx="15868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0796E"/>
                </a:solidFill>
              </a:defRPr>
            </a:pPr>
            <a:r>
              <a:rPr sz="1650" b="1">
                <a:solidFill>
                  <a:srgbClr val="20796E"/>
                </a:solidFill>
              </a:rPr>
              <a:t>训练流程设计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F3A525-25B4-4AF2-8E23-FF76EA571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95350"/>
            <a:ext cx="121539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D172A"/>
                </a:solidFill>
              </a:defRPr>
            </a:pPr>
            <a:r>
              <a:rPr sz="4350" b="1">
                <a:solidFill>
                  <a:srgbClr val="0D172A"/>
                </a:solidFill>
              </a:rPr>
              <a:t>训练策略：在类别不均衡场景下兼顾召回与稳定性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DA0234-1D06-4099-A8DF-154687136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0" y="9144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0796E"/>
                </a:solidFill>
              </a:defRPr>
            </a:pPr>
            <a:r>
              <a:rPr sz="1800" b="1">
                <a:solidFill>
                  <a:srgbClr val="20796E"/>
                </a:solidFill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61B13C-2875-4DFF-9184-BEAA79D38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71650"/>
            <a:ext cx="4162425" cy="6610350"/>
          </a:xfrm>
          <a:prstGeom xmlns:a="http://schemas.openxmlformats.org/drawingml/2006/main" prst="roundRect">
            <a:avLst>
              <a:gd name="adj" fmla="val 1373"/>
            </a:avLst>
          </a:prstGeom>
          <a:solidFill xmlns:a="http://schemas.openxmlformats.org/drawingml/2006/main">
            <a:srgbClr val="FDEDEA"/>
          </a:solidFill>
          <a:ln xmlns:a="http://schemas.openxmlformats.org/drawingml/2006/main" w="9525">
            <a:solidFill>
              <a:srgbClr val="F5CBC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46D74D-924A-4C77-B9E7-225AC8B42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57400"/>
            <a:ext cx="609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5A4F"/>
          </a:solidFill>
          <a:ln xmlns:a="http://schemas.openxmlformats.org/drawingml/2006/main" w="0">
            <a:solidFill>
              <a:srgbClr val="E15A4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8394DB-BAAE-4C28-A826-4B1CBD48C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28850"/>
            <a:ext cx="36385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11827"/>
                </a:solidFill>
              </a:defRPr>
            </a:pPr>
            <a:r>
              <a:rPr sz="2475" b="1">
                <a:solidFill>
                  <a:srgbClr val="111827"/>
                </a:solidFill>
              </a:rPr>
              <a:t>正类权重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6E6FE4-FA3A-48A7-A85A-6D61337F2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67000"/>
            <a:ext cx="36385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96A80"/>
                </a:solidFill>
              </a:defRPr>
            </a:pPr>
            <a:r>
              <a:rPr sz="1875">
                <a:solidFill>
                  <a:srgbClr val="596A80"/>
                </a:solidFill>
              </a:rPr>
              <a:t>使用带正类权重的 BCEWithLogitsLoss，提升模型对理赔样本的关注。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2597A4-3068-469E-BEB4-E20E850C0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771650"/>
            <a:ext cx="4162425" cy="6610350"/>
          </a:xfrm>
          <a:prstGeom xmlns:a="http://schemas.openxmlformats.org/drawingml/2006/main" prst="roundRect">
            <a:avLst>
              <a:gd name="adj" fmla="val 1373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C9D8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145EE9-71F3-4899-A530-4F11AD874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057400"/>
            <a:ext cx="609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5E8"/>
          </a:solidFill>
          <a:ln xmlns:a="http://schemas.openxmlformats.org/drawingml/2006/main" w="0">
            <a:solidFill>
              <a:srgbClr val="2765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5FAAF3-1C90-4C84-8F69-9742AFCB4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228850"/>
            <a:ext cx="36385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11827"/>
                </a:solidFill>
              </a:defRPr>
            </a:pPr>
            <a:r>
              <a:rPr sz="2475" b="1">
                <a:solidFill>
                  <a:srgbClr val="111827"/>
                </a:solidFill>
              </a:rPr>
              <a:t>自动阈值搜索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947FA5-7A28-44D1-B50D-CCFD06C43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667000"/>
            <a:ext cx="36385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96A80"/>
                </a:solidFill>
              </a:defRPr>
            </a:pPr>
            <a:r>
              <a:rPr sz="1875">
                <a:solidFill>
                  <a:srgbClr val="596A80"/>
                </a:solidFill>
              </a:rPr>
              <a:t>在 0.05-0.95 区间搜索候选阈值，优先满足召回率约束。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5B2B28-ECD9-45A9-B543-0FFAC9AE7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771650"/>
            <a:ext cx="4162425" cy="6610350"/>
          </a:xfrm>
          <a:prstGeom xmlns:a="http://schemas.openxmlformats.org/drawingml/2006/main" prst="roundRect">
            <a:avLst>
              <a:gd name="adj" fmla="val 1373"/>
            </a:avLst>
          </a:prstGeom>
          <a:solidFill xmlns:a="http://schemas.openxmlformats.org/drawingml/2006/main">
            <a:srgbClr val="E7F4F1"/>
          </a:solidFill>
          <a:ln xmlns:a="http://schemas.openxmlformats.org/drawingml/2006/main" w="9525">
            <a:solidFill>
              <a:srgbClr val="C8E3D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C18D68-0E6C-4517-8997-FAFD09889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057400"/>
            <a:ext cx="609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796E"/>
          </a:solidFill>
          <a:ln xmlns:a="http://schemas.openxmlformats.org/drawingml/2006/main" w="0">
            <a:solidFill>
              <a:srgbClr val="20796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4A343D-55ED-4ADE-8691-491E334F8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228850"/>
            <a:ext cx="36385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11827"/>
                </a:solidFill>
              </a:defRPr>
            </a:pPr>
            <a:r>
              <a:rPr sz="2475" b="1">
                <a:solidFill>
                  <a:srgbClr val="111827"/>
                </a:solidFill>
              </a:rPr>
              <a:t>优化与调度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E3209F-8C95-4E5E-8D55-788865916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667000"/>
            <a:ext cx="36385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96A80"/>
                </a:solidFill>
              </a:defRPr>
            </a:pPr>
            <a:r>
              <a:rPr sz="1875">
                <a:solidFill>
                  <a:srgbClr val="596A80"/>
                </a:solidFill>
              </a:rPr>
              <a:t>AdamW 结合 Cosine Warmup 学习率调度，提高收敛稳定性。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02F79D-7A44-4F7B-B634-145126728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06425" y="1771650"/>
            <a:ext cx="4162425" cy="6610350"/>
          </a:xfrm>
          <a:prstGeom xmlns:a="http://schemas.openxmlformats.org/drawingml/2006/main" prst="roundRect">
            <a:avLst>
              <a:gd name="adj" fmla="val 1373"/>
            </a:avLst>
          </a:prstGeom>
          <a:solidFill xmlns:a="http://schemas.openxmlformats.org/drawingml/2006/main">
            <a:srgbClr val="FFF3DD"/>
          </a:solidFill>
          <a:ln xmlns:a="http://schemas.openxmlformats.org/drawingml/2006/main" w="9525">
            <a:solidFill>
              <a:srgbClr val="F1D8A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3FB3D1-8647-46AF-B9B0-FEC2DACDE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2057400"/>
            <a:ext cx="609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312"/>
          </a:solidFill>
          <a:ln xmlns:a="http://schemas.openxmlformats.org/drawingml/2006/main" w="0">
            <a:solidFill>
              <a:srgbClr val="D8831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AF1348-616E-4794-B9F6-FB05AA180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2228850"/>
            <a:ext cx="36385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11827"/>
                </a:solidFill>
              </a:defRPr>
            </a:pPr>
            <a:r>
              <a:rPr sz="2475" b="1">
                <a:solidFill>
                  <a:srgbClr val="111827"/>
                </a:solidFill>
              </a:rPr>
              <a:t>训练保护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72BA80-B7F9-44FE-87F1-381F03E03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2667000"/>
            <a:ext cx="36385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96A80"/>
                </a:solidFill>
              </a:defRPr>
            </a:pPr>
            <a:r>
              <a:rPr sz="1875">
                <a:solidFill>
                  <a:srgbClr val="596A80"/>
                </a:solidFill>
              </a:rPr>
              <a:t>Early Stopping、AMP 混合精度和梯度裁剪减少过拟合与数值波动。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B90738-CA91-48E9-B4BA-0DB4A61F0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705850"/>
            <a:ext cx="16649700" cy="9715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C76B5A-1B0C-4951-9910-6408F9251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8896350"/>
            <a:ext cx="161163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0796E"/>
                </a:solidFill>
              </a:defRPr>
            </a:pPr>
            <a:r>
              <a:rPr sz="2325" b="1">
                <a:solidFill>
                  <a:srgbClr val="20796E"/>
                </a:solidFill>
              </a:rPr>
              <a:t>业务含义：模型先输出理赔概率，阈值搜索再决定分类边界。这样可以在风控场景中适度接受误报，尽量减少高风险保单漏判。</a:t>
            </a:r>
          </a:p>
        </p:txBody>
      </p:sp>
    </p:spTree>
    <p:extLst>
      <p:ext uri="{BB962C8B-B14F-4D97-AF65-F5344CB8AC3E}">
        <p14:creationId xmlns:p14="http://schemas.microsoft.com/office/powerpoint/2010/main" val="99096201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pic xmlns:a="http://schemas.openxmlformats.org/drawingml/2006/main" xmlns:r="http://schemas.openxmlformats.org/officeDocument/2006/relationships">
        <p:nvPicPr>
          <p:cNvPr id="55" name="Picture 54" descr="val_pr_auc_curv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0" y="7498079"/>
            <a:ext cx="3833677" cy="2286000"/>
          </a:xfrm>
          <a:prstGeom prst="rect">
            <a:avLst/>
          </a:prstGeom>
        </p:spPr>
      </p:pic>
      <p:pic xmlns:a="http://schemas.openxmlformats.org/drawingml/2006/main" xmlns:r="http://schemas.openxmlformats.org/officeDocument/2006/relationships">
        <p:nvPicPr>
          <p:cNvPr id="54" name="Picture 53" descr="loss_cur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7498079"/>
            <a:ext cx="3833677" cy="2286000"/>
          </a:xfrm>
          <a:prstGeom prst="rect">
            <a:avLst/>
          </a:prstGeom>
        </p:spPr>
      </p:pic>
      <p:pic xmlns:a="http://schemas.openxmlformats.org/drawingml/2006/main" xmlns:r="http://schemas.openxmlformats.org/officeDocument/2006/relationships">
        <p:nvPicPr>
          <p:cNvPr id="53" name="Picture 52" descr="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4114800"/>
            <a:ext cx="3768777" cy="3200400"/>
          </a:xfrm>
          <a:prstGeom prst="rect">
            <a:avLst/>
          </a:prstGeom>
        </p:spPr>
      </p:pic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6237B95-A777-40B6-8E59-1F79194A9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9600"/>
            <a:ext cx="15868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0796E"/>
                </a:solidFill>
              </a:defRPr>
            </a:pPr>
            <a:r>
              <a:rPr sz="1650" b="1">
                <a:solidFill>
                  <a:srgbClr val="20796E"/>
                </a:solidFill>
              </a:rPr>
              <a:t>性能评估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267AB9-DEBF-4098-A767-4D46E815B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95350"/>
            <a:ext cx="121539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D172A"/>
                </a:solidFill>
              </a:defRPr>
            </a:pPr>
            <a:r>
              <a:rPr sz="4350" b="1">
                <a:solidFill>
                  <a:srgbClr val="0D172A"/>
                </a:solidFill>
              </a:rPr>
              <a:t>模型评估：整体排序能力与理赔样本召回表现良好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1A3040-E405-44D6-B41E-28E8F4DE1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0" y="9144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0796E"/>
                </a:solidFill>
              </a:defRPr>
            </a:pPr>
            <a:r>
              <a:rPr sz="1800" b="1">
                <a:solidFill>
                  <a:srgbClr val="20796E"/>
                </a:solidFill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3A2C76-2D26-4DA9-904A-F6DAB4628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92630"/>
            <a:ext cx="60960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950" b="1">
                <a:solidFill>
                  <a:srgbClr val="20796E"/>
                </a:solidFill>
              </a:defRPr>
            </a:pPr>
            <a:r>
              <a:rPr sz="4950" b="1">
                <a:solidFill>
                  <a:srgbClr val="20796E"/>
                </a:solidFill>
              </a:rPr>
              <a:t>0.9604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750882-0ED4-4A4D-B2B5-5253DE76A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97480"/>
            <a:ext cx="6096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AUC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D6FCF0-5AA3-4AC2-B802-9C9597A4C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21330"/>
            <a:ext cx="6096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96A80"/>
                </a:solidFill>
              </a:defRPr>
            </a:pPr>
            <a:r>
              <a:rPr sz="1500">
                <a:solidFill>
                  <a:srgbClr val="596A80"/>
                </a:solidFill>
              </a:rPr>
              <a:t>测试集 10,557 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5C3BFD-AB27-4280-8D9C-CB034AF6F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78530"/>
            <a:ext cx="60960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950" b="1">
                <a:solidFill>
                  <a:srgbClr val="E15A4F"/>
                </a:solidFill>
              </a:defRPr>
            </a:pPr>
            <a:r>
              <a:rPr sz="4950" b="1">
                <a:solidFill>
                  <a:srgbClr val="E15A4F"/>
                </a:solidFill>
              </a:rPr>
              <a:t>0.8305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675253-C5F2-4AD7-B976-5F14F7193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83380"/>
            <a:ext cx="6096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Claim Recall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38B3CB-B625-416D-A499-699052742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88180"/>
            <a:ext cx="6096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96A80"/>
                </a:solidFill>
              </a:defRPr>
            </a:pPr>
            <a:r>
              <a:rPr sz="1500">
                <a:solidFill>
                  <a:srgbClr val="596A80"/>
                </a:solidFill>
              </a:rPr>
              <a:t>理赔样本召回率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998D00-CFCB-42CB-ADE1-147CE6072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45380"/>
            <a:ext cx="60960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950" b="1">
                <a:solidFill>
                  <a:srgbClr val="2765E8"/>
                </a:solidFill>
              </a:defRPr>
            </a:pPr>
            <a:r>
              <a:rPr sz="4950" b="1">
                <a:solidFill>
                  <a:srgbClr val="2765E8"/>
                </a:solidFill>
              </a:rPr>
              <a:t>0.9121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88B706-0834-4066-B892-27442480D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50230"/>
            <a:ext cx="6096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Weighted F1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90FDA7-AD4E-4DB0-A2E4-948F09742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74080"/>
            <a:ext cx="6096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96A80"/>
                </a:solidFill>
              </a:defRPr>
            </a:pPr>
            <a:r>
              <a:rPr sz="1500">
                <a:solidFill>
                  <a:srgbClr val="596A80"/>
                </a:solidFill>
              </a:rPr>
              <a:t>加权平均 F1-score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B0CC70-A7F9-49CC-97A8-F3E62A749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2819" y="2933700"/>
            <a:ext cx="1524000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0D172A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F2705F-3AEC-4BDA-8DA9-8A69F2534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402080"/>
            <a:ext cx="1257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类别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6682C9-8E7E-4E0E-8C3E-199BB5461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6819" y="2933700"/>
            <a:ext cx="1428750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0D172A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9CEB2B-4F1A-4A2B-BD07-80E164552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40208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Precision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3E940C-9924-4E42-A45D-579D6D596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5569" y="2933700"/>
            <a:ext cx="1428750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0D172A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CE936F-80EF-4CF0-A75B-8CD2135E0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140208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Recall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C862CC-B90A-472A-94F1-51A442744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4319" y="2933700"/>
            <a:ext cx="1524000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0D172A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4B0791-0A9D-4D29-AD4E-D202DE215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1402080"/>
            <a:ext cx="1257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F1-score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9284BA-9857-4DE1-93E6-FA9BF1B50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8319" y="2933700"/>
            <a:ext cx="1238250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0D172A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708053-97B5-4176-9180-B1BEB2338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050" y="1402080"/>
            <a:ext cx="971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样本数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2D445F-7D16-43DA-A9C4-ECBF8F126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2819" y="3448050"/>
            <a:ext cx="1524000" cy="476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46AB6B-C1BB-4121-83CE-6C1EC4EAA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916430"/>
            <a:ext cx="1257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No Claim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3310BF-99F5-4EF2-8D9F-D32342AAF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6819" y="3448050"/>
            <a:ext cx="1428750" cy="476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09E4C2-7224-414E-B151-B22D44943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91643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0.9599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E6AE669-9BDC-4520-A87E-1069251B4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5569" y="3448050"/>
            <a:ext cx="1428750" cy="476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A3AA8E6-F340-4E7C-8120-7B247E5E0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191643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0.9280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FC28C8F-2DD7-4448-8C85-B6B228DC3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4319" y="3448050"/>
            <a:ext cx="1524000" cy="476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39C7B1F-7085-430B-B973-6FE8B8DD4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1916430"/>
            <a:ext cx="1257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0.9437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D01AB3B-DBFB-4144-B5BD-9D73A4E14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8319" y="3448050"/>
            <a:ext cx="1238250" cy="476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41F5F6A-6F6E-4C66-A6D5-11DE12484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050" y="1916430"/>
            <a:ext cx="971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8592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EE1EB6D-487F-45A2-A712-B78412A9F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2819" y="3924300"/>
            <a:ext cx="1524000" cy="476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8A17407-BC9C-461B-AF6D-2C3B05685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392680"/>
            <a:ext cx="1257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Claim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414C45C-C9E1-45B5-8FD1-3DB8BEFB5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6819" y="3924300"/>
            <a:ext cx="1428750" cy="476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463C25C-EF6B-4A1D-8532-5B3B53832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39268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0.7250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733C92D-3176-452A-9420-0B2AAF634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5569" y="3924300"/>
            <a:ext cx="1428750" cy="476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43CE3DA-1C6D-4940-A92F-A130C695B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239268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0.8305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02EE906-EECE-4AC8-85A4-A1F94F83E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4319" y="3924300"/>
            <a:ext cx="1524000" cy="476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A0F2C80-D8C2-4172-A2F4-52589B173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2392680"/>
            <a:ext cx="1257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0.7742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21F60CC-CF89-44CC-9B96-3D12B9E54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8319" y="3924300"/>
            <a:ext cx="1238250" cy="476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0E9C371-FD65-4CB3-858F-A8C6F6FB9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050" y="2392680"/>
            <a:ext cx="971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1965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AB9FC49-B869-4515-9AFB-9DD28A86F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2819" y="4400550"/>
            <a:ext cx="1524000" cy="476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974C84C-C195-4F6F-89A6-BE6E372A3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868930"/>
            <a:ext cx="1257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加权平均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BFBBA8D-6E01-4C9E-B435-D3C732C22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6819" y="4400550"/>
            <a:ext cx="1428750" cy="476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538C539-52F2-4DCA-9878-8D1968F7B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86893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0.9162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442E816-3D44-41D1-9A94-609F254B5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5569" y="4400550"/>
            <a:ext cx="1428750" cy="476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B580887-7F04-4E9B-8DCC-74EC65354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2868930"/>
            <a:ext cx="116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0.9098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ACB67BB-C80D-4A2C-8E07-2C80C436E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4319" y="4400550"/>
            <a:ext cx="1524000" cy="476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3773DA1-126A-48D4-BEA2-6EEFFC217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2868930"/>
            <a:ext cx="1257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0.9121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02A4617-4F8D-44FE-B9C9-7E1A1BEFB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8319" y="4400550"/>
            <a:ext cx="1238250" cy="476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5E55B52-525E-406C-A74A-6D81D58AC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050" y="2868930"/>
            <a:ext cx="971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156254182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DB29C39-ED49-4EBB-8DCB-270CE47D2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9600"/>
            <a:ext cx="15868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0796E"/>
                </a:solidFill>
              </a:defRPr>
            </a:pPr>
            <a:r>
              <a:rPr sz="1650" b="1">
                <a:solidFill>
                  <a:srgbClr val="20796E"/>
                </a:solidFill>
              </a:rPr>
              <a:t>对照实验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DDBB1F-3E06-49AB-83BA-0FCDFF343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95350"/>
            <a:ext cx="104965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D172A"/>
                </a:solidFill>
              </a:defRPr>
            </a:pPr>
            <a:r>
              <a:rPr sz="4350" b="1">
                <a:solidFill>
                  <a:srgbClr val="0D172A"/>
                </a:solidFill>
              </a:rPr>
              <a:t>消融实验：优化策略让模型更贴近风控目标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8543E0-58F9-4F77-A311-9A250278C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0" y="9144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0796E"/>
                </a:solidFill>
              </a:defRPr>
            </a:pPr>
            <a:r>
              <a:rPr sz="1800" b="1">
                <a:solidFill>
                  <a:srgbClr val="20796E"/>
                </a:solidFill>
              </a:rPr>
              <a:t>13</a:t>
            </a:r>
          </a:p>
        </p:txBody>
      </p:sp>
      <p:graphicFrame>
        <p:nvGraphicFramePr>
          <p:cNvPr id="4" name="ablation-chart"/>
          <p:cNvGraphicFramePr/>
          <p:nvPr/>
        </p:nvGraphicFramePr>
        <p:xfrm>
          <a:off xmlns:a="http://schemas.openxmlformats.org/drawingml/2006/main" x="819150" y="1771650"/>
          <a:ext xmlns:a="http://schemas.openxmlformats.org/drawingml/2006/main" cx="8541068" cy="790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1afe31a932f47cf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A44882-9B7F-4CF5-883B-E412604E7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848100"/>
            <a:ext cx="77343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D172A"/>
                </a:solidFill>
              </a:defRPr>
            </a:pPr>
            <a:r>
              <a:rPr sz="2850" b="1">
                <a:solidFill>
                  <a:srgbClr val="0D172A"/>
                </a:solidFill>
              </a:rPr>
              <a:t>实验结论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BFBB8F-3ED4-4E6E-8CC9-854B5C495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4196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5A4F"/>
          </a:solidFill>
          <a:ln xmlns:a="http://schemas.openxmlformats.org/drawingml/2006/main" w="0">
            <a:solidFill>
              <a:srgbClr val="E15A4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B94AB0-3C69-4D02-840A-14711679C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419600"/>
            <a:ext cx="7486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263246"/>
                </a:solidFill>
              </a:defRPr>
            </a:pPr>
            <a:r>
              <a:rPr sz="2100">
                <a:solidFill>
                  <a:srgbClr val="263246"/>
                </a:solidFill>
              </a:rPr>
              <a:t>AUC 基本稳定在 0.957 左右，说明模型排序能力较稳定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5E0179-71E8-4D44-A362-60EC6D9F9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857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3DE"/>
          </a:solidFill>
          <a:ln xmlns:a="http://schemas.openxmlformats.org/drawingml/2006/main" w="0">
            <a:solidFill>
              <a:srgbClr val="C8D3D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4F0D41-423C-4BC9-81AF-FD0A97D85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857750"/>
            <a:ext cx="7486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263246"/>
                </a:solidFill>
              </a:defRPr>
            </a:pPr>
            <a:r>
              <a:rPr sz="2100">
                <a:solidFill>
                  <a:srgbClr val="263246"/>
                </a:solidFill>
              </a:rPr>
              <a:t>固定阈值可提升召回，但会明显牺牲准确率或 F1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DC7223-7E9B-4235-808D-5C3ABB468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5295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3DE"/>
          </a:solidFill>
          <a:ln xmlns:a="http://schemas.openxmlformats.org/drawingml/2006/main" w="0">
            <a:solidFill>
              <a:srgbClr val="C8D3D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8FE19B-F766-47BD-ABFD-B2577502D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5295900"/>
            <a:ext cx="74866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263246"/>
                </a:solidFill>
              </a:defRPr>
            </a:pPr>
            <a:r>
              <a:rPr sz="2100">
                <a:solidFill>
                  <a:srgbClr val="263246"/>
                </a:solidFill>
              </a:rPr>
              <a:t>加权损失与自动阈值能在 F1、Accuracy、Recall 间取得更平衡表现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55993B-8DCA-4AC2-BBBD-E34134CCA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1218" y="6043613"/>
            <a:ext cx="7727633" cy="1552575"/>
          </a:xfrm>
          <a:prstGeom xmlns:a="http://schemas.openxmlformats.org/drawingml/2006/main" prst="roundRect">
            <a:avLst>
              <a:gd name="adj" fmla="val 3681"/>
            </a:avLst>
          </a:prstGeom>
          <a:solidFill xmlns:a="http://schemas.openxmlformats.org/drawingml/2006/main">
            <a:srgbClr val="E7F4F1"/>
          </a:solidFill>
          <a:ln xmlns:a="http://schemas.openxmlformats.org/drawingml/2006/main" w="9525">
            <a:solidFill>
              <a:srgbClr val="C8E3D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8B9EC9-D621-441E-97C0-1C065C146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6286500"/>
            <a:ext cx="7239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0796E"/>
                </a:solidFill>
              </a:defRPr>
            </a:pPr>
            <a:r>
              <a:rPr sz="1950" b="1">
                <a:solidFill>
                  <a:srgbClr val="20796E"/>
                </a:solidFill>
              </a:rPr>
              <a:t>最佳网络结构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395DCD-3180-4E05-8962-DDB8AD603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6648450"/>
            <a:ext cx="7239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D172A"/>
                </a:solidFill>
              </a:defRPr>
            </a:pPr>
            <a:r>
              <a:rPr sz="2850" b="1">
                <a:solidFill>
                  <a:srgbClr val="0D172A"/>
                </a:solidFill>
              </a:rPr>
              <a:t>256, 512, 512, 256, 128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971A6E-1897-49C2-ADC2-04A3006F9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7124700"/>
            <a:ext cx="723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96A80"/>
                </a:solidFill>
              </a:defRPr>
            </a:pPr>
            <a:r>
              <a:rPr sz="1725">
                <a:solidFill>
                  <a:srgbClr val="596A80"/>
                </a:solidFill>
              </a:rPr>
              <a:t>AUC 0.9588 | F1 0.7583 | Accuracy 0.9018 | Recall 0.8282</a:t>
            </a:r>
          </a:p>
        </p:txBody>
      </p:sp>
      <p:sp xmlns:a="http://schemas.openxmlformats.org/drawingml/2006/main">
        <p:nvSpPr>
          <p:cNvPr id="16" name="Rectangle 15"/>
          <p:cNvSpPr/>
          <p:nvPr/>
        </p:nvSpPr>
        <p:spPr>
          <a:xfrm>
            <a:off x="822960" y="3840480"/>
            <a:ext cx="8229600" cy="4114800"/>
          </a:xfrm>
          <a:prstGeom prst="rect">
            <a:avLst/>
          </a:prstGeom>
          <a:solidFill>
            <a:srgbClr val="F0F4FF"/>
          </a:solidFill>
          <a:ln w="19050">
            <a:solidFill>
              <a:srgbClr val="408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A3C6E"/>
                </a:solidFill>
              </a:defRPr>
            </a:pPr>
            <a:r>
              <a:t>消融实验结论</a:t>
            </a:r>
          </a:p>
          <a:p>
            <a:pPr>
              <a:spcBef>
                <a:spcPts val="1000"/>
              </a:spcBef>
              <a:defRPr sz="1200">
                <a:solidFill>
                  <a:srgbClr val="333333"/>
                </a:solidFill>
              </a:defRPr>
            </a:pPr>
            <a:r>
              <a:t>1. 加权损失 + 自动阈值：F1 从 0.7046 提升至 0.7550，召回率达 0.8198</a:t>
            </a:r>
          </a:p>
          <a:p>
            <a:pPr>
              <a:spcBef>
                <a:spcPts val="1000"/>
              </a:spcBef>
              <a:defRPr sz="1200">
                <a:solidFill>
                  <a:srgbClr val="333333"/>
                </a:solidFill>
              </a:defRPr>
            </a:pPr>
            <a:r>
              <a:t>2. 固定阈值(0.5)下加权损失反而降低 F1，说明自动阈值是必要配套策略</a:t>
            </a:r>
          </a:p>
          <a:p>
            <a:pPr>
              <a:spcBef>
                <a:spcPts val="1000"/>
              </a:spcBef>
              <a:defRPr sz="1200">
                <a:solidFill>
                  <a:srgbClr val="333333"/>
                </a:solidFill>
              </a:defRPr>
            </a:pPr>
            <a:r>
              <a:t>3. 网络深度 2→5 层：AUC 0.9577→0.9589，3~4 层已能充分学习</a:t>
            </a:r>
          </a:p>
          <a:p>
            <a:pPr>
              <a:spcBef>
                <a:spcPts val="1000"/>
              </a:spcBef>
              <a:defRPr sz="1200">
                <a:solidFill>
                  <a:srgbClr val="333333"/>
                </a:solidFill>
              </a:defRPr>
            </a:pPr>
            <a:r>
              <a:t>4. 5 层残差结构在稳定性前提下取得边际最优，故选定为最终方案</a:t>
            </a:r>
          </a:p>
        </p:txBody>
      </p:sp>
    </p:spTree>
    <p:extLst>
      <p:ext uri="{BB962C8B-B14F-4D97-AF65-F5344CB8AC3E}">
        <p14:creationId xmlns:p14="http://schemas.microsoft.com/office/powerpoint/2010/main" val="179603100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1FC0979-A9A5-41DF-AF2A-2B7FA6DEC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9600"/>
            <a:ext cx="15868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0796E"/>
                </a:solidFill>
              </a:defRPr>
            </a:pPr>
            <a:r>
              <a:rPr sz="1650" b="1">
                <a:solidFill>
                  <a:srgbClr val="20796E"/>
                </a:solidFill>
              </a:rPr>
              <a:t>系统实现与测试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B74B1B-CAEE-4005-9DE9-559D988A6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95350"/>
            <a:ext cx="127063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D172A"/>
                </a:solidFill>
              </a:defRPr>
            </a:pPr>
            <a:r>
              <a:rPr sz="4350" b="1">
                <a:solidFill>
                  <a:srgbClr val="0D172A"/>
                </a:solidFill>
              </a:rPr>
              <a:t>系统实现：数据管理、模型训练、在线预测形成闭环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01B34A-9DCB-4683-A9F7-0BF18942B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0" y="9144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0796E"/>
                </a:solidFill>
              </a:defRPr>
            </a:pPr>
            <a:r>
              <a:rPr sz="1800" b="1">
                <a:solidFill>
                  <a:srgbClr val="20796E"/>
                </a:solidFill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67EB7B-CAFF-467E-97C0-C7E5ADFCE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14700"/>
            <a:ext cx="609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796E"/>
          </a:solidFill>
          <a:ln xmlns:a="http://schemas.openxmlformats.org/drawingml/2006/main" w="0">
            <a:solidFill>
              <a:srgbClr val="20796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50DBD0-63C9-40A6-9ED3-505C915C6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05200"/>
            <a:ext cx="71628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11827"/>
                </a:solidFill>
              </a:defRPr>
            </a:pPr>
            <a:r>
              <a:rPr sz="2475" b="1">
                <a:solidFill>
                  <a:srgbClr val="111827"/>
                </a:solidFill>
              </a:rPr>
              <a:t>业务数据管理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50EA72-E308-454A-9D6C-8C4C88101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24300"/>
            <a:ext cx="71628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96A80"/>
                </a:solidFill>
              </a:defRPr>
            </a:pPr>
            <a:r>
              <a:rPr sz="1875">
                <a:solidFill>
                  <a:srgbClr val="596A80"/>
                </a:solidFill>
              </a:rPr>
              <a:t>用户、保单、理赔记录、车辆信息的增删改查与权限控制。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C4877A-65A2-43A7-8620-A0F488CD2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81500"/>
            <a:ext cx="609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5E8"/>
          </a:solidFill>
          <a:ln xmlns:a="http://schemas.openxmlformats.org/drawingml/2006/main" w="0">
            <a:solidFill>
              <a:srgbClr val="2765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9C1586-2F0F-49F9-A739-192181C1C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91050"/>
            <a:ext cx="71628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11827"/>
                </a:solidFill>
              </a:defRPr>
            </a:pPr>
            <a:r>
              <a:rPr sz="2475" b="1">
                <a:solidFill>
                  <a:srgbClr val="111827"/>
                </a:solidFill>
              </a:rPr>
              <a:t>模型训练管理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37EC07-A3E5-4CF9-96B7-68E532C38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10150"/>
            <a:ext cx="71628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96A80"/>
                </a:solidFill>
              </a:defRPr>
            </a:pPr>
            <a:r>
              <a:rPr sz="1875">
                <a:solidFill>
                  <a:srgbClr val="596A80"/>
                </a:solidFill>
              </a:rPr>
              <a:t>管理员配置优化器、学习率、隐藏层结构和阈值策略，生成模型文件。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D68618-8A17-4C94-B308-5389B0343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15000"/>
            <a:ext cx="609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5A4F"/>
          </a:solidFill>
          <a:ln xmlns:a="http://schemas.openxmlformats.org/drawingml/2006/main" w="0">
            <a:solidFill>
              <a:srgbClr val="E15A4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9AED4D-ECAB-4EC1-BAA3-D5CEC3BA4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05500"/>
            <a:ext cx="71628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11827"/>
                </a:solidFill>
              </a:defRPr>
            </a:pPr>
            <a:r>
              <a:rPr sz="2475" b="1">
                <a:solidFill>
                  <a:srgbClr val="111827"/>
                </a:solidFill>
              </a:rPr>
              <a:t>在线理赔预测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B015EC-E508-4F2A-93F0-D6823309F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343650"/>
            <a:ext cx="71628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96A80"/>
                </a:solidFill>
              </a:defRPr>
            </a:pPr>
            <a:r>
              <a:rPr sz="1875">
                <a:solidFill>
                  <a:srgbClr val="596A80"/>
                </a:solidFill>
              </a:rPr>
              <a:t>用户选择已有保单或手动填写特征，系统返回概率、标签、风险等级与解释。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F7CA7B-9553-4897-A06C-01B246E78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48500"/>
            <a:ext cx="609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312"/>
          </a:solidFill>
          <a:ln xmlns:a="http://schemas.openxmlformats.org/drawingml/2006/main" w="0">
            <a:solidFill>
              <a:srgbClr val="D8831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6CC0AA-CC2E-4EB5-9A95-3E12B5A77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239000"/>
            <a:ext cx="71628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11827"/>
                </a:solidFill>
              </a:defRPr>
            </a:pPr>
            <a:r>
              <a:rPr sz="2475" b="1">
                <a:solidFill>
                  <a:srgbClr val="111827"/>
                </a:solidFill>
              </a:rPr>
              <a:t>结果统计分析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D7C683-7246-453A-9722-B8F813531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658100"/>
            <a:ext cx="71628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96A80"/>
                </a:solidFill>
              </a:defRPr>
            </a:pPr>
            <a:r>
              <a:rPr sz="1875">
                <a:solidFill>
                  <a:srgbClr val="596A80"/>
                </a:solidFill>
              </a:rPr>
              <a:t>预测记录持久化，展示风险等级分布、理赔概率分布和历史预测概览。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02A11F-F54A-4C09-A57A-A9797DB15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8378" y="1771650"/>
            <a:ext cx="9110472" cy="3952875"/>
          </a:xfrm>
          <a:prstGeom xmlns:a="http://schemas.openxmlformats.org/drawingml/2006/main" prst="roundRect">
            <a:avLst>
              <a:gd name="adj" fmla="val 14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8092fb9ba84d8f"/>
          <a:srcRect xmlns:a="http://schemas.openxmlformats.org/drawingml/2006/main" l="0" t="6588" r="0" b="65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72678" y="1885950"/>
            <a:ext cx="8881872" cy="3724275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A421B0-CB14-4634-B369-1B863A56E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8378" y="5724525"/>
            <a:ext cx="9110472" cy="3952875"/>
          </a:xfrm>
          <a:prstGeom xmlns:a="http://schemas.openxmlformats.org/drawingml/2006/main" prst="roundRect">
            <a:avLst>
              <a:gd name="adj" fmla="val 14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6d5bcabd064a25"/>
          <a:srcRect xmlns:a="http://schemas.openxmlformats.org/drawingml/2006/main" l="0" t="18413" r="0" b="184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72678" y="5838825"/>
            <a:ext cx="8881872" cy="37242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525326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E9AD48C-AB29-4173-9AB5-5A649416A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9600"/>
            <a:ext cx="15868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0796E"/>
                </a:solidFill>
              </a:defRPr>
            </a:pPr>
            <a:r>
              <a:rPr sz="1650" b="1">
                <a:solidFill>
                  <a:srgbClr val="20796E"/>
                </a:solidFill>
              </a:rPr>
              <a:t>结论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620D41-59C2-4365-B2BC-B3C73B01F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95350"/>
            <a:ext cx="127063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D172A"/>
                </a:solidFill>
              </a:defRPr>
            </a:pPr>
            <a:r>
              <a:rPr sz="4350" b="1">
                <a:solidFill>
                  <a:srgbClr val="0D172A"/>
                </a:solidFill>
              </a:rPr>
              <a:t>总结与展望：完成从模型研究到系统落地的基本闭环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AA08F9-A960-499A-9596-A8818354C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0" y="9144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0796E"/>
                </a:solidFill>
              </a:defRPr>
            </a:pPr>
            <a:r>
              <a:rPr sz="1800" b="1">
                <a:solidFill>
                  <a:srgbClr val="20796E"/>
                </a:solidFill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1F392B-7F60-497F-9CA1-E19CBC2B5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71650"/>
            <a:ext cx="5549900" cy="7286625"/>
          </a:xfrm>
          <a:prstGeom xmlns:a="http://schemas.openxmlformats.org/drawingml/2006/main" prst="roundRect">
            <a:avLst>
              <a:gd name="adj" fmla="val 10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6E5A5C-4D41-4C3D-83CE-4F6AE0F5F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038350"/>
            <a:ext cx="50101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0796E"/>
                </a:solidFill>
              </a:defRPr>
            </a:pPr>
            <a:r>
              <a:rPr sz="2700" b="1">
                <a:solidFill>
                  <a:srgbClr val="20796E"/>
                </a:solidFill>
              </a:rPr>
              <a:t>测试验证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3C8682-C52A-41BE-809A-EC9EC00B5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590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796E"/>
          </a:solidFill>
          <a:ln xmlns:a="http://schemas.openxmlformats.org/drawingml/2006/main" w="0">
            <a:solidFill>
              <a:srgbClr val="20796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43BC67-A125-426A-8D20-5650A4E0C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590800"/>
            <a:ext cx="4762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263246"/>
                </a:solidFill>
              </a:defRPr>
            </a:pPr>
            <a:r>
              <a:rPr sz="1950">
                <a:solidFill>
                  <a:srgbClr val="263246"/>
                </a:solidFill>
              </a:rPr>
              <a:t>登录注册、用户管理、保单管理通过测试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921677-2BB1-4F13-8802-A46AD8CE9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09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3DE"/>
          </a:solidFill>
          <a:ln xmlns:a="http://schemas.openxmlformats.org/drawingml/2006/main" w="0">
            <a:solidFill>
              <a:srgbClr val="C8D3D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2767F2-CF1B-4212-9C58-C64E6DD2C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09900"/>
            <a:ext cx="4762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263246"/>
                </a:solidFill>
              </a:defRPr>
            </a:pPr>
            <a:r>
              <a:rPr sz="1950">
                <a:solidFill>
                  <a:srgbClr val="263246"/>
                </a:solidFill>
              </a:rPr>
              <a:t>理赔记录、车辆信息、统计分析通过测试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36C266-A0CD-4FF4-A506-D5FC3B0BB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29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3DE"/>
          </a:solidFill>
          <a:ln xmlns:a="http://schemas.openxmlformats.org/drawingml/2006/main" w="0">
            <a:solidFill>
              <a:srgbClr val="C8D3D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B7EC4B-F7C0-4174-A39C-436191386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429000"/>
            <a:ext cx="4762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263246"/>
                </a:solidFill>
              </a:defRPr>
            </a:pPr>
            <a:r>
              <a:rPr sz="1950">
                <a:solidFill>
                  <a:srgbClr val="263246"/>
                </a:solidFill>
              </a:rPr>
              <a:t>模型训练、预测管理、记录统计通过测试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903CDD-0D70-4E1B-AA02-76EDB2ABC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9050" y="1771650"/>
            <a:ext cx="5549900" cy="7286625"/>
          </a:xfrm>
          <a:prstGeom xmlns:a="http://schemas.openxmlformats.org/drawingml/2006/main" prst="roundRect">
            <a:avLst>
              <a:gd name="adj" fmla="val 10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B617B3-F8EA-42A6-8335-5212B3084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038350"/>
            <a:ext cx="50101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765E8"/>
                </a:solidFill>
              </a:defRPr>
            </a:pPr>
            <a:r>
              <a:rPr sz="2700" b="1">
                <a:solidFill>
                  <a:srgbClr val="2765E8"/>
                </a:solidFill>
              </a:rPr>
              <a:t>主要成果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6B7AB3-68C4-4977-A707-A6718D310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590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65E8"/>
          </a:solidFill>
          <a:ln xmlns:a="http://schemas.openxmlformats.org/drawingml/2006/main" w="0">
            <a:solidFill>
              <a:srgbClr val="2765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39101C-3956-4430-A893-9E1A0A632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590800"/>
            <a:ext cx="4762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263246"/>
                </a:solidFill>
              </a:defRPr>
            </a:pPr>
            <a:r>
              <a:rPr sz="1950">
                <a:solidFill>
                  <a:srgbClr val="263246"/>
                </a:solidFill>
              </a:rPr>
              <a:t>完成残差式 MLP 理赔预测模型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B115F9-0897-4595-B0F1-6B824D75C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09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3DE"/>
          </a:solidFill>
          <a:ln xmlns:a="http://schemas.openxmlformats.org/drawingml/2006/main" w="0">
            <a:solidFill>
              <a:srgbClr val="C8D3D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4DB631-62A1-4922-BDCF-0827EB567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009900"/>
            <a:ext cx="4762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263246"/>
                </a:solidFill>
              </a:defRPr>
            </a:pPr>
            <a:r>
              <a:rPr sz="1950">
                <a:solidFill>
                  <a:srgbClr val="263246"/>
                </a:solidFill>
              </a:rPr>
              <a:t>完成数据处理、特征工程、训练与评估流程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624768-931D-4B2C-AAB5-022FA52A4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429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3DE"/>
          </a:solidFill>
          <a:ln xmlns:a="http://schemas.openxmlformats.org/drawingml/2006/main" w="0">
            <a:solidFill>
              <a:srgbClr val="C8D3D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4E112A-950B-4756-81EA-1C1EC8AC7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429000"/>
            <a:ext cx="4762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263246"/>
                </a:solidFill>
              </a:defRPr>
            </a:pPr>
            <a:r>
              <a:rPr sz="1950">
                <a:solidFill>
                  <a:srgbClr val="263246"/>
                </a:solidFill>
              </a:rPr>
              <a:t>完成 Spring Boot + Vue3 + FastAPI 平台集成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6BE8AD-8236-4772-8F78-9596BCC9B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8950" y="1771650"/>
            <a:ext cx="5549900" cy="7286625"/>
          </a:xfrm>
          <a:prstGeom xmlns:a="http://schemas.openxmlformats.org/drawingml/2006/main" prst="roundRect">
            <a:avLst>
              <a:gd name="adj" fmla="val 10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A4E3A1-7DB2-4E4A-A4E3-9FD90923F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2038350"/>
            <a:ext cx="50101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15A4F"/>
                </a:solidFill>
              </a:defRPr>
            </a:pPr>
            <a:r>
              <a:rPr sz="2700" b="1">
                <a:solidFill>
                  <a:srgbClr val="E15A4F"/>
                </a:solidFill>
              </a:rPr>
              <a:t>未来优化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B3A192-BF2F-4926-94EF-30D90F4E1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2590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5A4F"/>
          </a:solidFill>
          <a:ln xmlns:a="http://schemas.openxmlformats.org/drawingml/2006/main" w="0">
            <a:solidFill>
              <a:srgbClr val="E15A4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99577A-FD41-442D-95A7-1612C43D3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0" y="2590800"/>
            <a:ext cx="4762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263246"/>
                </a:solidFill>
              </a:defRPr>
            </a:pPr>
            <a:r>
              <a:rPr sz="1950">
                <a:solidFill>
                  <a:srgbClr val="263246"/>
                </a:solidFill>
              </a:rPr>
              <a:t>引入驾驶行为、天气、道路环境等外部数据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654592-E0C1-4905-935A-BAAE236DE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3009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3DE"/>
          </a:solidFill>
          <a:ln xmlns:a="http://schemas.openxmlformats.org/drawingml/2006/main" w="0">
            <a:solidFill>
              <a:srgbClr val="C8D3D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6A3A28-2DB8-4A43-9DFA-E58C3570D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0" y="3009900"/>
            <a:ext cx="4762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263246"/>
                </a:solidFill>
              </a:defRPr>
            </a:pPr>
            <a:r>
              <a:rPr sz="1950">
                <a:solidFill>
                  <a:srgbClr val="263246"/>
                </a:solidFill>
              </a:rPr>
              <a:t>拓展理赔金额估计和多任务联合建模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1461923-DAF6-40CC-8755-A7BF6322F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3429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3DE"/>
          </a:solidFill>
          <a:ln xmlns:a="http://schemas.openxmlformats.org/drawingml/2006/main" w="0">
            <a:solidFill>
              <a:srgbClr val="C8D3D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D4C4DF1-2490-45A9-97D6-404B28A9B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0" y="3429000"/>
            <a:ext cx="4762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263246"/>
                </a:solidFill>
              </a:defRPr>
            </a:pPr>
            <a:r>
              <a:rPr sz="1950">
                <a:solidFill>
                  <a:srgbClr val="263246"/>
                </a:solidFill>
              </a:rPr>
              <a:t>增强模型版本管理、预警推送和业务联动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07FB5B5-6DF5-415F-9991-EAC0D0B46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391650"/>
            <a:ext cx="166497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0796E"/>
                </a:solidFill>
              </a:defRPr>
            </a:pPr>
            <a:r>
              <a:rPr sz="2325" b="1">
                <a:solidFill>
                  <a:srgbClr val="20796E"/>
                </a:solidFill>
              </a:rPr>
              <a:t>最终结论：本文实现了车险理赔预测模型与业务系统的结合，为车险风险识别和辅助决策提供了可运行的原型方案。</a:t>
            </a:r>
          </a:p>
        </p:txBody>
      </p:sp>
    </p:spTree>
    <p:extLst>
      <p:ext uri="{BB962C8B-B14F-4D97-AF65-F5344CB8AC3E}">
        <p14:creationId xmlns:p14="http://schemas.microsoft.com/office/powerpoint/2010/main" val="20590863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2026-05-06T14:30:29.9170000Z</dcterms:created>
  <dcterms:modified xsi:type="dcterms:W3CDTF">2026-05-06T14:30:29.9170000Z</dcterms:modified>
</coreProperties>
</file>