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b28345b22e4f9c" /><Relationship Type="http://schemas.openxmlformats.org/officeDocument/2006/relationships/extended-properties" Target="/docProps/app.xml" Id="R4203c6087f5b49e1" /><Relationship Type="http://schemas.openxmlformats.org/officeDocument/2006/relationships/officeDocument" Target="/ppt/presentation.xml" Id="Rf07f3eb5dd6544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0ee891257448f"/>
  </p:sldMasterIdLst>
  <p:notesMasterIdLst>
    <p:notesMasterId xmlns:r="http://schemas.openxmlformats.org/officeDocument/2006/relationships" r:id="R933f8a7507e0493a"/>
  </p:notesMasterIdLst>
  <p:sldIdLst>
    <p:sldId xmlns:r="http://schemas.openxmlformats.org/officeDocument/2006/relationships" id="256" r:id="R9a1d9910d3184567"/>
    <p:sldId xmlns:r="http://schemas.openxmlformats.org/officeDocument/2006/relationships" id="257" r:id="R0809a2c37558449d"/>
    <p:sldId xmlns:r="http://schemas.openxmlformats.org/officeDocument/2006/relationships" id="258" r:id="Rd30c5e8dcdb448be"/>
    <p:sldId xmlns:r="http://schemas.openxmlformats.org/officeDocument/2006/relationships" id="259" r:id="R84f19381991c43ba"/>
    <p:sldId xmlns:r="http://schemas.openxmlformats.org/officeDocument/2006/relationships" id="260" r:id="Re78409f8f3c74087"/>
    <p:sldId xmlns:r="http://schemas.openxmlformats.org/officeDocument/2006/relationships" id="261" r:id="R93cd5c7bef1e45e9"/>
    <p:sldId xmlns:r="http://schemas.openxmlformats.org/officeDocument/2006/relationships" id="262" r:id="R9771c9e90747409a"/>
    <p:sldId xmlns:r="http://schemas.openxmlformats.org/officeDocument/2006/relationships" id="263" r:id="R7ddf9233609a48fd"/>
    <p:sldId xmlns:r="http://schemas.openxmlformats.org/officeDocument/2006/relationships" id="264" r:id="R6b99104b7359414e"/>
    <p:sldId xmlns:r="http://schemas.openxmlformats.org/officeDocument/2006/relationships" id="265" r:id="Rd97f4ca286f643cf"/>
    <p:sldId xmlns:r="http://schemas.openxmlformats.org/officeDocument/2006/relationships" id="266" r:id="Rf59d88511a42447d"/>
    <p:sldId xmlns:r="http://schemas.openxmlformats.org/officeDocument/2006/relationships" id="267" r:id="R53514eeae79c494f"/>
    <p:sldId xmlns:r="http://schemas.openxmlformats.org/officeDocument/2006/relationships" id="268" r:id="Rd1f5d92347f0422c"/>
    <p:sldId xmlns:r="http://schemas.openxmlformats.org/officeDocument/2006/relationships" id="269" r:id="R36811054c261484c"/>
    <p:sldId xmlns:r="http://schemas.openxmlformats.org/officeDocument/2006/relationships" id="270" r:id="R2bd5322693484df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0ee891257448f" /><Relationship Type="http://schemas.openxmlformats.org/officeDocument/2006/relationships/theme" Target="/ppt/theme/theme1.xml" Id="R53f3a803792b472a" /><Relationship Type="http://schemas.openxmlformats.org/officeDocument/2006/relationships/notesMaster" Target="/ppt/notesMasters/notesMaster1.xml" Id="R933f8a7507e0493a" /><Relationship Type="http://schemas.openxmlformats.org/officeDocument/2006/relationships/presProps" Target="/ppt/presProps.xml" Id="Rf53ceeff24ca46be" /><Relationship Type="http://schemas.openxmlformats.org/officeDocument/2006/relationships/viewProps" Target="/ppt/viewProps.xml" Id="R9b38e3d369cf4962" /><Relationship Type="http://schemas.openxmlformats.org/officeDocument/2006/relationships/tableStyles" Target="/ppt/tableStyles.xml" Id="Rfcdf34592fd44ada" /><Relationship Type="http://schemas.openxmlformats.org/officeDocument/2006/relationships/slide" Target="/ppt/slides/slide1.xml" Id="R9a1d9910d3184567" /><Relationship Type="http://schemas.openxmlformats.org/officeDocument/2006/relationships/slide" Target="/ppt/slides/slide2.xml" Id="R0809a2c37558449d" /><Relationship Type="http://schemas.openxmlformats.org/officeDocument/2006/relationships/slide" Target="/ppt/slides/slide3.xml" Id="Rd30c5e8dcdb448be" /><Relationship Type="http://schemas.openxmlformats.org/officeDocument/2006/relationships/slide" Target="/ppt/slides/slide4.xml" Id="R84f19381991c43ba" /><Relationship Type="http://schemas.openxmlformats.org/officeDocument/2006/relationships/slide" Target="/ppt/slides/slide5.xml" Id="Re78409f8f3c74087" /><Relationship Type="http://schemas.openxmlformats.org/officeDocument/2006/relationships/slide" Target="/ppt/slides/slide6.xml" Id="R93cd5c7bef1e45e9" /><Relationship Type="http://schemas.openxmlformats.org/officeDocument/2006/relationships/slide" Target="/ppt/slides/slide7.xml" Id="R9771c9e90747409a" /><Relationship Type="http://schemas.openxmlformats.org/officeDocument/2006/relationships/slide" Target="/ppt/slides/slide8.xml" Id="R7ddf9233609a48fd" /><Relationship Type="http://schemas.openxmlformats.org/officeDocument/2006/relationships/slide" Target="/ppt/slides/slide9.xml" Id="R6b99104b7359414e" /><Relationship Type="http://schemas.openxmlformats.org/officeDocument/2006/relationships/slide" Target="/ppt/slides/slide10.xml" Id="Rd97f4ca286f643cf" /><Relationship Type="http://schemas.openxmlformats.org/officeDocument/2006/relationships/slide" Target="/ppt/slides/slide11.xml" Id="Rf59d88511a42447d" /><Relationship Type="http://schemas.openxmlformats.org/officeDocument/2006/relationships/slide" Target="/ppt/slides/slide12.xml" Id="R53514eeae79c494f" /><Relationship Type="http://schemas.openxmlformats.org/officeDocument/2006/relationships/slide" Target="/ppt/slides/slide13.xml" Id="Rd1f5d92347f0422c" /><Relationship Type="http://schemas.openxmlformats.org/officeDocument/2006/relationships/slide" Target="/ppt/slides/slide14.xml" Id="R36811054c261484c" /><Relationship Type="http://schemas.openxmlformats.org/officeDocument/2006/relationships/slide" Target="/ppt/slides/slide15.xml" Id="R2bd532269348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8cd14c96d248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54101adb34c40" /><Relationship Type="http://schemas.openxmlformats.org/officeDocument/2006/relationships/notesMaster" Target="/ppt/notesMasters/notesMaster1.xml" Id="R0c58ecedd2f0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4d878ce9534228" /><Relationship Type="http://schemas.openxmlformats.org/officeDocument/2006/relationships/notesMaster" Target="/ppt/notesMasters/notesMaster1.xml" Id="Rd152ed12ef2f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d4cff6d3664bcd" /><Relationship Type="http://schemas.openxmlformats.org/officeDocument/2006/relationships/notesMaster" Target="/ppt/notesMasters/notesMaster1.xml" Id="R0766dad075d4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891105141b4372" /><Relationship Type="http://schemas.openxmlformats.org/officeDocument/2006/relationships/notesMaster" Target="/ppt/notesMasters/notesMaster1.xml" Id="Rd2fd624681bc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16c8fa347841fa" /><Relationship Type="http://schemas.openxmlformats.org/officeDocument/2006/relationships/notesMaster" Target="/ppt/notesMasters/notesMaster1.xml" Id="Rc3f954545d6544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a75bf8089f486d" /><Relationship Type="http://schemas.openxmlformats.org/officeDocument/2006/relationships/notesMaster" Target="/ppt/notesMasters/notesMaster1.xml" Id="R257bb186e1144f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df0709933c4d69" /><Relationship Type="http://schemas.openxmlformats.org/officeDocument/2006/relationships/notesMaster" Target="/ppt/notesMasters/notesMaster1.xml" Id="R4af2218d086a4d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8e51da7335471b" /><Relationship Type="http://schemas.openxmlformats.org/officeDocument/2006/relationships/notesMaster" Target="/ppt/notesMasters/notesMaster1.xml" Id="R08ef76c623ff41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7131125d904cd7" /><Relationship Type="http://schemas.openxmlformats.org/officeDocument/2006/relationships/notesMaster" Target="/ppt/notesMasters/notesMaster1.xml" Id="R26eae1e71cae4d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a75f25e978485f" /><Relationship Type="http://schemas.openxmlformats.org/officeDocument/2006/relationships/notesMaster" Target="/ppt/notesMasters/notesMaster1.xml" Id="R44f8c661a1d14c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9eafc0bfac482f" /><Relationship Type="http://schemas.openxmlformats.org/officeDocument/2006/relationships/notesMaster" Target="/ppt/notesMasters/notesMaster1.xml" Id="Rab8f1189a4e943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908ef34ae24366" /><Relationship Type="http://schemas.openxmlformats.org/officeDocument/2006/relationships/notesMaster" Target="/ppt/notesMasters/notesMaster1.xml" Id="R837c372826244f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49338424b740bf" /><Relationship Type="http://schemas.openxmlformats.org/officeDocument/2006/relationships/notesMaster" Target="/ppt/notesMasters/notesMaster1.xml" Id="R8b1ca459f93e48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41509be41e478e" /><Relationship Type="http://schemas.openxmlformats.org/officeDocument/2006/relationships/notesMaster" Target="/ppt/notesMasters/notesMaster1.xml" Id="R1a489331c13a40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9bca9f31e140ee" /><Relationship Type="http://schemas.openxmlformats.org/officeDocument/2006/relationships/notesMaster" Target="/ppt/notesMasters/notesMaster1.xml" Id="Rb1b66d36f3c4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0:00-0:35 开场。只交代题目、身份和答辩主题，不提前讲实验指标。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0:35-1:10 介绍目录和时间分配。新版目录用六个部分展开，比上一版更像答辩路线。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1:10-2:20 讲研究背景：理赔连接成本、服务与风险控制；数据积累使预测建模成为可落地问题。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2:20-3:25 说明研究目标和主要工作。强调论文不是只比较模型，而是完成从数据到系统的闭环。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3:25-4:15 单独讲技术栈。说明每个技术服务于哪个层次，不再塞在封面里。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4:15-5:10 讲系统架构：表现层、接口层、业务层、智能预测层、数据持久层、基础框架层。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5:10-6:00 讲功能需求。突出十个模块归为业务管理、可视化分析、理赔预测三类。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6:00-7:05 讲数据集、样本不均衡和数据处理策略。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7:05-8:00 讲特征工程。重点是日期参考点、车辆属性、保单合同特征和类别编码。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8:00-9:05 讲模型结构。基础是 MLP，重点是残差块和分类头。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9:05-10:05 讲训练策略。强调阈值搜索服务于车险风控的召回目标。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10:05-11:10 展示核心指标。AUC 说明排序能力，Claim Recall 说明对理赔样本的识别。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11:10-12:15 讲消融实验。说明优化策略的取舍和最佳网络结构。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12:15-13:20 讲系统实现。用截图证明模型训练和预测展示已经落地。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13:20-14:50 总结测试、主要工作、不足和未来方向。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336a2619648d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c0892f77f54355" /><Relationship Type="http://schemas.openxmlformats.org/officeDocument/2006/relationships/slideLayout" Target="/ppt/slideLayouts/slideLayout2.xml" Id="R1b1b8471d2aa40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b8471d2aa40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fef98e4f394b49" /><Relationship Type="http://schemas.openxmlformats.org/officeDocument/2006/relationships/notesSlide" Target="/ppt/notesSlides/notesSlide1.xml" Id="Rb1cb4a3f571a43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ec6e06e3f04dc5" /><Relationship Type="http://schemas.openxmlformats.org/officeDocument/2006/relationships/notesSlide" Target="/ppt/notesSlides/notesSlide2.xml" Id="Rb544bc615bde49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2017e79708441f" /><Relationship Type="http://schemas.openxmlformats.org/officeDocument/2006/relationships/notesSlide" Target="/ppt/notesSlides/notesSlide3.xml" Id="R46a974e33dc840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4aa5d533d463d" /><Relationship Type="http://schemas.openxmlformats.org/officeDocument/2006/relationships/notesSlide" Target="/ppt/notesSlides/notesSlide4.xml" Id="R4848e78c5e1d40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8e11d1c8834e0a" /><Relationship Type="http://schemas.openxmlformats.org/officeDocument/2006/relationships/notesSlide" Target="/ppt/notesSlides/notesSlide5.xml" Id="Rbaeab4cb9e4c4e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58bf4c609b408d" /><Relationship Type="http://schemas.openxmlformats.org/officeDocument/2006/relationships/image" Target="/ppt/media/image.png" Id="R9cf432159d2a487c" /><Relationship Type="http://schemas.openxmlformats.org/officeDocument/2006/relationships/notesSlide" Target="/ppt/notesSlides/notesSlide6.xml" Id="R325bc26485994a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e8e945e7d48a2" /><Relationship Type="http://schemas.openxmlformats.org/officeDocument/2006/relationships/image" Target="/ppt/media/image2.png" Id="R349e410ed5be4d29" /><Relationship Type="http://schemas.openxmlformats.org/officeDocument/2006/relationships/notesSlide" Target="/ppt/notesSlides/notesSlide7.xml" Id="Re6ceef2bcf0b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049da0c31418b" /><Relationship Type="http://schemas.openxmlformats.org/officeDocument/2006/relationships/chart" Target="/ppt/slides/charts/chart1.xml" Id="Recea276743aa4a1a" /><Relationship Type="http://schemas.openxmlformats.org/officeDocument/2006/relationships/notesSlide" Target="/ppt/notesSlides/notesSlide8.xml" Id="R2093c873128b4a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eef4b1351452c" /><Relationship Type="http://schemas.openxmlformats.org/officeDocument/2006/relationships/notesSlide" Target="/ppt/notesSlides/notesSlide9.xml" Id="R2c0266fa269242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85cb72b11f44eb" /><Relationship Type="http://schemas.openxmlformats.org/officeDocument/2006/relationships/image" Target="/ppt/media/image3.png" Id="R2da24d54094146de" /><Relationship Type="http://schemas.openxmlformats.org/officeDocument/2006/relationships/notesSlide" Target="/ppt/notesSlides/notesSlide10.xml" Id="Rfd636c5de2cd48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0e52eafd3c4567" /><Relationship Type="http://schemas.openxmlformats.org/officeDocument/2006/relationships/notesSlide" Target="/ppt/notesSlides/notesSlide11.xml" Id="R2ec1e7383c6541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4522a44554c20" /><Relationship Type="http://schemas.openxmlformats.org/officeDocument/2006/relationships/notesSlide" Target="/ppt/notesSlides/notesSlide12.xml" Id="R8c65f8a4f6b54e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106741099413c" /><Relationship Type="http://schemas.openxmlformats.org/officeDocument/2006/relationships/chart" Target="/ppt/slides/charts/chart2.xml" Id="R41afe31a932f47cf" /><Relationship Type="http://schemas.openxmlformats.org/officeDocument/2006/relationships/notesSlide" Target="/ppt/notesSlides/notesSlide13.xml" Id="R29b834b05b1446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527d2229f40e8" /><Relationship Type="http://schemas.openxmlformats.org/officeDocument/2006/relationships/image" Target="/ppt/media/image4.png" Id="Rb88092fb9ba84d8f" /><Relationship Type="http://schemas.openxmlformats.org/officeDocument/2006/relationships/image" Target="/ppt/media/image5.png" Id="Rdf6d5bcabd064a25" /><Relationship Type="http://schemas.openxmlformats.org/officeDocument/2006/relationships/notesSlide" Target="/ppt/notesSlides/notesSlide14.xml" Id="Rd6653f2c73b24e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b7a327f59243b0" /><Relationship Type="http://schemas.openxmlformats.org/officeDocument/2006/relationships/notesSlide" Target="/ppt/notesSlides/notesSlide15.xml" Id="R7c8ec8113ed84f54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理赔样本与非理赔样本分布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样本数</c:v>
          </c:tx>
          <c:cat>
            <c:strLit>
              <c:ptCount val="2"/>
              <c:pt idx="0">
                <c:v>非理赔样本</c:v>
              </c:pt>
              <c:pt idx="1">
                <c:v>理赔样本</c:v>
              </c:pt>
            </c:strLit>
          </c:cat>
          <c:val>
            <c:numLit>
              <c:formatCode/>
              <c:ptCount val="2"/>
              <c:pt idx="0">
                <c:v>85909</c:v>
              </c:pt>
              <c:pt idx="1">
                <c:v>19646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损失权重与阈值策略对比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F1</c:v>
          </c:tx>
          <c:cat>
            <c:strLit>
              <c:ptCount val="4"/>
              <c:pt idx="0">
                <c:v>加权+自动</c:v>
              </c:pt>
              <c:pt idx="1">
                <c:v>加权+固定</c:v>
              </c:pt>
              <c:pt idx="2">
                <c:v>非加权+自动</c:v>
              </c:pt>
              <c:pt idx="3">
                <c:v>非加权+固定</c:v>
              </c:pt>
            </c:strLit>
          </c:cat>
          <c:val>
            <c:numLit>
              <c:formatCode/>
              <c:ptCount val="4"/>
              <c:pt idx="0">
                <c:v>0.755</c:v>
              </c:pt>
              <c:pt idx="1">
                <c:v>0.7046</c:v>
              </c:pt>
              <c:pt idx="2">
                <c:v>0.7477</c:v>
              </c:pt>
              <c:pt idx="3">
                <c:v>0.7628</c:v>
              </c:pt>
            </c:numLit>
          </c:val>
        </c:ser>
        <c:ser>
          <c:idx val="1"/>
          <c:order val="1"/>
          <c:tx>
            <c:v>Recall</c:v>
          </c:tx>
          <c:cat>
            <c:strLit>
              <c:ptCount val="4"/>
              <c:pt idx="0">
                <c:v>加权+自动</c:v>
              </c:pt>
              <c:pt idx="1">
                <c:v>加权+固定</c:v>
              </c:pt>
              <c:pt idx="2">
                <c:v>非加权+自动</c:v>
              </c:pt>
              <c:pt idx="3">
                <c:v>非加权+固定</c:v>
              </c:pt>
            </c:strLit>
          </c:cat>
          <c:val>
            <c:numLit>
              <c:formatCode/>
              <c:ptCount val="4"/>
              <c:pt idx="0">
                <c:v>0.8198</c:v>
              </c:pt>
              <c:pt idx="1">
                <c:v>0.9216</c:v>
              </c:pt>
              <c:pt idx="2">
                <c:v>0.8518</c:v>
              </c:pt>
              <c:pt idx="3">
                <c:v>0.751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C0AC37-8517-4E6B-9A4C-101C3830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FC846-F652-452D-A224-C33BEA6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05727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D172A"/>
                </a:solidFill>
              </a:defRPr>
            </a:pPr>
            <a:r>
              <a:rPr sz="5550" b="1">
                <a:solidFill>
                  <a:srgbClr val="0D172A"/>
                </a:solidFill>
              </a:rPr>
              <a:t>基于深度学习的车险理赔预测系统设计与实现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83A30-C3CD-4BB1-9656-4151FE68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1129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796E"/>
                </a:solidFill>
              </a:defRPr>
            </a:pPr>
            <a:r>
              <a:rPr sz="2700" b="1">
                <a:solidFill>
                  <a:srgbClr val="20796E"/>
                </a:solidFill>
              </a:rPr>
              <a:t>本科毕业论文答辩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76C3-10AA-4086-9AF9-B021DAA0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524250"/>
            <a:ext cx="474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172A"/>
                </a:solidFill>
              </a:defRPr>
            </a:pPr>
            <a:r>
              <a:rPr sz="2700" b="1">
                <a:solidFill>
                  <a:srgbClr val="0D172A"/>
                </a:solidFill>
              </a:rPr>
              <a:t>重庆邮电大学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8CACA-EA6D-45A0-A256-87130C77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095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28F16-275F-465F-9ACC-9B72E28B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243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人工智能学院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43AF7-8A23-4986-A3DF-653724BC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8196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学生：钱信宇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151D-7EEA-466C-A6B3-3FA302D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3149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专业：数据科学与大数据技术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2F7AE-6565-445B-A8E6-2EBB4E88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8102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指导教师：丁晓宇 讲师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6E1A7-3F1A-40F6-AC5C-65FF8BE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305550"/>
            <a:ext cx="474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A80"/>
                </a:solidFill>
              </a:defRPr>
            </a:pPr>
            <a:r>
              <a:rPr sz="1950">
                <a:solidFill>
                  <a:srgbClr val="596A80"/>
                </a:solidFill>
              </a:rPr>
              <a:t>2026年5月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F330D-B723-482C-9CA2-1A0B6B4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Design and Implementation of Auto Insurance Claim Prediction System Based on Deep Learning</a:t>
            </a:r>
          </a:p>
        </p:txBody>
      </p:sp>
    </p:spTree>
    <p:extLst>
      <p:ext uri="{BB962C8B-B14F-4D97-AF65-F5344CB8AC3E}">
        <p14:creationId xmlns:p14="http://schemas.microsoft.com/office/powerpoint/2010/main" val="62929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66EAF-820C-4B39-BE21-A27A615E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围绕“模型研究 + 系统落地”展开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6F5BD-F893-421D-80CD-1494075D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209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答辩目录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36C37-3E73-434F-9026-B832F909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3B04B-F8F8-4076-AA92-8EC5DA3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0796E"/>
                </a:solidFill>
              </a:defRPr>
            </a:pPr>
            <a:r>
              <a:rPr sz="6600" b="1">
                <a:solidFill>
                  <a:srgbClr val="20796E"/>
                </a:solidFill>
              </a:rPr>
              <a:t>15分钟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73059-C1CD-4B88-8826-0F69CBD7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68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D172A"/>
                </a:solidFill>
              </a:defRPr>
            </a:pPr>
            <a:r>
              <a:rPr sz="3225" b="1">
                <a:solidFill>
                  <a:srgbClr val="0D172A"/>
                </a:solidFill>
              </a:rPr>
              <a:t>答辩节奏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A9AEC-B324-4A52-A650-1E36EB8C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56E45-5B18-4298-AA67-E08C8B7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主线：背景与目标、关键设计、实验结果和系统展示。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00405-5CA6-414E-9A8C-AF43FE2E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2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674E4-52A6-461A-854A-324AEE15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294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背景和目标不铺开过多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79EA9-0D7C-4DB8-8045-04D7E135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9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54678-D52D-4029-9E72-2EA9B85E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9135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方法页聚焦关键设计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AACBD-609C-4108-B518-FCFE8A24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5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1531-7F46-42D9-BA18-17A0A96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533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结果页服务结论表达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2CCF0-2FBE-44E9-AA98-ED3E8E64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2728913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6BF2B-519E-414F-9863-21E139F5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796E"/>
                </a:solidFill>
              </a:defRPr>
            </a:pPr>
            <a:r>
              <a:rPr sz="2925" b="1">
                <a:solidFill>
                  <a:srgbClr val="20796E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6DDF9-E369-47E7-8A39-2D08B74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A3F8E-EDD9-46CB-A2D5-8C193231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146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研究背景与目标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D9975-8DE4-4D5B-96C2-F214A40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7813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2079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C530F-3746-48A3-9B46-6F4204BC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28765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796E"/>
                </a:solidFill>
              </a:defRPr>
            </a:pPr>
            <a:r>
              <a:rPr sz="1500" b="1">
                <a:solidFill>
                  <a:srgbClr val="20796E"/>
                </a:solidFill>
              </a:rPr>
              <a:t>约2min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3F6BD-BA98-487E-BB8C-FB93FABB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业务痛点、研究意义、论文主要工作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2AF8E-94B2-4D24-956F-C5A724C5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30861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03-04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2CAA1-A70C-4AB1-B35B-28C6C095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3748088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C9BBA-2A98-4150-855A-6690BD2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765E8"/>
                </a:solidFill>
              </a:defRPr>
            </a:pPr>
            <a:r>
              <a:rPr sz="2925" b="1">
                <a:solidFill>
                  <a:srgbClr val="2765E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F3824-728A-4818-9ABF-46EF0D0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6856F-3F7A-4010-B9AD-C832832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243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技术栈与系统设计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8244A-7EF2-4B23-958F-EB3B5B57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79095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76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5C37A-52AC-40CF-936F-00B99F9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38862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65E8"/>
                </a:solidFill>
              </a:defRPr>
            </a:pPr>
            <a:r>
              <a:rPr sz="1500" b="1">
                <a:solidFill>
                  <a:srgbClr val="2765E8"/>
                </a:solidFill>
              </a:rPr>
              <a:t>约3min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04005-E7B9-4EDB-AC65-B9D54C66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8150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前后端分离、模型服务解耦、功能模块划分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2A722-740D-434F-9ACE-591F251F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40957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05-07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C0A0C-EC7F-4447-9A74-61964A96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4767263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C294C-CA5B-415D-BA6C-F0D432B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292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15A4F"/>
                </a:solidFill>
              </a:defRPr>
            </a:pPr>
            <a:r>
              <a:rPr sz="2925" b="1">
                <a:solidFill>
                  <a:srgbClr val="E15A4F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43204-388B-497A-B43B-FF853A2E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530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C06D48-D342-4B4B-92A5-B0CD673A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53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数据处理与特征工程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F70E44-4F2F-4B4A-B486-A8A8A67F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481965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E15A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0357E-8BDB-4CF9-A5D1-E6597883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9149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15A4F"/>
                </a:solidFill>
              </a:defRPr>
            </a:pPr>
            <a:r>
              <a:rPr sz="1500" b="1">
                <a:solidFill>
                  <a:srgbClr val="E15A4F"/>
                </a:solidFill>
              </a:rPr>
              <a:t>约2min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E43A0-7DDF-45F5-9123-1B77B00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1020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数据集、缺失值、类别不均衡、日期语义特征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99A49D-C221-4530-8CD4-4D06787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51244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08-09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48DE81-B32D-4A77-B25D-ABE4F294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5786438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81A03-6527-4FBD-8F22-F3B73362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388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88312"/>
                </a:solidFill>
              </a:defRPr>
            </a:pPr>
            <a:r>
              <a:rPr sz="2925" b="1">
                <a:solidFill>
                  <a:srgbClr val="D88312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6A4F60-BF5D-4184-B633-F63B81B0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817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1C606A-6E83-4CC3-84DF-DFE3AE2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9626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模型构建与训练策略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231846-B818-4D24-A41F-99DF942C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8293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8831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9CC116-5E11-4531-AE4C-8E65E78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59245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8312"/>
                </a:solidFill>
              </a:defRPr>
            </a:pPr>
            <a:r>
              <a:rPr sz="1500" b="1">
                <a:solidFill>
                  <a:srgbClr val="D88312"/>
                </a:solidFill>
              </a:rPr>
              <a:t>约3min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951FD6-E67D-4CC7-B0A8-F818F11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41985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残差式 MLP、损失重加权、自动阈值搜索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8A17CF-0F39-4D6B-96F9-96AA0CBA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61341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10-11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4D144A-6B99-4F0E-8590-6252A1FC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6805613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9FB318-47EB-4B77-BA84-93820BB5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0675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A064"/>
                </a:solidFill>
              </a:defRPr>
            </a:pPr>
            <a:r>
              <a:rPr sz="2925" b="1">
                <a:solidFill>
                  <a:srgbClr val="24A064"/>
                </a:solidFill>
              </a:rP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B5F57A-438E-4912-9EF9-86E6A697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9723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064"/>
          </a:solidFill>
          <a:ln xmlns:a="http://schemas.openxmlformats.org/drawingml/2006/main" w="0">
            <a:solidFill>
              <a:srgbClr val="24A0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7A7C51-6E0E-4AA3-A0F7-F2E36075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991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实验结果与系统实现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C57EE5-8260-4A77-A5A2-EF259C97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68580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24A06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768330-722F-4FDC-BC3E-E9B6E172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9532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A064"/>
                </a:solidFill>
              </a:defRPr>
            </a:pPr>
            <a:r>
              <a:rPr sz="1500" b="1">
                <a:solidFill>
                  <a:srgbClr val="24A064"/>
                </a:solidFill>
              </a:rPr>
              <a:t>约3min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3E5C4D-B5AF-4C6A-99A0-4C14DA5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44855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分类报告、消融实验、训练与预测页面展示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460FF5-F178-48CF-9106-E368B7C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71628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12-14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012FD6-5B16-4139-BD38-901357A0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7824788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91348C-5533-47F0-A96A-7433AA7C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0772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F9486"/>
                </a:solidFill>
              </a:defRPr>
            </a:pPr>
            <a:r>
              <a:rPr sz="2925" b="1">
                <a:solidFill>
                  <a:srgbClr val="2F9486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3EC864-999D-4114-9125-6910B2B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0010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486"/>
          </a:solidFill>
          <a:ln xmlns:a="http://schemas.openxmlformats.org/drawingml/2006/main" w="0">
            <a:solidFill>
              <a:srgbClr val="2F948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F55A73-188F-4F2C-BFDE-D10F14A9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001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总结与展望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0F59B2-519B-4361-9929-A17486AB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786765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2F948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537C50-4EC5-4152-9B6E-1FCFC13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9629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9486"/>
                </a:solidFill>
              </a:defRPr>
            </a:pPr>
            <a:r>
              <a:rPr sz="1500" b="1">
                <a:solidFill>
                  <a:srgbClr val="2F9486"/>
                </a:solidFill>
              </a:rPr>
              <a:t>约2min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168B36-8FFF-409A-AD1A-8563A96B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5820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主要成果、现有不足、后续优化方向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165708-EC11-44C5-9B42-31F6047E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81724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1888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51ED3-2BE6-4E24-8C61-3D8E8D55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研究背景与意义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EB6C5-1850-49D5-B1C4-4CED751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25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研究背景：车险理赔正在从经验处理转向数据驱动风控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F3FF2-131E-409C-B439-EF131B2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4997A-FFD6-45FF-9607-ADD21F08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70104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172A"/>
                </a:solidFill>
              </a:defRPr>
            </a:pPr>
            <a:r>
              <a:rPr sz="3450" b="1">
                <a:solidFill>
                  <a:srgbClr val="0D172A"/>
                </a:solidFill>
              </a:rPr>
              <a:t>理赔环节同时影响赔付支出控制、客户满意度和保险企业运营效率。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67866-146D-440B-B2BF-D09FFB5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A80"/>
                </a:solidFill>
              </a:defRPr>
            </a:pPr>
            <a:r>
              <a:rPr sz="2250">
                <a:solidFill>
                  <a:srgbClr val="596A80"/>
                </a:solidFill>
              </a:rPr>
              <a:t>线上报案、历史保单、车辆属性和理赔记录持续积累，使系统从业务数据中抽取风险信号成为可能。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75A8A-222B-4714-934A-F1F2A058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0375F-3A58-4F8F-B583-2601D84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870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传统方式的不足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C8ACC-A3A7-4B9A-BEB8-E63AF569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870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人工经验与规则匹配在大规模、高维度、复杂关联数据下效率不足，规则维护成本较高。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D811F-736B-48C3-9266-60AE9305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78292-5D5D-405A-B482-ACE8E57C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72100"/>
            <a:ext cx="870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机器学习的机会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A91B-E4A4-4DB9-B1E3-F756867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91200"/>
            <a:ext cx="870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神经网络能够从多维结构化字段中学习非线性风险表征，用于辅助识别潜在理赔风险。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5FB03-B9D0-4FDF-A71E-FA01F40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15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93ABC-857A-4615-8732-2BC63323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705600"/>
            <a:ext cx="870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系统化落地价值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1FF02-57F8-48F9-B70A-BC40971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143750"/>
            <a:ext cx="870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将样本管理、模型训练、在线预测、结果查询与统计分析纳入统一平台，降低算法应用门槛。</a:t>
            </a:r>
          </a:p>
        </p:txBody>
      </p:sp>
    </p:spTree>
    <p:extLst>
      <p:ext uri="{BB962C8B-B14F-4D97-AF65-F5344CB8AC3E}">
        <p14:creationId xmlns:p14="http://schemas.microsoft.com/office/powerpoint/2010/main" val="559560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9A5AA-A257-42B5-B43A-1FE8FBD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研究目标与主要工作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51DE4-B942-4798-AA00-8DD17C6B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70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研究目标：完成车险理赔预测模型与业务系统的结合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1EF2B-382C-4291-938D-1F683F5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48536-55B8-44D8-97CB-6FC4D72D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809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796E"/>
                </a:solidFill>
              </a:defRPr>
            </a:pPr>
            <a:r>
              <a:rPr sz="3150" b="1">
                <a:solidFill>
                  <a:srgbClr val="20796E"/>
                </a:solidFill>
              </a:rPr>
              <a:t>模型部分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2668E-E33F-4E50-A57C-E4581F0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CBB00-1D9D-4CDF-B41C-4242F8B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围绕“保单在当前年度是否发生理赔”构建二分类预测任务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B7FFE-22E6-4910-8B6E-F30130F5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A9DA9-AC6F-44C7-9A27-9666672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完成数据清洗、特征工程、标准化预处理和类别不均衡处理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2E2C6-5207-4D7F-82CB-A60B66A0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EF0F9-2964-4A1E-B3B4-5A94D6D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784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设计残差式 MLP 主干网络，并引入 LayerNorm、GELU、Dropout 等优化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7074E-2845-42D2-9484-16C8AA27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2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18A5D-CE74-4A2F-AE51-B6C1B2CE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246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使用 AUC、Precision、Recall、F1 和消融实验验证模型效果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9910C-D0AE-45C8-B6DF-8EA958EC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91050"/>
            <a:ext cx="809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765E8"/>
                </a:solidFill>
              </a:defRPr>
            </a:pPr>
            <a:r>
              <a:rPr sz="3150" b="1">
                <a:solidFill>
                  <a:srgbClr val="2765E8"/>
                </a:solidFill>
              </a:rPr>
              <a:t>系统部分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2793C-D57F-4FB9-9F59-57D58841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38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34518-ED06-4B19-84FA-05595AA1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构建基于 Spring Boot、Vue3、MySQL、FastAPI 的前后端分离平台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3B901-822D-43F2-8C1E-F9A578CF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127BA-2BF5-433F-99FC-F89A15A7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959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实现用户、保单、理赔记录、车辆信息等业务数据管理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87F34-D830-4BE0-9009-185E7F5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BF8E2-611D-4A30-B044-7E5C5348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支持管理员进行模型训练、用户发起理赔概率预测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1A37E-B243-4E4E-BC0D-DA2932E2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59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29B07-F120-4642-BF3E-A0064E97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913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将预测结果、风险等级、记录统计和局部解释展示给业务用户</a:t>
            </a:r>
          </a:p>
        </p:txBody>
      </p:sp>
    </p:spTree>
    <p:extLst>
      <p:ext uri="{BB962C8B-B14F-4D97-AF65-F5344CB8AC3E}">
        <p14:creationId xmlns:p14="http://schemas.microsoft.com/office/powerpoint/2010/main" val="833640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1318B-5F8C-403B-A736-DFC6C3C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主要开发技术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1216D-5D30-4A5B-B6F0-8A78E88F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992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系统技术栈：前后端分离 + 独立模型服务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C4E0-85E6-463D-B342-16279211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316E6-7152-4F24-BC31-CC443447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6F8DC-7961-4845-94E2-2A5C84D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09D41-4F62-4AC1-8FE4-7889645A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前端表现层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00718-1E21-40BD-8500-9F7BEC1A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36016-C20B-44DF-9B09-033EEAC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Vue3 构建单页应用与路由视图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237B0-0F2D-499B-B35A-09380B79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A08D8-7B58-4AB9-B4C4-7566B5C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Element Plus 支撑表格、表单和弹窗交互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40091-0AB3-4E58-80C7-A6FE32B3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94D91-DABD-44E5-8C22-1B1AD4C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ECharts 展示保单、理赔和预测统计图表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447AE-C667-4B77-90F8-1054BAC7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1DA20-CB6D-4DF2-9F9E-1CC05745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Axios 统一封装 HTTP 请求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405E1-ABEA-4D40-A2BA-5BB1635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71650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4A89B-8DCE-46DC-82EB-D85F60D2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90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4764D-1EFD-487E-9F94-12546E08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后端业务层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5CD66-B2B2-42E7-A5BF-75C18FB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0544E-80BA-4F85-93D1-BE7A623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337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Spring Boot 实现认证、CRUD、分页和统计接口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4BA39-EDC4-4706-AD3A-5F258370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9D293-A052-43BD-A00C-7DEA2B8C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766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MyBatis 完成数据库访问与对象映射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0FDB1-CDA5-4761-917D-C253F231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FBB4A-3562-46FC-8544-8DCC3264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195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REST API 连接前端页面和模型服务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05839-91AD-4923-8018-3483AC5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4539C-3AEE-44C7-ADB1-9BA1B4D6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624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统一响应结构与异常处理降低前端适配成本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6A2C-1044-4038-8C4C-2B02E2C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9725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DEC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666EA-478E-4A6F-932D-1E33CD4B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064"/>
          </a:solidFill>
          <a:ln xmlns:a="http://schemas.openxmlformats.org/drawingml/2006/main" w="0">
            <a:solidFill>
              <a:srgbClr val="24A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18A17-586F-45A0-A426-B7C3776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4845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数据持久层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2077C-F5DA-4170-9274-82D6B9B2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4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064"/>
          </a:solidFill>
          <a:ln xmlns:a="http://schemas.openxmlformats.org/drawingml/2006/main" w="0">
            <a:solidFill>
              <a:srgbClr val="24A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6D4E0-3EBB-4FA3-B6D1-9AA9346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1437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MySQL 保存用户、保单、理赔、车辆等业务表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601B7-5D83-456B-BFBB-B8E2920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8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EC003-717D-464D-91ED-99E51DEA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866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预测记录表追踪概率、标签和风险等级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A2459-1B52-4FFD-95F9-A23D9CD4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2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35466-AE28-4E9E-963F-364B4FB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295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业务查询、统计分析与历史结果复盘共享同一数据源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445A0-ECEA-414B-AAEA-FD809510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9725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F5CB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77D2FA-5CED-41ED-882E-0ED3F45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248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DA05C9-B6F9-470B-8673-63FF220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7700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智能预测层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64E063-E171-4594-BE98-EF499A95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97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7C4E9A-0465-4AC9-A487-45A8801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9723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PyTorch 构建残差式 MLP 二分类模型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786FCB-787B-41AE-A3C1-A0F70B6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31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EE78DB-7682-435C-8278-35BF8E70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3152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scikit-learn 完成标准化、数据划分和指标评估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7A4203-4F80-44B0-ABEF-D076EFB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65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FF57A5-2F2A-4BEC-BE78-D5E5631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6581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FastAPI 对外提供模型加载和在线预测接口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FC485E-C03F-44C1-B246-79394077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00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985AF5-4D85-456E-9DBC-5B705A04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80010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模型产物与业务系统通过 JSON 解耦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62167E-2F4F-4104-8B92-54E7AA3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796E"/>
                </a:solidFill>
              </a:defRPr>
            </a:pPr>
            <a:r>
              <a:rPr sz="2250" b="1">
                <a:solidFill>
                  <a:srgbClr val="20796E"/>
                </a:solidFill>
              </a:rPr>
              <a:t>设计思路：业务系统负责数据管理与流程控制，模型服务负责训练产物加载和在线推理，两者通过 JSON 接口解耦。</a:t>
            </a:r>
          </a:p>
        </p:txBody>
      </p:sp>
    </p:spTree>
    <p:extLst>
      <p:ext uri="{BB962C8B-B14F-4D97-AF65-F5344CB8AC3E}">
        <p14:creationId xmlns:p14="http://schemas.microsoft.com/office/powerpoint/2010/main" val="968948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5263C-95BE-4D95-AFC6-8A7E8209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系统分析与设计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DBAB4-02AE-40FA-84EA-E322089D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9944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系统架构：业务系统与智能预测服务解耦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B8E75-80A5-45C5-A4B2-70B12B2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216FC-78F1-42E1-A012-2DE407F6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9343549" cy="7905750"/>
          </a:xfrm>
          <a:prstGeom xmlns:a="http://schemas.openxmlformats.org/drawingml/2006/main" prst="roundRect">
            <a:avLst>
              <a:gd name="adj" fmla="val 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432159d2a487c"/>
          <a:stretch xmlns:a="http://schemas.openxmlformats.org/drawingml/2006/main"/>
        </p:blipFill>
        <p:spPr>
          <a:xfrm xmlns:a="http://schemas.openxmlformats.org/drawingml/2006/main">
            <a:off x="2069707" y="1924050"/>
            <a:ext cx="6842435" cy="760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E110A-BA02-4CC7-BA7E-3ADB6DB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052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F35B6-FF85-4F95-9F6D-8A949A5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147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表现层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0671D-B812-4D25-BD23-B1A8B7B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3385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浏览器端完成业务操作、数据展示和统计图表交互。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B29B6-5DFC-496A-B056-AC24D304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10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A1375-2A7D-4A89-8DA4-4B86397A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8196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3F744-B00C-4973-8B5B-E7EFD6A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3875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Spring Boot 处理认证、CRUD、分页查询、统计分析和文件管理。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6BA7-0F01-4DD1-9AD3-62FE7A08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150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15CE2-5D0D-4CC6-85AF-7E815200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9245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预测层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8B475-3264-483B-8DEC-4451984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43650"/>
            <a:ext cx="6915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FastAPI 封装训练好的 PyTorch 模型，提供理赔概率、风险等级与解释结果。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B20BD-DED7-4AC7-9197-A6A113F6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086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EE325-71A2-4067-A5B5-D84F84F7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2580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数据层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90C36-4C71-4CD4-AE62-79811CF8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69620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MySQL 统一保存用户、保单、理赔、车辆、预测记录等核心表。</a:t>
            </a:r>
          </a:p>
        </p:txBody>
      </p:sp>
    </p:spTree>
    <p:extLst>
      <p:ext uri="{BB962C8B-B14F-4D97-AF65-F5344CB8AC3E}">
        <p14:creationId xmlns:p14="http://schemas.microsoft.com/office/powerpoint/2010/main" val="910876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88B58-E5E8-48D5-A576-8E41A5E6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需求分析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A5286-E01B-4CD1-B9C2-01755227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25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功能设计：围绕业务管理、可视化分析与理赔预测展开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ABC86-CCA7-422F-9FDB-9FCDEB79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715F5-13FC-4A63-8909-330AE81D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7149846" cy="7905750"/>
          </a:xfrm>
          <a:prstGeom xmlns:a="http://schemas.openxmlformats.org/drawingml/2006/main" prst="roundRect">
            <a:avLst>
              <a:gd name="adj" fmla="val 7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e410ed5be4d29"/>
          <a:stretch xmlns:a="http://schemas.openxmlformats.org/drawingml/2006/main"/>
        </p:blipFill>
        <p:spPr>
          <a:xfrm xmlns:a="http://schemas.openxmlformats.org/drawingml/2006/main">
            <a:off x="990600" y="3589139"/>
            <a:ext cx="6806946" cy="42707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5DD2B-C1C8-47B8-8DF9-96B28BC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46" y="1771650"/>
            <a:ext cx="9099804" cy="2635250"/>
          </a:xfrm>
          <a:prstGeom xmlns:a="http://schemas.openxmlformats.org/drawingml/2006/main" prst="roundRect">
            <a:avLst>
              <a:gd name="adj" fmla="val 2169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F6BDF-FC88-4F2C-B95E-1ED80149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812B0-5042-47E3-A437-4DC28A0E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380C2-7EF3-41E1-BC3C-5C0FCF8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用户认证、用户管理、保单信息、理赔记录、车辆信息等基础数据维护。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9A2AB-FA55-4EAD-BE7F-51629A2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46" y="4406900"/>
            <a:ext cx="9099804" cy="2635250"/>
          </a:xfrm>
          <a:prstGeom xmlns:a="http://schemas.openxmlformats.org/drawingml/2006/main" prst="roundRect">
            <a:avLst>
              <a:gd name="adj" fmla="val 216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2653D-A94F-46DD-A98A-11D54C9B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E880F-C3F3-4F6D-87FC-230E2C0A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可视化分析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F2C55-68A7-486B-BCC2-ED851AE9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系统首页、保单统计、理赔统计、预测记录统计，帮助用户快速理解业务状态。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56CA8-0912-44F4-B617-692704C9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46" y="7042150"/>
            <a:ext cx="9099804" cy="2635250"/>
          </a:xfrm>
          <a:prstGeom xmlns:a="http://schemas.openxmlformats.org/drawingml/2006/main" prst="roundRect">
            <a:avLst>
              <a:gd name="adj" fmla="val 2169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F5CB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C7970-A38B-44EA-BDFE-0B870051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3152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E21BA-FED1-4CEC-8288-6FAB49C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5057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理赔预测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9ACBA-34A6-46EA-A999-547AD6E2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92480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模型训练、批量/单条预测、预测记录管理、风险等级展示和局部消融解释。</a:t>
            </a:r>
          </a:p>
        </p:txBody>
      </p:sp>
    </p:spTree>
    <p:extLst>
      <p:ext uri="{BB962C8B-B14F-4D97-AF65-F5344CB8AC3E}">
        <p14:creationId xmlns:p14="http://schemas.microsoft.com/office/powerpoint/2010/main" val="892133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E5D4F-2D81-4BC6-BAC9-6D1064B3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数据集与预处理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84DB6-9ED6-4710-922B-94A4E5C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数据处理：从公开车险数据集中构建训练样本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78275-7803-479F-BF90-E5FB86F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472F-A625-4E06-8135-E1E24A95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5829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0796E"/>
                </a:solidFill>
              </a:defRPr>
            </a:pPr>
            <a:r>
              <a:rPr sz="4950" b="1">
                <a:solidFill>
                  <a:srgbClr val="20796E"/>
                </a:solidFill>
              </a:rPr>
              <a:t>105,555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86E43-612C-4C72-956A-C98EF40F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582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保单记录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28CE1-4D36-4FE2-AFC6-8172913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582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每行代表一笔保单交易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C3472-A536-413F-997B-602AA45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5829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765E8"/>
                </a:solidFill>
              </a:defRPr>
            </a:pPr>
            <a:r>
              <a:rPr sz="4950" b="1">
                <a:solidFill>
                  <a:srgbClr val="2765E8"/>
                </a:solidFill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28B4B-6F58-480D-824E-730E2536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582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原始变量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0D330-E3A4-40D8-A28D-70BABA74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582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涵盖投保人、车辆、保单和理赔历史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B56C5-381C-4D93-B2A8-DCA2393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0350"/>
            <a:ext cx="5829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15A4F"/>
                </a:solidFill>
              </a:defRPr>
            </a:pPr>
            <a:r>
              <a:rPr sz="4950" b="1">
                <a:solidFill>
                  <a:srgbClr val="E15A4F"/>
                </a:solidFill>
              </a:rPr>
              <a:t>18.6%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6BFA6-3978-4723-9F4C-7467BD75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15200"/>
            <a:ext cx="582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理赔样本占比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EEFF8-5D1B-4314-B2EE-FFCCADCD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39050"/>
            <a:ext cx="582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正负样本约 1 : 4.37</a:t>
            </a:r>
          </a:p>
        </p:txBody>
      </p:sp>
      <p:graphicFrame>
        <p:nvGraphicFramePr>
          <p:cNvPr id="13" name="class-imbalance-chart"/>
          <p:cNvGraphicFramePr/>
          <p:nvPr/>
        </p:nvGraphicFramePr>
        <p:xfrm>
          <a:off xmlns:a="http://schemas.openxmlformats.org/drawingml/2006/main" x="7093458" y="2686050"/>
          <a:ext xmlns:a="http://schemas.openxmlformats.org/drawingml/2006/main" cx="10375392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ea276743aa4a1a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2D78B-EFB3-43E0-BED0-CC0FDBE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6343650"/>
            <a:ext cx="16192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BAD16-07D0-496B-9D90-8A23EF03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579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23474-64AC-4770-AAAE-F9B9706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6343650"/>
            <a:ext cx="4095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DD207-BD02-4E14-93AF-B38AE862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5795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处理策略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B7837-C733-4422-AA5C-B555C074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6343650"/>
            <a:ext cx="4660392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E8BB2-012F-430E-BE37-27D4DF67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5795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目的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15A9D-B10F-480A-9B61-6AAD4A7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685800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65E3B-96A0-4507-83C0-A763F91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97230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缺失值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0E3D4-47F2-434C-8F9E-3A0AF56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685800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2291F-5AFD-40A3-ABFD-D282B51D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97230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字段缺失检测、业务语义填充或剔除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EA7F7-D68C-47FD-AF02-E260EAF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685800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CE7C0-9A0E-4D6E-878E-1538FF0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97230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保证模型输入完整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93B3D-D196-44FD-86E1-88255C4C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733425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2F38A-B5E3-4204-B471-4FDDDE16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4485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极端值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EDE4F-2B45-4B4F-ABAB-CD2CE023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733425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AA4A9-C47E-4412-A34F-1DA20ADE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44855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对保费、车价、功率等字段截断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14485-A4E8-4468-A92B-C0EE6C2C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733425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9519D7-F98F-4D5F-9077-8137F5D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44855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降低长尾异常影响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9A8B9-23D0-4EE5-AE52-3D09CC40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781050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84D80-EBB3-4667-BF38-91326C24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92480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样本不均衡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18128A-D07D-4656-ABBF-040937A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781050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4B132A-68F8-490B-9776-7547956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92480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分层抽样 + 正类权重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6B67F3-9BCA-4B3E-B204-03FA244B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781050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53B34-BC2B-482A-AC60-7BFED26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92480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减少模型偏向非理赔类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B7A6B7-6232-4A35-AB96-8D5FBAA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828675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B23377-F6DD-4800-85A2-C53E0B41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84010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字符串字段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23D7FC-97F5-40B3-9FA6-58694159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828675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4B1786-F3EE-422A-A477-366EF18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40105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日期解析与类别编码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52E39B-5251-4BB1-BE88-05C69E0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828675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CA62A1-236B-4E34-BEB3-79C9BE5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840105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转换为可训练数值特征</a:t>
            </a:r>
          </a:p>
        </p:txBody>
      </p:sp>
    </p:spTree>
    <p:extLst>
      <p:ext uri="{BB962C8B-B14F-4D97-AF65-F5344CB8AC3E}">
        <p14:creationId xmlns:p14="http://schemas.microsoft.com/office/powerpoint/2010/main" val="14504948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38DA9-B7D7-4915-94D8-DBD1763D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特征矩阵构建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A7FB7-F1D8-445F-AD2A-6978A7A3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1601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特征工程：将业务字段转化为有语义的模型输入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D3BB-3E62-4C95-8BFD-9291201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DB52-3FC7-4CE8-82C7-F5073BF0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F1E21-6C59-4698-B03A-977CC09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811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日期锚点特征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E3CC3-1EE7-4D37-BDCF-ECC143E3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811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以合同开始日期作为统一参考点，计算驾龄、被保人年龄、合同期限、车龄等语义特征。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6BD7-320F-4B7A-A287-463F6A13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13BC0-0872-4205-B04A-2CA78C00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811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车辆属性特征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EE857-6FFA-4371-BD04-15CC4D5B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811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保留发动机功率、排量、重量、车辆价值、注册年份等字段，并进行异常值截断。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E39D1-0BFE-4EFD-B89C-BCB80C9E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15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64666-8849-4A3E-B311-9B12F7EE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05600"/>
            <a:ext cx="811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保单与历史理赔特征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29F04-13A1-47C2-9E58-3F1352FB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43750"/>
            <a:ext cx="811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使用年度保费、历史理赔次数、风险类型、缴费方式等字段表达保单风险状态。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DA0E3-3D30-4797-B364-2B70EE9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76675"/>
            <a:ext cx="1809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3911C-FDE1-4E2D-9A73-F9D705E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特征类别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0B3C6-C3C6-40E7-A8EA-8B2BDFF0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76675"/>
            <a:ext cx="3810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1FCD0-31A8-49B3-9650-14711B9E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0005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代表字段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2ABE2-74D1-49FF-A38C-B178F89C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3876675"/>
            <a:ext cx="24955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6132C-4267-468F-B0D7-D1BE8DF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40005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00F4C-CBED-4CE4-86AE-3591DA98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9102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1C423-A9D5-4FCE-BC09-DD3840FB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148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日期原始天数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36E29-A85C-4CCE-BF4B-7DF6CC7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39102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2ACB7-DCF9-4691-9963-47308D7A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14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Date_start_contract_days 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84276-2772-4148-AEA5-FF0038B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439102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5654A-CE98-4AB7-9F4B-2250319C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45148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日期解析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657FD-B919-4D06-9236-E419A47B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6727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201AC-2C38-4F7B-B587-FB96210D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日期语义衍生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4B5EE-5574-47EF-A56F-F0499465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6727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778B7-FE3D-4397-84EB-DF70EBF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9911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insured_age_years、vehicle_age_years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20A6D-148A-4252-A5C1-66FB72B8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486727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505FF8-176B-4AC4-A706-9AFE613C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49911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业务计算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D37FA-7CDE-444C-8CE5-F6A7851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4352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61247-1DFF-4249-B250-212E0C65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673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车辆属性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C9BCF-A0B9-4C20-B663-F8DBA413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4352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449F6C-D6D7-425E-8CC6-42BE14A4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673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Power、Weight、Value_vehicle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5B4AC-CEF5-4D3E-91E5-1605476D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534352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5AFCD0-E6C3-4D27-9B89-3A801104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54673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原始字段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0DB2D8-6DDE-48C0-B5DA-784962D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1977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1C4A43-2842-4E6A-BCBD-DF9F9A2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4360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保单合同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6011C7-B1A7-425B-AED2-7CA982E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81977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4702EC-5FC4-457C-9848-04899314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436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Premium、Type_risk、Payment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7BD44D-9116-4085-8730-AC1723F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581977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5C09F2-6ABA-4CA2-9771-A793E77B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59436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原始字段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031721-00B6-4B63-9CA8-9C8B2F40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29602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11AC3E-8527-4022-B3E1-FCCD9366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198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类别编码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64494B-543F-4846-A639-A1E48CCC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6D0868-7F2F-4069-9609-A6DC195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Type_fuel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953E14-E271-4A50-AE7A-C83466F1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629602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5AF11C-8A9B-46E4-B78C-2629164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4198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类别数值化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FF968F-F9CA-42D9-AC24-E01A1D7A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10400"/>
            <a:ext cx="8115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796E"/>
                </a:solidFill>
              </a:defRPr>
            </a:pPr>
            <a:r>
              <a:rPr sz="2250" b="1">
                <a:solidFill>
                  <a:srgbClr val="20796E"/>
                </a:solidFill>
              </a:rPr>
              <a:t>最终输入不是简单堆字段，而是将业务时间、车辆属性和历史理赔信息统一为可复现的结构化特征矩阵。</a:t>
            </a:r>
          </a:p>
        </p:txBody>
      </p:sp>
    </p:spTree>
    <p:extLst>
      <p:ext uri="{BB962C8B-B14F-4D97-AF65-F5344CB8AC3E}">
        <p14:creationId xmlns:p14="http://schemas.microsoft.com/office/powerpoint/2010/main" val="1925721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3A22B-45B6-4AF2-AF67-E66E87B2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模型构建与优化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FFCBC-EF12-4357-88D8-D564409D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0648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模型结构：残差式 MLP 面向表格数据二分类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9087F-5E75-4852-8B33-11E6DCBA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D61E1-00C8-4A99-B2A1-5A3EE9B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8774811" cy="7905750"/>
          </a:xfrm>
          <a:prstGeom xmlns:a="http://schemas.openxmlformats.org/drawingml/2006/main" prst="roundRect">
            <a:avLst>
              <a:gd name="adj" fmla="val 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24d54094146de"/>
          <a:stretch xmlns:a="http://schemas.openxmlformats.org/drawingml/2006/main"/>
        </p:blipFill>
        <p:spPr>
          <a:xfrm xmlns:a="http://schemas.openxmlformats.org/drawingml/2006/main">
            <a:off x="952500" y="4070260"/>
            <a:ext cx="8508111" cy="330853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B69E7-6F6E-4944-B440-8E2749F6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57700"/>
            <a:ext cx="746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172A"/>
                </a:solidFill>
              </a:defRPr>
            </a:pPr>
            <a:r>
              <a:rPr sz="2700" b="1">
                <a:solidFill>
                  <a:srgbClr val="0D172A"/>
                </a:solidFill>
              </a:rPr>
              <a:t>输入为标准化后的保单特征向量，输出为“是否发生理赔”的概率 logit。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D8FD0-8194-4ADC-B2D0-CFB7A3A2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5AFAD-AEA0-4A7A-AAFA-317E685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37210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残差块缓解网络加深后特征表达退化问题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1240E-1FCC-4FDF-B8C8-3092ED3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2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C9773-35C1-487F-8B6D-C6C2B3B7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82930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LayerNorm 与 GELU 提升训练稳定性和非线性表达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C90F-17E3-4287-B669-443E4DC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6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B2543-12B3-43E6-AD89-7EE4AE42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6745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Dropout 与 AdamW 配合控制过拟合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0551D-EEB8-4817-AE0B-17C6D11E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72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1C708-837C-40DA-AB41-2698B3D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72465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Sigmoid 概率结合最优阈值输出离散预测标签</a:t>
            </a:r>
          </a:p>
        </p:txBody>
      </p:sp>
    </p:spTree>
    <p:extLst>
      <p:ext uri="{BB962C8B-B14F-4D97-AF65-F5344CB8AC3E}">
        <p14:creationId xmlns:p14="http://schemas.microsoft.com/office/powerpoint/2010/main" val="1723678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F3DED-061D-484E-A26B-88E85AB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训练流程设计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3A525-25B4-4AF2-8E23-FF76EA5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15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训练策略：在类别不均衡场景下兼顾召回与稳定性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A0234-1D06-4099-A8DF-1546871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1B13C-2875-4DFF-9184-BEAA79D3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F5CB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6D74D-924A-4C77-B9E7-225AC8B4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394DB-BAAE-4C28-A826-4B1CBD48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正类权重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E6FE4-FA3A-48A7-A85A-6D61337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3638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使用带正类权重的 BCEWithLogitsLoss，提升模型对理赔样本的关注。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597A4-3068-469E-BEB4-E20E850C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45EE9-71F3-4899-A530-4F11AD87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FAAF3-1C90-4C84-8F69-9742AFC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自动阈值搜索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47FA5-7A28-44D1-B50D-CCFD06C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3638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在 0.05-0.95 区间搜索候选阈值，优先满足召回率约束。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B2B28-ECD9-45A9-B543-0FFAC9AE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18D68-0E6C-4517-8997-FAFD098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A343D-55ED-4ADE-8691-491E334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优化与调度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3209F-8C95-4E5E-8D55-7888659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3638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AdamW 结合 Cosine Warmup 学习率调度，提高收敛稳定性。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2F79D-7A44-4F7B-B634-1451267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1D8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FB3D1-8647-46AF-B9B0-FEC2DAC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F1348-616E-4794-B9F6-FB05AA18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训练保护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2BA80-B7F9-44FE-87F1-381F03E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667000"/>
            <a:ext cx="3638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Early Stopping、AMP 混合精度和梯度裁剪减少过拟合与数值波动。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90738-CA91-48E9-B4BA-0DB4A61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05850"/>
            <a:ext cx="166497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C76B5A-1B0C-4951-9910-6408F925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896350"/>
            <a:ext cx="16116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96E"/>
                </a:solidFill>
              </a:defRPr>
            </a:pPr>
            <a:r>
              <a:rPr sz="2325" b="1">
                <a:solidFill>
                  <a:srgbClr val="20796E"/>
                </a:solidFill>
              </a:rPr>
              <a:t>业务含义：模型先输出理赔概率，阈值搜索再决定分类边界。这样可以在风控场景中适度接受误报，尽量减少高风险保单漏判。</a:t>
            </a:r>
          </a:p>
        </p:txBody>
      </p:sp>
    </p:spTree>
    <p:extLst>
      <p:ext uri="{BB962C8B-B14F-4D97-AF65-F5344CB8AC3E}">
        <p14:creationId xmlns:p14="http://schemas.microsoft.com/office/powerpoint/2010/main" val="9909620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237B95-A777-40B6-8E59-1F79194A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性能评估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7AB9-DEBF-4098-A767-4D46E81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15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模型评估：整体排序能力与理赔样本召回表现良好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A3040-E405-44D6-B41E-28E8F4DE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A2C76-2D26-4DA9-904A-F6DAB46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609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0796E"/>
                </a:solidFill>
              </a:defRPr>
            </a:pPr>
            <a:r>
              <a:rPr sz="4950" b="1">
                <a:solidFill>
                  <a:srgbClr val="20796E"/>
                </a:solidFill>
              </a:rPr>
              <a:t>0.9604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50882-0ED4-4A4D-B2B5-5253DE76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6FCF0-5AA3-4AC2-B802-9C9597A4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测试集 10,557 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C3BFD-AB27-4280-8D9C-CB034AF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609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15A4F"/>
                </a:solidFill>
              </a:defRPr>
            </a:pPr>
            <a:r>
              <a:rPr sz="4950" b="1">
                <a:solidFill>
                  <a:srgbClr val="E15A4F"/>
                </a:solidFill>
              </a:rPr>
              <a:t>0.8305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75253-C5F2-4AD7-B976-5F14F71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Claim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8B3CB-B625-416D-A499-69905274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理赔样本召回率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98D00-CFCB-42CB-ADE1-147CE607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609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765E8"/>
                </a:solidFill>
              </a:defRPr>
            </a:pPr>
            <a:r>
              <a:rPr sz="4950" b="1">
                <a:solidFill>
                  <a:srgbClr val="2765E8"/>
                </a:solidFill>
              </a:rPr>
              <a:t>0.9121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8B706-0834-4066-B892-2744248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9615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Weighted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0FDA7-AD4E-4DB0-A2E4-948F097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加权平均 F1-score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0CC70-A7F9-49CC-97A8-F3E62A74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2933700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2705F-3AEC-4BDA-8DA9-8A69F253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80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类别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682C9-8E7E-4E0E-8C3E-199BB546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29337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CEB2B-4F1A-4A2B-BD07-80E1645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E940C-9924-4E42-A45D-579D6D59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29337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E936F-80EF-4CF0-A75B-8CD2135E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480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862CC-B90A-472A-94F1-51A44274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2933700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B0791-0A9D-4D29-AD4E-D202DE2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0480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284BA-9857-4DE1-93E6-FA9BF1B5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2933700"/>
            <a:ext cx="12382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08053-97B5-4176-9180-B1BEB23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04800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样本数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D445F-7D16-43DA-A9C4-ECBF8F1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34480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6AB6B-C1BB-4121-83CE-6C1EC4EA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 Claim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310BF-99F5-4EF2-8D9F-D32342A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34480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9E4C2-7224-414E-B151-B22D449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0.9599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AE669-9BDC-4520-A87E-1069251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34480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AA8E6-F340-4E7C-8120-7B247E5E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5623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0.9280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28C8F-2DD7-4448-8C85-B6B228DC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34480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C7B1F-7085-430B-B973-6FE8B8D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5623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0.9437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1AB3B-DBFB-4144-B5BD-9D73A4E1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3448050"/>
            <a:ext cx="1238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F5F6A-6F6E-4C66-A6D5-11DE124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56235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8592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1EB6D-487F-45A2-A712-B78412A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392430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17407-BC9C-461B-AF6D-2C3B056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Claim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14C45C-C9E1-45B5-8FD1-3DB8BEF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392430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63C25C-EF6B-4A1D-8532-5B3B5383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386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0.7250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33C92D-3176-452A-9420-0B2AAF6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392430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3CE3DA-1C6D-4940-A92F-A130C695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3860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0.8305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2EE906-EECE-4AC8-85A4-A1F94F8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392430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0F2C80-D8C2-4172-A2F4-52589B1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03860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0.7742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1F60CC-CF89-44CC-9B96-3D12B9E5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3924300"/>
            <a:ext cx="1238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E9C371-FD65-4CB3-858F-A8C6F6F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03860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1965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B9FC49-B869-4515-9AFB-9DD28A8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44005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74C84C-C195-4F6F-89A6-BE6E372A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148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加权平均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FBBA8D-6E01-4C9E-B435-D3C732C2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44005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8C539-52F2-4DCA-9878-8D1968F7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0.9162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42E816-3D44-41D1-9A94-609F254B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44005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580887-7F04-4E9B-8DCC-74EC653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1485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0.9098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CB67BB-C80D-4A2C-8E07-2C80C43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44005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773DA1-126A-48D4-BEA2-6EEFFC21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5148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0.9121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2A4617-4F8D-44FE-B9C9-7E1A1BEF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4400550"/>
            <a:ext cx="1238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E55B52-525E-406C-A74A-6D81D58A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51485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9E97FD-B181-4C18-B6C5-D656255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5086350"/>
            <a:ext cx="2539008" cy="3429000"/>
          </a:xfrm>
          <a:prstGeom xmlns:a="http://schemas.openxmlformats.org/drawingml/2006/main" prst="roundRect">
            <a:avLst>
              <a:gd name="adj" fmla="val 2251"/>
            </a:avLst>
          </a:prstGeom>
          <a:solidFill xmlns:a="http://schemas.openxmlformats.org/drawingml/2006/main">
            <a:srgbClr val="124D77"/>
          </a:solidFill>
          <a:ln xmlns:a="http://schemas.openxmlformats.org/drawingml/2006/main" w="9525">
            <a:solidFill>
              <a:srgbClr val="124D7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8F1385-F788-4AE9-9E47-4B193BD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4389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7973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F7DB45-864D-4AD0-A8B4-0BC0B8F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9532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AF2"/>
                </a:solidFill>
              </a:defRPr>
            </a:pPr>
            <a:r>
              <a:rPr sz="1650">
                <a:solidFill>
                  <a:srgbClr val="D5EAF2"/>
                </a:solidFill>
              </a:rPr>
              <a:t>TN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8C6B17-023F-48F5-B69E-4775452F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827" y="5086350"/>
            <a:ext cx="2539008" cy="3429000"/>
          </a:xfrm>
          <a:prstGeom xmlns:a="http://schemas.openxmlformats.org/drawingml/2006/main" prst="roundRect">
            <a:avLst>
              <a:gd name="adj" fmla="val 2251"/>
            </a:avLst>
          </a:prstGeom>
          <a:solidFill xmlns:a="http://schemas.openxmlformats.org/drawingml/2006/main">
            <a:srgbClr val="D7EAF2"/>
          </a:solidFill>
          <a:ln xmlns:a="http://schemas.openxmlformats.org/drawingml/2006/main" w="9525">
            <a:solidFill>
              <a:srgbClr val="D7EA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5130BC-A16E-4B7A-9B00-51E44D58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389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619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486E88-93EB-4F5A-873C-39878E71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9532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FP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DA1917-CDFD-42EF-B0C2-4F55DEBE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0834" y="5086350"/>
            <a:ext cx="2539008" cy="3429000"/>
          </a:xfrm>
          <a:prstGeom xmlns:a="http://schemas.openxmlformats.org/drawingml/2006/main" prst="roundRect">
            <a:avLst>
              <a:gd name="adj" fmla="val 2251"/>
            </a:avLst>
          </a:prstGeom>
          <a:solidFill xmlns:a="http://schemas.openxmlformats.org/drawingml/2006/main">
            <a:srgbClr val="E9F2F7"/>
          </a:solidFill>
          <a:ln xmlns:a="http://schemas.openxmlformats.org/drawingml/2006/main" w="9525">
            <a:solidFill>
              <a:srgbClr val="E9F2F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1CC9A3-8BFE-487B-84FE-47E9EFA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4389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333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16E12E-2DED-41C1-8F9F-F78F4FCD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9532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FN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40FD3D-D735-4702-AC49-B603875B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9842" y="5086350"/>
            <a:ext cx="2539008" cy="3429000"/>
          </a:xfrm>
          <a:prstGeom xmlns:a="http://schemas.openxmlformats.org/drawingml/2006/main" prst="roundRect">
            <a:avLst>
              <a:gd name="adj" fmla="val 2251"/>
            </a:avLst>
          </a:prstGeom>
          <a:solidFill xmlns:a="http://schemas.openxmlformats.org/drawingml/2006/main">
            <a:srgbClr val="73A9C7"/>
          </a:solidFill>
          <a:ln xmlns:a="http://schemas.openxmlformats.org/drawingml/2006/main" w="9525">
            <a:solidFill>
              <a:srgbClr val="73A9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68FB23-FB4A-4B8D-8564-A1C43DBE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6438900"/>
            <a:ext cx="2000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1632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FCEBC2-6BA2-4F2C-B604-0683167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69532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DF7FB"/>
                </a:solidFill>
              </a:defRPr>
            </a:pPr>
            <a:r>
              <a:rPr sz="1650">
                <a:solidFill>
                  <a:srgbClr val="EDF7FB"/>
                </a:solidFill>
              </a:rPr>
              <a:t>TP</a:t>
            </a:r>
          </a:p>
        </p:txBody>
      </p:sp>
    </p:spTree>
    <p:extLst>
      <p:ext uri="{BB962C8B-B14F-4D97-AF65-F5344CB8AC3E}">
        <p14:creationId xmlns:p14="http://schemas.microsoft.com/office/powerpoint/2010/main" val="1562541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29C39-ED49-4EBB-8DCB-270CE47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对照实验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DBB1F-3E06-49AB-83BA-0FCDFF34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0496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消融实验：优化策略让模型更贴近风控目标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543E0-58F9-4F77-A311-9A25027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13</a:t>
            </a:r>
          </a:p>
        </p:txBody>
      </p:sp>
      <p:graphicFrame>
        <p:nvGraphicFramePr>
          <p:cNvPr id="4" name="ablation-chart"/>
          <p:cNvGraphicFramePr/>
          <p:nvPr/>
        </p:nvGraphicFramePr>
        <p:xfrm>
          <a:off xmlns:a="http://schemas.openxmlformats.org/drawingml/2006/main" x="819150" y="1771650"/>
          <a:ext xmlns:a="http://schemas.openxmlformats.org/drawingml/2006/main" cx="8541068" cy="790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afe31a932f47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4882-9B7F-4CF5-883B-E412604E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7734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172A"/>
                </a:solidFill>
              </a:defRPr>
            </a:pPr>
            <a:r>
              <a:rPr sz="2850" b="1">
                <a:solidFill>
                  <a:srgbClr val="0D172A"/>
                </a:solidFill>
              </a:rPr>
              <a:t>实验结论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FBB8F-3ED4-4E6E-8CC9-854B5C4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1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94AB0-3C69-4D02-840A-14711679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1960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AUC 基本稳定在 0.957 左右，说明模型排序能力较稳定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E0179-71E8-4D44-A362-60EC6D9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F0D41-423C-4BC9-81AF-FD0A97D8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5775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固定阈值可提升召回，但会明显牺牲准确率或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C7223-7E9B-4235-808D-5C3ABB4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FE19B-F766-47BD-ABFD-B2577502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95900"/>
            <a:ext cx="7486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加权损失与自动阈值能在 F1、Accuracy、Recall 间取得更平衡表现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5993B-8DCA-4AC2-BBBD-E34134CC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218" y="6043613"/>
            <a:ext cx="7727633" cy="1552575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B9EC9-D621-441E-97C0-1C065C1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286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796E"/>
                </a:solidFill>
              </a:defRPr>
            </a:pPr>
            <a:r>
              <a:rPr sz="1950" b="1">
                <a:solidFill>
                  <a:srgbClr val="20796E"/>
                </a:solidFill>
              </a:rPr>
              <a:t>最佳网络结构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95DCD-3180-4E05-8962-DDB8AD60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648450"/>
            <a:ext cx="723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172A"/>
                </a:solidFill>
              </a:defRPr>
            </a:pPr>
            <a:r>
              <a:rPr sz="2850" b="1">
                <a:solidFill>
                  <a:srgbClr val="0D172A"/>
                </a:solidFill>
              </a:rPr>
              <a:t>256, 512, 512, 256, 128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71A6E-1897-49C2-ADC2-04A3006F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124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A80"/>
                </a:solidFill>
              </a:defRPr>
            </a:pPr>
            <a:r>
              <a:rPr sz="1725">
                <a:solidFill>
                  <a:srgbClr val="596A80"/>
                </a:solidFill>
              </a:rPr>
              <a:t>AUC 0.9588 | F1 0.7583 | Accuracy 0.9018 | Recall 0.8282</a:t>
            </a:r>
          </a:p>
        </p:txBody>
      </p:sp>
    </p:spTree>
    <p:extLst>
      <p:ext uri="{BB962C8B-B14F-4D97-AF65-F5344CB8AC3E}">
        <p14:creationId xmlns:p14="http://schemas.microsoft.com/office/powerpoint/2010/main" val="17960310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C0979-A9A5-41DF-AF2A-2B7FA6DE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系统实现与测试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74B1B-CAEE-4005-9DE9-559D988A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70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系统实现：数据管理、模型训练、在线预测形成闭环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1B34A-9DCB-4683-A9F7-0BF18942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7EB7B-CAFF-467E-97C0-C7E5ADFC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0DBD0-63C9-40A6-9ED3-505C915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业务数据管理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0EA72-E308-454A-9D6C-8C4C881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用户、保单、理赔记录、车辆信息的增删改查与权限控制。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4877A-65A2-43A7-8620-A0F488C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C1586-2F0F-49F9-A739-192181C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模型训练管理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7EC07-A3E5-4CF9-96B7-68E532C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716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管理员配置优化器、学习率、隐藏层结构和阈值策略，生成模型文件。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68618-8A17-4C94-B308-5389B034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AED4D-ECAB-4EC1-BAA3-D5CEC3B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在线理赔预测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015EC-E508-4F2A-93F0-D6823309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43650"/>
            <a:ext cx="716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用户选择已有保单或手动填写特征，系统返回概率、标签、风险等级与解释。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7CA7B-9553-4897-A06C-01B246E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CC0AA-CC2E-4EB5-9A95-3E12B5A7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结果统计分析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7C683-7246-453A-9722-B8F8135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58100"/>
            <a:ext cx="716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预测记录持久化，展示风险等级分布、理赔概率分布和历史预测概览。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2A11F-F54A-4C09-A57A-A9797DB1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78" y="1771650"/>
            <a:ext cx="9110472" cy="3952875"/>
          </a:xfrm>
          <a:prstGeom xmlns:a="http://schemas.openxmlformats.org/drawingml/2006/main" prst="roundRect">
            <a:avLst>
              <a:gd name="adj" fmla="val 1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092fb9ba84d8f"/>
          <a:srcRect xmlns:a="http://schemas.openxmlformats.org/drawingml/2006/main" l="0" t="6588" r="0" b="6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2678" y="1885950"/>
            <a:ext cx="8881872" cy="37242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421B0-CB14-4634-B369-1B863A56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78" y="5724525"/>
            <a:ext cx="9110472" cy="3952875"/>
          </a:xfrm>
          <a:prstGeom xmlns:a="http://schemas.openxmlformats.org/drawingml/2006/main" prst="roundRect">
            <a:avLst>
              <a:gd name="adj" fmla="val 1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d5bcabd064a25"/>
          <a:srcRect xmlns:a="http://schemas.openxmlformats.org/drawingml/2006/main" l="0" t="18413" r="0" b="18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2678" y="5838825"/>
            <a:ext cx="8881872" cy="3724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532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AD48C-AB29-4173-9AB5-5A64941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20D41-59C2-4365-B2BC-B3C73B01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70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总结与展望：完成从模型研究到系统落地的基本闭环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A08F9-A960-499A-9596-A881835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F392B-7F60-497F-9CA1-E19CBC2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5549900" cy="7286625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E5A5C-4D41-4C3D-83CE-4F6AE0F5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796E"/>
                </a:solidFill>
              </a:defRPr>
            </a:pPr>
            <a:r>
              <a:rPr sz="2700" b="1">
                <a:solidFill>
                  <a:srgbClr val="20796E"/>
                </a:solidFill>
              </a:rPr>
              <a:t>测试验证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C8682-C52A-41BE-809A-EC9EC00B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3BC67-A125-426A-8D20-5650A4E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登录注册、用户管理、保单管理通过测试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21677-2BB1-4F13-8802-A46AD8CE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767F2-CF1B-4212-9C58-C64E6DD2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理赔记录、车辆信息、统计分析通过测试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6C266-A0CD-4FF4-A506-D5FC3B0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7EC4B-F7C0-4174-A39C-43619138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模型训练、预测管理、记录统计通过测试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03CDD-0D70-4E1B-AA02-76EDB2AB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1771650"/>
            <a:ext cx="5549900" cy="7286625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617B3-F8EA-42A6-8335-5212B30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765E8"/>
                </a:solidFill>
              </a:defRPr>
            </a:pPr>
            <a:r>
              <a:rPr sz="2700" b="1">
                <a:solidFill>
                  <a:srgbClr val="2765E8"/>
                </a:solidFill>
              </a:rPr>
              <a:t>主要成果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B7AB3-68C4-4977-A707-A6718D3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9101C-3956-4430-A893-9E1A0A6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完成残差式 MLP 理赔预测模型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115F9-0897-4595-B0F1-6B824D7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DB631-62A1-4922-BDCF-0827EB5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完成数据处理、特征工程、训练与评估流程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24768-931D-4B2C-AAB5-022FA52A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E112A-950B-4756-81EA-1C1EC8AC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 Spring Boot + Vue3 + FastAPI 平台集成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E8AD-8236-4772-8F78-9596BCC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1771650"/>
            <a:ext cx="5549900" cy="7286625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4E3A1-7DB2-4E4A-A4E3-9FD90923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383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15A4F"/>
                </a:solidFill>
              </a:defRPr>
            </a:pPr>
            <a:r>
              <a:rPr sz="2700" b="1">
                <a:solidFill>
                  <a:srgbClr val="E15A4F"/>
                </a:solidFill>
              </a:rPr>
              <a:t>未来优化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3A192-BF2F-4926-94EF-30D90F4E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9577A-FD41-442D-95A7-1612C43D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5908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引入驾驶行为、天气、道路环境等外部数据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54592-E0C1-4905-935A-BAAE236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6A3A28-2DB8-4A43-9DFA-E58C357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拓展理赔金额估计和多任务联合建模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61923-DAF6-40CC-8755-A7BF632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C4DF1-2490-45A9-97D6-404B28A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4290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增强模型版本管理、预警推送和业务联动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FB5B5-6DF5-415F-9991-EAC0D0B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664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96E"/>
                </a:solidFill>
              </a:defRPr>
            </a:pPr>
            <a:r>
              <a:rPr sz="2325" b="1">
                <a:solidFill>
                  <a:srgbClr val="20796E"/>
                </a:solidFill>
              </a:rPr>
              <a:t>最终结论：本文实现了车险理赔预测模型与业务系统的结合，为车险风险识别和辅助决策提供了可运行的原型方案。</a:t>
            </a:r>
          </a:p>
        </p:txBody>
      </p:sp>
    </p:spTree>
    <p:extLst>
      <p:ext uri="{BB962C8B-B14F-4D97-AF65-F5344CB8AC3E}">
        <p14:creationId xmlns:p14="http://schemas.microsoft.com/office/powerpoint/2010/main" val="2059086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2026-05-06T14:30:29.9170000Z</dcterms:created>
  <dcterms:modified xsi:type="dcterms:W3CDTF">2026-05-06T14:30:29.9170000Z</dcterms:modified>
</coreProperties>
</file>