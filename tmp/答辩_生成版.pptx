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14630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基于深度学习的</a:t>
            </a:r>
            <a:br/>
            <a:r>
              <a:rPr>
                <a:ea typeface="Microsoft YaHei"/>
              </a:rPr>
              <a:t>车险理赔预测系统设计与实现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1463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rPr>
                <a:ea typeface="Microsoft YaHei"/>
              </a:rPr>
              <a:t>Design and Implementation of Auto Insurance Claim</a:t>
            </a:r>
            <a:br/>
            <a:r>
              <a:rPr>
                <a:ea typeface="Microsoft YaHei"/>
              </a:rPr>
              <a:t>Prediction System Based on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7772400"/>
            <a:ext cx="1463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重庆邮电大学  ·  人工智能学院  ·  数据科学与大数据技术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84124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学生：钱信宇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8732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指导教师：陈力 讲师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0525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4080C0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286000"/>
            <a:ext cx="1280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研究背景与目标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697480"/>
            <a:ext cx="1280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问题定义、研究意义、核心贡献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3200400"/>
            <a:ext cx="1325880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4080C0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474720"/>
            <a:ext cx="1280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系统架构与数据库设计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886200"/>
            <a:ext cx="1280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三层架构、技术栈、E-R图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4389120"/>
            <a:ext cx="1325880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66344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4080C0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663440"/>
            <a:ext cx="1280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数据处理与特征工程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074920"/>
            <a:ext cx="1280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缺失值处理、异常值截断、特征构建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5577840"/>
            <a:ext cx="1325880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85216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4080C0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852160"/>
            <a:ext cx="1280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模型构建与训练策略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6263640"/>
            <a:ext cx="1280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残差MLP、加权损失、自动阈值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6766560"/>
            <a:ext cx="1325880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70408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4080C0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7040880"/>
            <a:ext cx="1280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实验结果与消融分析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7452360"/>
            <a:ext cx="1280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混淆矩阵、训练曲线、消融验证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7955280"/>
            <a:ext cx="13258800" cy="45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822960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4080C0"/>
                </a:solidFill>
                <a:latin typeface="Microsoft YaHei"/>
              </a:defRPr>
            </a:pPr>
            <a:r>
              <a:rPr>
                <a:ea typeface="Microsoft YaHe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8229600"/>
            <a:ext cx="1280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系统演示与总结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8641080"/>
            <a:ext cx="1280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功能展示、量化成果、未来展望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9326880"/>
            <a:ext cx="1645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模型研究 + 系统工程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研究背景与问题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554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车险行业正从经验驱动向数据驱动转型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080C0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20"/>
            <a:ext cx="7132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行业痛点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240280"/>
            <a:ext cx="7132320" cy="13716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7589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▸ 我国机动车保有量超4亿辆，车险保费规模破万亿，理赔案件量持续攀升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54680"/>
            <a:ext cx="7589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▸ 传统人工审核依赖核保员经验，面对海量、多维、异构数据时效率与准确性不足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7589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▸ 理赔预测不准确 → 赔付成本上升 + 客户满意度下降 + 欺诈风险增加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828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080C0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874520"/>
            <a:ext cx="7132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技术机遇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0" y="2240280"/>
            <a:ext cx="7132320" cy="13716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2468880"/>
            <a:ext cx="7589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▸ 深度学习能从多维结构化特征中自动学习非线性风险模式，识别潜在高风险保单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154680"/>
            <a:ext cx="7589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▸ 将"模型训练→理赔预测→结果解释→统计反馈"整合至统一信息平台，降低算法应用门槛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840480"/>
            <a:ext cx="7589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▸ 为保险企业提供一套可落地的数字化风控原型方案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841248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105,555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89611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条保险记录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841248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89611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个原始特征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841248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18.6%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89611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理赔占比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研究目标与核心贡献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554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目标：设计并实现一个结合深度学习预测模型的车险理赔管理平台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840480" cy="347472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残差式 MLP 预测模型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设计含残差连接的多层感知机网络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配合 LayerNorm + GELU + Dropout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解决深层网络退化与过拟合问题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011680"/>
            <a:ext cx="3840480" cy="347472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1488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类别不平衡训练策略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加权 BCE 损失 + Fβ 自动阈值搜索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Recall ≥ 0.830 业务硬约束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将模型输出概率与业务决策边界解耦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011680"/>
            <a:ext cx="3840480" cy="347472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1488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前后端分离业务平台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Spring Boot + Vue3 + FastAPI 三端协同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数据管理、模型训练、理赔预测、统计分析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形成完整的业务闭环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67360" y="2011680"/>
            <a:ext cx="3840480" cy="347472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0" y="21488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系统化消融验证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加权损失 vs 无加权 × 自动阈值 vs 固定阈值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网络深度 2→5 层的三维对比实验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验证每个设计选择的必要性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554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三层架构：表示层 → 业务层 → 数据层，预测服务通过 API 解耦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5</a:t>
            </a:r>
          </a:p>
        </p:txBody>
      </p:sp>
      <p:pic>
        <p:nvPicPr>
          <p:cNvPr id="6" name="Picture 5" descr="系统框架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6420200" cy="7132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515600" y="2011680"/>
            <a:ext cx="1371600" cy="320040"/>
          </a:xfrm>
          <a:prstGeom prst="round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表示层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1965960"/>
            <a:ext cx="5303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Vue3 + Element Plus + ECharts</a:t>
            </a:r>
            <a:br/>
            <a:r>
              <a:rPr>
                <a:ea typeface="Microsoft YaHei"/>
              </a:rPr>
              <a:t>Axios 统一封装 HTTP 请求</a:t>
            </a:r>
            <a:br/>
            <a:r>
              <a:rPr>
                <a:ea typeface="Microsoft YaHei"/>
              </a:rPr>
              <a:t>响应式数据绑定与路由管理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0" y="3520440"/>
            <a:ext cx="1371600" cy="3200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业务层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0" y="3474720"/>
            <a:ext cx="5303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Spring Boot + MyBatis</a:t>
            </a:r>
            <a:br/>
            <a:r>
              <a:rPr>
                <a:ea typeface="Microsoft YaHei"/>
              </a:rPr>
              <a:t>REST API + 统一 Result 响应</a:t>
            </a:r>
            <a:br/>
            <a:r>
              <a:rPr>
                <a:ea typeface="Microsoft YaHei"/>
              </a:rPr>
              <a:t>会话认证 + 角色权限控制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5029200"/>
            <a:ext cx="137160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数据层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0" y="4983480"/>
            <a:ext cx="5303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MySQL 关系型数据库</a:t>
            </a:r>
            <a:br/>
            <a:r>
              <a:rPr>
                <a:ea typeface="Microsoft YaHei"/>
              </a:rPr>
              <a:t>用户、保单、理赔、预测等核心表</a:t>
            </a:r>
            <a:br/>
            <a:r>
              <a:rPr>
                <a:ea typeface="Microsoft YaHei"/>
              </a:rPr>
              <a:t>定期备份 + 加密传输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6537960"/>
            <a:ext cx="1371600" cy="320040"/>
          </a:xfrm>
          <a:prstGeom prst="roundRect">
            <a:avLst/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预测服务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0" y="6492240"/>
            <a:ext cx="5303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FastAPI + PyTorch</a:t>
            </a:r>
            <a:br/>
            <a:r>
              <a:rPr>
                <a:ea typeface="Microsoft YaHei"/>
              </a:rPr>
              <a:t>封装训练好的残差 MLP 模型</a:t>
            </a:r>
            <a:br/>
            <a:r>
              <a:rPr>
                <a:ea typeface="Microsoft YaHei"/>
              </a:rPr>
              <a:t>JSON 接口：概率 / 标签 / 风险等级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554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核心实体关系与数据表结构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6</a:t>
            </a:r>
          </a:p>
        </p:txBody>
      </p:sp>
      <p:pic>
        <p:nvPicPr>
          <p:cNvPr id="6" name="Picture 5" descr="系统E-R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0058400" cy="6600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0" y="201168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sys_user（用户表）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22860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用户ID、角色、联系方式、注册时间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269748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motor_insurance（保单表）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29718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保单号、投保人/车辆信息、保费、风险类型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338328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claim_record（理赔记录）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36576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理赔ID、关联保单、事故描述、理赔金额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406908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vehicle_info（车辆信息）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43434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车牌号、车型、车龄、燃油类型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475488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insur_pred（预测记录）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5029200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关联保单、预测概率、风险等级、模型版本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777240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train_data 表由保单、理赔、车辆三表</a:t>
            </a:r>
            <a:br/>
            <a:r>
              <a:rPr>
                <a:ea typeface="Microsoft YaHei"/>
              </a:rPr>
              <a:t>按 ID 关联聚合生成，供模型训练使用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数据预处理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554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数据集：105,555 条记录 × 30 个特征，理赔占比 18.6%（正负比 ≈ 1:4.37）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840480" cy="27432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① 缺失值处理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Data_Lapse（66.7%缺失）</a:t>
            </a:r>
            <a:br/>
            <a:r>
              <a:rPr>
                <a:ea typeface="Microsoft YaHei"/>
              </a:rPr>
              <a:t>→ 直接删除字段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3474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Length / Type_fuel</a:t>
            </a:r>
            <a:br/>
            <a:r>
              <a:rPr>
                <a:ea typeface="Microsoft YaHei"/>
              </a:rPr>
              <a:t>→ 按车型分组众数填充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103120"/>
            <a:ext cx="3840480" cy="27432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2860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② 异常值截断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83464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保费、车价、功率等偏态字段</a:t>
            </a:r>
            <a:br/>
            <a:r>
              <a:rPr>
                <a:ea typeface="Microsoft YaHei"/>
              </a:rPr>
              <a:t>→ 99.9 分位数截断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749039"/>
            <a:ext cx="3474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保留合理高值</a:t>
            </a:r>
            <a:br/>
            <a:r>
              <a:rPr>
                <a:ea typeface="Microsoft YaHei"/>
              </a:rPr>
              <a:t>剔除极端离群点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103120"/>
            <a:ext cx="3840480" cy="27432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2860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③ 不平衡处理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83464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分层采样 70/15/15</a:t>
            </a:r>
            <a:br/>
            <a:r>
              <a:rPr>
                <a:ea typeface="Microsoft YaHei"/>
              </a:rPr>
              <a:t>划分训练/验证/测试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749039"/>
            <a:ext cx="3474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训练时使用</a:t>
            </a:r>
            <a:br/>
            <a:r>
              <a:rPr>
                <a:ea typeface="Microsoft YaHei"/>
              </a:rPr>
              <a:t>pos_weight 类别权重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47320" y="2103120"/>
            <a:ext cx="3840480" cy="27432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30200" y="22860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④ 编码转换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30200" y="283464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分类变量 → 整数编码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0200" y="3749039"/>
            <a:ext cx="3474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保持特征含义</a:t>
            </a:r>
            <a:br/>
            <a:r>
              <a:rPr>
                <a:ea typeface="Microsoft YaHei"/>
              </a:rPr>
              <a:t>适配 MLP 输入</a:t>
            </a:r>
          </a:p>
        </p:txBody>
      </p:sp>
      <p:pic>
        <p:nvPicPr>
          <p:cNvPr id="22" name="Picture 21" descr="数据理赔金额分布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120640"/>
            <a:ext cx="8107680" cy="3474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400" y="9601200"/>
            <a:ext cx="1645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预处理目的：保证输入数据一致性，控制极端值干扰，缓解类别不平衡偏置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特征工程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554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将业务时间、物理属性和历史合同信息统一为可训练的数值特征矩阵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4572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时间锚点特征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以合同起始日期为统一参考点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Date_start_contract_days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insured_age_years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vehicle_age_years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→ 将绝对日期转为相对天数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连续数值特征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经 99.9 分位数截断后保留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Power（功率）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Weight（车重）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Value_vehicle（车辆价值）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Premium（保费）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70080" y="2011680"/>
            <a:ext cx="5303520" cy="457200"/>
          </a:xfrm>
          <a:prstGeom prst="roundRect">
            <a:avLst/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历史与合同特征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描述保单的静态属性与历史状态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Type_risk（风险类型）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Payment（付款方式）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Type_fuel（燃油类型）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→ 整数编码后输入模型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8686800"/>
            <a:ext cx="1645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特征工程核心思路：不是简单罗列原始字段，而是按业务逻辑分组构建，将时间、物理属性、历史合同信息统一为结构化特征矩阵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模型结构设计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554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残差式 MLP（Multi-Layer Perceptron with Residual Connections）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9</a:t>
            </a:r>
          </a:p>
        </p:txBody>
      </p:sp>
      <p:pic>
        <p:nvPicPr>
          <p:cNvPr id="6" name="Picture 5" descr="InsuranceMLP网络结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11430000" cy="44441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44400" y="210312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残差连接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0" y="2423160"/>
            <a:ext cx="5303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每个 ResidualBlock 包含</a:t>
            </a:r>
            <a:br/>
            <a:r>
              <a:rPr>
                <a:ea typeface="Microsoft YaHei"/>
              </a:rPr>
              <a:t>FC→LayerNorm→GELU→Dropout→FC→LayerNorm</a:t>
            </a:r>
            <a:br/>
            <a:r>
              <a:rPr>
                <a:ea typeface="Microsoft YaHei"/>
              </a:rPr>
              <a:t>与捷径支路相加后经 GELU 激活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0" y="361188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捷径对齐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0" y="3931920"/>
            <a:ext cx="5303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输入输出维度不一致时</a:t>
            </a:r>
            <a:br/>
            <a:r>
              <a:rPr>
                <a:ea typeface="Microsoft YaHei"/>
              </a:rPr>
              <a:t>通过无偏置线性投影对齐</a:t>
            </a:r>
            <a:br/>
            <a:r>
              <a:rPr>
                <a:ea typeface="Microsoft YaHei"/>
              </a:rPr>
              <a:t>nn.Linear(in, out, bias=False)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0" y="512064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输出层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0" y="5440680"/>
            <a:ext cx="5303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Sigmoid 将 logit 映射为 [0,1]</a:t>
            </a:r>
            <a:br/>
            <a:r>
              <a:rPr>
                <a:ea typeface="Microsoft YaHei"/>
              </a:rPr>
              <a:t>表示"未来一年内发生理赔"的概率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0" y="662940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网络结构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0" y="6949440"/>
            <a:ext cx="5303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>
                <a:ea typeface="Microsoft YaHei"/>
              </a:rPr>
              <a:t>input → 256 → 512 → 512 → 256 → 128 → 1</a:t>
            </a:r>
            <a:br/>
            <a:r>
              <a:rPr>
                <a:ea typeface="Microsoft YaHei"/>
              </a:rPr>
              <a:t>共 5 个残差块，总参数量适中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训练策略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554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针对类别不平衡场景的四项核心策略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931920" cy="36576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加权 BCE 损失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使用 pos_weight 加权的 BCEWithLogitsLoss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增大正样本（理赔）的误分类惩罚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让模型"更关注少数类的错误"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pos_weight ≈ 4.37（正负样本反比）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011680"/>
            <a:ext cx="3931920" cy="36576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4884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Fβ 自动阈值搜索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在 [0.05, 0.95] 区间扫描 200 个候选阈值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优化目标：Fβ（β=1.3，偏向召回率）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硬约束：Recall ≥ 0.830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作用：模型输出概率与业务决策边界解耦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011680"/>
            <a:ext cx="3931920" cy="36576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14884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AdamW + Cosine Warmup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AdamW 解耦权重衰减与自适应学习率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比标准 Adam 泛化能力更强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Cosine Warmup 从低 LR 逐步升温再衰减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训练初期更稳定，收敛路径更平滑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984480" y="2011680"/>
            <a:ext cx="3931920" cy="36576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0" y="214884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AMP + 梯度裁剪 + Early Stopping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0" y="2514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AMP 混合精度加速训练、节省显存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梯度裁剪防止梯度爆炸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以验证集 AUC 为早停指标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AUC 对阈值不敏感，比 F1 更稳定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035040"/>
            <a:ext cx="1700784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业务含义：模型只管输出概率，阈值负责划定决策边界。在控制理赔漏检率（Recall ≥ 0.83）的前提下适度接受误报——契合保险风险管理的业务逻辑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554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测试集 10,557 条 | 模型在保证多数类精度的前提下，对理赔类实现 83% 召回率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0.9604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模型排序能力优异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0.8305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Claim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正样本（理赔）召回率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0.9121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Weighted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加权平均 F1-score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1645920" cy="411480"/>
          </a:xfrm>
          <a:prstGeom prst="rect">
            <a:avLst/>
          </a:prstGeom>
          <a:solidFill>
            <a:srgbClr val="1A3C6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类别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03120"/>
            <a:ext cx="1645920" cy="411480"/>
          </a:xfrm>
          <a:prstGeom prst="rect">
            <a:avLst/>
          </a:prstGeom>
          <a:solidFill>
            <a:srgbClr val="1A3C6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2103120"/>
            <a:ext cx="1645920" cy="411480"/>
          </a:xfrm>
          <a:prstGeom prst="rect">
            <a:avLst/>
          </a:prstGeom>
          <a:solidFill>
            <a:srgbClr val="1A3C6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38560" y="2103120"/>
            <a:ext cx="1828800" cy="411480"/>
          </a:xfrm>
          <a:prstGeom prst="rect">
            <a:avLst/>
          </a:prstGeom>
          <a:solidFill>
            <a:srgbClr val="1A3C6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F1-score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167360" y="2103120"/>
            <a:ext cx="1463040" cy="411480"/>
          </a:xfrm>
          <a:prstGeom prst="rect">
            <a:avLst/>
          </a:prstGeom>
          <a:solidFill>
            <a:srgbClr val="1A3C6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样本数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51460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No Claim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51460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0.9599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51460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0.9280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38560" y="25146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0.9437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67360" y="251460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8,592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9260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Claim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9260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0.7250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9260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0.8305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338560" y="29260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0.7742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167360" y="292608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1,965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337560"/>
            <a:ext cx="1645920" cy="411480"/>
          </a:xfrm>
          <a:prstGeom prst="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加权平均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337560"/>
            <a:ext cx="1645920" cy="411480"/>
          </a:xfrm>
          <a:prstGeom prst="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0.9162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3337560"/>
            <a:ext cx="1645920" cy="411480"/>
          </a:xfrm>
          <a:prstGeom prst="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0.9098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338560" y="3337560"/>
            <a:ext cx="1828800" cy="411480"/>
          </a:xfrm>
          <a:prstGeom prst="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0.9121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167360" y="3337560"/>
            <a:ext cx="1463040" cy="411480"/>
          </a:xfrm>
          <a:prstGeom prst="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10,557</a:t>
            </a:r>
          </a:p>
        </p:txBody>
      </p:sp>
      <p:pic>
        <p:nvPicPr>
          <p:cNvPr id="35" name="Picture 3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206240"/>
            <a:ext cx="3445739" cy="29260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4400" y="9601200"/>
            <a:ext cx="1645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关键解读：No Claim 类精确率与召回率均 &gt; 92%；Claim 类召回率 83% → 约 17% 高风险保单被漏判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训练过程与消融分析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554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训练收敛验证 + 三维度消融实验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12</a:t>
            </a:r>
          </a:p>
        </p:txBody>
      </p:sp>
      <p:pic>
        <p:nvPicPr>
          <p:cNvPr id="6" name="Picture 5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367149" cy="3200400"/>
          </a:xfrm>
          <a:prstGeom prst="rect">
            <a:avLst/>
          </a:prstGeom>
        </p:spPr>
      </p:pic>
      <p:pic>
        <p:nvPicPr>
          <p:cNvPr id="7" name="Picture 6" descr="val_pr_au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0"/>
            <a:ext cx="5367149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0" y="20116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4080C0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205740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消融实验结论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0" y="2423160"/>
            <a:ext cx="7406640" cy="13716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265176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损失函数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97180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加权 vs 无加权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0" y="292608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E7D32"/>
                </a:solidFill>
                <a:latin typeface="Microsoft YaHei"/>
              </a:defRPr>
            </a:pPr>
            <a:r>
              <a:rPr>
                <a:ea typeface="Microsoft YaHei"/>
              </a:rPr>
              <a:t>F1: 0.7046 → 0.7550</a:t>
            </a:r>
            <a:br/>
            <a:r>
              <a:rPr>
                <a:ea typeface="Microsoft YaHei"/>
              </a:rPr>
              <a:t>召回率: 0.8198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370332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阈值策略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40233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固定 0.5 vs 自动搜索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0" y="397764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E7D32"/>
                </a:solidFill>
                <a:latin typeface="Microsoft YaHei"/>
              </a:defRPr>
            </a:pPr>
            <a:r>
              <a:rPr>
                <a:ea typeface="Microsoft YaHei"/>
              </a:rPr>
              <a:t>固定阈值下加权损失反而降低 F1</a:t>
            </a:r>
            <a:br/>
            <a:r>
              <a:rPr>
                <a:ea typeface="Microsoft YaHei"/>
              </a:rPr>
              <a:t>说明自动阈值是必要配套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475488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网络深度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507492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2 层 / 3 层 / 4 层 / 5 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0" y="502920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E7D32"/>
                </a:solidFill>
                <a:latin typeface="Microsoft YaHei"/>
              </a:defRPr>
            </a:pPr>
            <a:r>
              <a:rPr>
                <a:ea typeface="Microsoft YaHei"/>
              </a:rPr>
              <a:t>AUC: 0.9577 → 0.9589</a:t>
            </a:r>
            <a:br/>
            <a:r>
              <a:rPr>
                <a:ea typeface="Microsoft YaHei"/>
              </a:rPr>
              <a:t>边际增益递减，5 层最优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7772400"/>
            <a:ext cx="8046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最终方案：5层残差结构(256→512→512→256→128)</a:t>
            </a:r>
            <a:br/>
            <a:r>
              <a:rPr>
                <a:ea typeface="Microsoft YaHei"/>
              </a:rPr>
              <a:t>+ 加权BCE + Fβ(β=1.3)自动阈值 + Recall≥0.830</a:t>
            </a:r>
            <a:br/>
            <a:r>
              <a:rPr>
                <a:ea typeface="Microsoft YaHei"/>
              </a:rPr>
              <a:t>+ AdamW + Cosine Warmup + Early Stopping(AUC)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系统演示（一）：数据管理与模型训练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03520" cy="41148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业务数据管理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保险单信息增删改查 + 分页浏览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理赔记录录入与关联查询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车辆信息统一管理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普通用户仅操作本人数据，管理员管理全局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1148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权限控制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ADMIN：管理全部数据 + 训练模型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STUDENT（操作员）：管理本人数据 + 使用已有模型预测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795760" y="1828800"/>
            <a:ext cx="5303520" cy="41148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0" y="19659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模型训练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管理员配置超参数（学习率 / 隐藏层 / 阈值策略）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训练完成后查看指标和曲线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支持多版本模型管理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8961120"/>
            <a:ext cx="1645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E07A2F"/>
                </a:solidFill>
                <a:latin typeface="Microsoft YaHei"/>
              </a:defRPr>
            </a:pPr>
            <a:r>
              <a:rPr>
                <a:ea typeface="Microsoft YaHei"/>
              </a:rPr>
              <a:t>注：建议替换为实际系统运行截图。可在系统中操作对应功能后截图放入此页和下页。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系统演示（二）：理赔预测与统计分析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7772400" cy="41148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7223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理赔预测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选择已有保单或手动填写信息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系统返回：理赔概率 / 预测标签 / 风险等级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提供局部特征解释：展示影响本次预测的主要因素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预测结果持久化存储，支持历史查询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828800"/>
            <a:ext cx="7772400" cy="41148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965960"/>
            <a:ext cx="7223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统计分析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3317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理赔预测结果的统计汇总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风险等级分布可视化（ECharts）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历史预测记录查询与筛选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为业务决策提供数据支撑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7772400"/>
            <a:ext cx="1700784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业务闭环：数据录入 → 模型推理 → 结果解释 → 统计反馈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8961120"/>
            <a:ext cx="1645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E07A2F"/>
                </a:solidFill>
                <a:latin typeface="Microsoft YaHei"/>
              </a:defRPr>
            </a:pPr>
            <a:r>
              <a:rPr>
                <a:ea typeface="Microsoft YaHei"/>
              </a:rPr>
              <a:t>注：建议替换为实际系统运行截图（预测结果页 + 统计分析页各一张）。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463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0" y="6400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rPr>
                <a:ea typeface="Microsoft YaHe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主要成果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303520" cy="50292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1. 构建残差式 MLP 理赔预测模型</a:t>
            </a:r>
            <a:br/>
            <a:r>
              <a:t>   AUC=0.9604，Recall=83.05%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 提出加权损失+Fβ自动阈值</a:t>
            </a:r>
            <a:br/>
            <a:r>
              <a:t>   +Recall约束的训练方案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3. 搭建前后端分离平台</a:t>
            </a:r>
            <a:br/>
            <a:r>
              <a:t>   实现数据管理到统计分析的闭环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303520" cy="502920"/>
          </a:xfrm>
          <a:prstGeom prst="roundRect">
            <a:avLst/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现有不足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51760"/>
            <a:ext cx="5303520" cy="50292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1. 仅做二分类（是否理赔）</a:t>
            </a:r>
            <a:br/>
            <a:r>
              <a:t>   未对理赔金额做回归估计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 未与 XGBoost 等</a:t>
            </a:r>
            <a:br/>
            <a:r>
              <a:t>   主流基线模型做量化对比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0" y="2011680"/>
            <a:ext cx="5303520" cy="502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未来方向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0" y="2651760"/>
            <a:ext cx="5303520" cy="5029200"/>
          </a:xfrm>
          <a:prstGeom prst="roundRect">
            <a:avLst/>
          </a:prstGeom>
          <a:solidFill>
            <a:srgbClr val="F0F4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3017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1. 将二分类升级为</a:t>
            </a:r>
            <a:br/>
            <a:r>
              <a:t>   赔付金额区间预测+多任务建模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 接入车联网数据</a:t>
            </a:r>
            <a:br/>
            <a:r>
              <a:t>   （驾驶行为、轨迹等）丰富特征维度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8961120"/>
            <a:ext cx="1645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rPr>
                <a:ea typeface="Microsoft YaHei"/>
              </a:rPr>
              <a:t>感谢各位老师批评指正！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